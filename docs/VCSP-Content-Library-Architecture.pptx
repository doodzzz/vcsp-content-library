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VCSP external content library from two altitudes. The high-level part covers context, components, the subscription protocol and the design principles. The low-level part covers the host layout, request routing, the upload and publish sequence, the indexer, the data model, security controls and deployment. Every diagram is built from native PowerPoint shapes, so it can be edited for client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Slides 3 to 6 are the high-level view for architects and stakeholders. Slides 7 to 13 are the low-level design for the build and operations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publish through the portal. Cloud Director cells and vCenter servers subscribe with one URL and pull on their own schedule; the library never pushes. The build host only exists for air-gapped installs: it produces the signed prerequisites bundle that is carried across.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nginx is the only component exposed to the network: it terminates TLS, checks credentials and serves library files directly with sendfile. The upload backend listens on loopback only. The indexer is the only writer of the VCSP JSON files; it runs on a timer and, for immediate results, per item after each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subscriber starts every sync by reading lib.json and comparing its version with the version it last synchronized. If nothing changed it stops after one small request. Only then does it read items.json, and it fetches item.json and files only for items whose own version increased. nginx supports byte ranges, so interrupted downloads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decisions shape the implementation. They matter most to regulated environments: a small dependency surface, installs without internet access, publishing that never exposes half-written content, and layered security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the three processes, columns are the four paths they touch. nginx only reads. The two vcsp-user services write only DATA_ROOT and STATE_DIR; systemd's ProtectSystem=strict makes the rest of the host read-only to them. On Photon OS, /srv is a link to var/srv, so deploy.sh resolves DATA_ROOT and hands nginx and systemd the real path /var/srv/vcsp.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TCP 443 and 80 are opened in Photon's iptables and persisted in ip4save; port 80 only redirects. nginx then routes by path. Library files are served straight from disk by nginx; only the portal API reaches the Python backend, with request buffering off so upload chunks stream to disk. Dot-files such as temp files and .vcsp-meta.json are never 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Uploads are resumable raw PUTs of 64 MiB chunks: no multipart parsing, constant memory, and the server tells the browser where to resume. The first chunk is checked for the right magic bytes, so a mislabelled file is refused within seconds. Publishing is a background job; the swap into the library happens under the same flock the indexer uses, and the per-item index run makes the new version visible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indexer never reads file contents in the default stat mode: the etag is built from mtime and size and equals nginx's ETag header. Unchanged items take the fast path. Items still being copied wait for SETTLE_SECONDS, and an OVF item is only published when every referenced file is present at the declared size. item.json files skip fsync but record their size, so a file truncated by a crash is rewritten on the next run; items.json and lib.json are fsynced, and lib.json is written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folder per item under DATA_ROOT/lib. The indexer turns the folders into the three VCSP documents: lib.json points at items.json, each entry in items.json points at its item.json, and each file entry lists the relative href nginx serves. Folder contents decide the item type, and the type decides what Cloud Director does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stops a different class of problem, so a gap in one is covered by the next. Worth highlighting to a security review: subscribers only ever get the fixed vcsp account; administrator uploads are validated three times (name, content, package) before anything reaches the library; and the Python services run unprivileged in a systemd sandbox with no third-party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an internet-connected Photon host, download-prereqs builds the bundle: it reuses a complete one, and otherwise downloads into a scratch folder and swaps it in only on success. On the target VM, install checks what is already installed and installs only the missing packages; every later step is idempotent, so the same command applies configuration changes and upgrades. It ends with 13 end-to-end checks, including a signed-in download of lib.json through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URL and one password per subscriber, no third-party packages to patch, thirteen automated checks on every install, and an indexer that refreshes a content-heavy library in a fraction of a second. The benchmark figure comes from the same 2 GiB test library indexed by both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31520" y="1325880"/>
            <a:ext cx="2514600" cy="274320"/>
          </a:xfrm>
          <a:prstGeom prst="roundRect">
            <a:avLst>
              <a:gd name="adj" fmla="val 43333"/>
            </a:avLst>
          </a:prstGeom>
          <a:solidFill>
            <a:srgbClr val="0E6B5A"/>
          </a:solidFill>
          <a:ln w="9525">
            <a:solidFill>
              <a:srgbClr val="0E6B5A"/>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SOLUTION ARCHITECTURE</a:t>
            </a:r>
            <a:endParaRPr lang="en-US" sz="1000" dirty="0"/>
          </a:p>
        </p:txBody>
      </p:sp>
      <p:sp>
        <p:nvSpPr>
          <p:cNvPr id="3" name="Text 1"/>
          <p:cNvSpPr txBox="1"/>
          <p:nvPr/>
        </p:nvSpPr>
        <p:spPr>
          <a:xfrm>
            <a:off x="731520" y="1737360"/>
            <a:ext cx="749808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VCSP External Content Library</a:t>
            </a:r>
            <a:endParaRPr lang="en-US" sz="4200" dirty="0"/>
          </a:p>
        </p:txBody>
      </p:sp>
      <p:sp>
        <p:nvSpPr>
          <p:cNvPr id="4" name="Text 2"/>
          <p:cNvSpPr txBox="1"/>
          <p:nvPr/>
        </p:nvSpPr>
        <p:spPr>
          <a:xfrm>
            <a:off x="731520" y="2697480"/>
            <a:ext cx="6949440" cy="868680"/>
          </a:xfrm>
          <a:prstGeom prst="rect">
            <a:avLst/>
          </a:prstGeom>
          <a:noFill/>
          <a:ln/>
        </p:spPr>
        <p:txBody>
          <a:bodyPr wrap="square" lIns="0" tIns="0" rIns="0" bIns="0" rtlCol="0" anchor="t"/>
          <a:lstStyle/>
          <a:p>
            <a:pPr indent="0" marL="0">
              <a:buNone/>
            </a:pPr>
            <a:r>
              <a:rPr lang="en-US" sz="1800" dirty="0">
                <a:solidFill>
                  <a:srgbClr val="B8C7C2"/>
                </a:solidFill>
                <a:latin typeface="Calibri" pitchFamily="34" charset="0"/>
                <a:ea typeface="Calibri" pitchFamily="34" charset="-122"/>
                <a:cs typeface="Calibri" pitchFamily="34" charset="-120"/>
              </a:rPr>
              <a:t>High-level and low-level architecture of a self-hosted subscribed catalog for VMware Cloud Director and vCenter, running on Photon OS</a:t>
            </a:r>
            <a:endParaRPr lang="en-US" sz="1800" dirty="0"/>
          </a:p>
        </p:txBody>
      </p:sp>
      <p:sp>
        <p:nvSpPr>
          <p:cNvPr id="5" name="Text 3"/>
          <p:cNvSpPr txBox="1"/>
          <p:nvPr/>
        </p:nvSpPr>
        <p:spPr>
          <a:xfrm>
            <a:off x="731520" y="3840480"/>
            <a:ext cx="2743200" cy="237744"/>
          </a:xfrm>
          <a:prstGeom prst="rect">
            <a:avLst/>
          </a:prstGeom>
          <a:noFill/>
          <a:ln/>
        </p:spPr>
        <p:txBody>
          <a:bodyPr wrap="square" lIns="0" tIns="0" rIns="0" bIns="0" rtlCol="0" anchor="ctr"/>
          <a:lstStyle/>
          <a:p>
            <a:pPr algn="l" indent="0" marL="0">
              <a:buNone/>
            </a:pPr>
            <a:r>
              <a:rPr lang="en-US" sz="1100" dirty="0">
                <a:solidFill>
                  <a:srgbClr val="B8C7C2"/>
                </a:solidFill>
                <a:latin typeface="Calibri" pitchFamily="34" charset="0"/>
                <a:ea typeface="Calibri" pitchFamily="34" charset="-122"/>
                <a:cs typeface="Calibri" pitchFamily="34" charset="-120"/>
              </a:rPr>
              <a:t>Subscription URL</a:t>
            </a:r>
            <a:endParaRPr lang="en-US" sz="1100" dirty="0"/>
          </a:p>
        </p:txBody>
      </p:sp>
      <p:sp>
        <p:nvSpPr>
          <p:cNvPr id="6" name="Text 4"/>
          <p:cNvSpPr/>
          <p:nvPr/>
        </p:nvSpPr>
        <p:spPr>
          <a:xfrm>
            <a:off x="731520" y="4114800"/>
            <a:ext cx="5669280" cy="566928"/>
          </a:xfrm>
          <a:prstGeom prst="roundRect">
            <a:avLst>
              <a:gd name="adj" fmla="val 12903"/>
            </a:avLst>
          </a:prstGeom>
          <a:solidFill>
            <a:srgbClr val="1C2E38"/>
          </a:solidFill>
          <a:ln w="19050">
            <a:solidFill>
              <a:srgbClr val="0E6B5A"/>
            </a:solidFill>
            <a:prstDash val="solid"/>
          </a:ln>
        </p:spPr>
        <p:txBody>
          <a:bodyPr wrap="square" lIns="152400" tIns="152400" rIns="152400" bIns="152400" rtlCol="0" anchor="ctr"/>
          <a:lstStyle/>
          <a:p>
            <a:pPr algn="l" indent="0" marL="0">
              <a:buNone/>
            </a:pPr>
            <a:r>
              <a:rPr lang="en-US" sz="1800" dirty="0">
                <a:solidFill>
                  <a:srgbClr val="FFFFFF"/>
                </a:solidFill>
                <a:latin typeface="Courier New" pitchFamily="34" charset="0"/>
                <a:ea typeface="Courier New" pitchFamily="34" charset="-122"/>
                <a:cs typeface="Courier New" pitchFamily="34" charset="-120"/>
              </a:rPr>
              <a:t>https://&lt;fqdn&gt;/lib/lib.json</a:t>
            </a:r>
            <a:endParaRPr lang="en-US" sz="1800" dirty="0"/>
          </a:p>
        </p:txBody>
      </p:sp>
      <p:sp>
        <p:nvSpPr>
          <p:cNvPr id="7" name="Text 5"/>
          <p:cNvSpPr txBox="1"/>
          <p:nvPr/>
        </p:nvSpPr>
        <p:spPr>
          <a:xfrm>
            <a:off x="731520" y="5943600"/>
            <a:ext cx="4572000" cy="237744"/>
          </a:xfrm>
          <a:prstGeom prst="rect">
            <a:avLst/>
          </a:prstGeom>
          <a:noFill/>
          <a:ln/>
        </p:spPr>
        <p:txBody>
          <a:bodyPr wrap="square" lIns="0" tIns="0" rIns="0" bIns="0" rtlCol="0" anchor="ctr"/>
          <a:lstStyle/>
          <a:p>
            <a:pPr algn="l" indent="0" marL="0">
              <a:buNone/>
            </a:pPr>
            <a:r>
              <a:rPr lang="en-US" sz="1200" dirty="0">
                <a:solidFill>
                  <a:srgbClr val="B8C7C2"/>
                </a:solidFill>
                <a:latin typeface="Calibri" pitchFamily="34" charset="0"/>
                <a:ea typeface="Calibri" pitchFamily="34" charset="-122"/>
                <a:cs typeface="Calibri" pitchFamily="34" charset="-120"/>
              </a:rPr>
              <a:t>deploy.sh 1.0.2   |   September 2026</a:t>
            </a:r>
            <a:endParaRPr lang="en-US" sz="1200" dirty="0"/>
          </a:p>
        </p:txBody>
      </p:sp>
      <p:sp>
        <p:nvSpPr>
          <p:cNvPr id="8" name="Text 6"/>
          <p:cNvSpPr/>
          <p:nvPr/>
        </p:nvSpPr>
        <p:spPr>
          <a:xfrm>
            <a:off x="8503920" y="1234440"/>
            <a:ext cx="2926080" cy="777240"/>
          </a:xfrm>
          <a:prstGeom prst="roundRect">
            <a:avLst>
              <a:gd name="adj" fmla="val 9412"/>
            </a:avLst>
          </a:prstGeom>
          <a:solidFill>
            <a:srgbClr val="0E6B5A"/>
          </a:solidFill>
          <a:ln w="15875">
            <a:solidFill>
              <a:srgbClr val="0E6B5A"/>
            </a:solidFill>
            <a:prstDash val="solid"/>
          </a:ln>
        </p:spPr>
        <p:txBody>
          <a:bodyPr wrap="square" lIns="63500" tIns="63500" rIns="63500" bIns="6350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lib.json</a:t>
            </a:r>
            <a:endParaRPr lang="en-US" sz="1600" dirty="0"/>
          </a:p>
        </p:txBody>
      </p:sp>
      <p:sp>
        <p:nvSpPr>
          <p:cNvPr id="9" name="Text 7"/>
          <p:cNvSpPr/>
          <p:nvPr/>
        </p:nvSpPr>
        <p:spPr>
          <a:xfrm>
            <a:off x="8503920" y="2377440"/>
            <a:ext cx="2926080" cy="777240"/>
          </a:xfrm>
          <a:prstGeom prst="roundRect">
            <a:avLst>
              <a:gd name="adj" fmla="val 9412"/>
            </a:avLst>
          </a:prstGeom>
          <a:solidFill>
            <a:srgbClr val="1C2E38"/>
          </a:solidFill>
          <a:ln w="15875">
            <a:solidFill>
              <a:srgbClr val="0E6B5A"/>
            </a:solidFill>
            <a:prstDash val="solid"/>
          </a:ln>
        </p:spPr>
        <p:txBody>
          <a:bodyPr wrap="square" lIns="63500" tIns="63500" rIns="63500" bIns="6350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items.json</a:t>
            </a:r>
            <a:endParaRPr lang="en-US" sz="1600" dirty="0"/>
          </a:p>
        </p:txBody>
      </p:sp>
      <p:sp>
        <p:nvSpPr>
          <p:cNvPr id="10" name="Text 8"/>
          <p:cNvSpPr/>
          <p:nvPr/>
        </p:nvSpPr>
        <p:spPr>
          <a:xfrm>
            <a:off x="8503920" y="3520440"/>
            <a:ext cx="2926080" cy="777240"/>
          </a:xfrm>
          <a:prstGeom prst="roundRect">
            <a:avLst>
              <a:gd name="adj" fmla="val 9412"/>
            </a:avLst>
          </a:prstGeom>
          <a:solidFill>
            <a:srgbClr val="1C2E38"/>
          </a:solidFill>
          <a:ln w="15875">
            <a:solidFill>
              <a:srgbClr val="0E6B5A"/>
            </a:solidFill>
            <a:prstDash val="solid"/>
          </a:ln>
        </p:spPr>
        <p:txBody>
          <a:bodyPr wrap="square" lIns="63500" tIns="63500" rIns="63500" bIns="6350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item.json</a:t>
            </a:r>
            <a:endParaRPr lang="en-US" sz="1600" dirty="0"/>
          </a:p>
        </p:txBody>
      </p:sp>
      <p:sp>
        <p:nvSpPr>
          <p:cNvPr id="11" name="Shape 9"/>
          <p:cNvSpPr/>
          <p:nvPr/>
        </p:nvSpPr>
        <p:spPr>
          <a:xfrm>
            <a:off x="9966960" y="2011680"/>
            <a:ext cx="0" cy="365760"/>
          </a:xfrm>
          <a:prstGeom prst="line">
            <a:avLst/>
          </a:prstGeom>
          <a:noFill/>
          <a:ln w="25400">
            <a:solidFill>
              <a:srgbClr val="0E6B5A"/>
            </a:solidFill>
            <a:prstDash val="solid"/>
            <a:headEnd type="none"/>
            <a:tailEnd type="triangle"/>
          </a:ln>
        </p:spPr>
      </p:sp>
      <p:sp>
        <p:nvSpPr>
          <p:cNvPr id="12" name="Shape 10"/>
          <p:cNvSpPr/>
          <p:nvPr/>
        </p:nvSpPr>
        <p:spPr>
          <a:xfrm>
            <a:off x="9966960" y="3154680"/>
            <a:ext cx="0" cy="365760"/>
          </a:xfrm>
          <a:prstGeom prst="line">
            <a:avLst/>
          </a:prstGeom>
          <a:noFill/>
          <a:ln w="25400">
            <a:solidFill>
              <a:srgbClr val="0E6B5A"/>
            </a:solidFill>
            <a:prstDash val="solid"/>
            <a:headEnd type="none"/>
            <a:tailEnd type="triangle"/>
          </a:ln>
        </p:spPr>
      </p:sp>
      <p:sp>
        <p:nvSpPr>
          <p:cNvPr id="13" name="Shape 11"/>
          <p:cNvSpPr/>
          <p:nvPr/>
        </p:nvSpPr>
        <p:spPr>
          <a:xfrm>
            <a:off x="9966960" y="4297680"/>
            <a:ext cx="0" cy="365760"/>
          </a:xfrm>
          <a:prstGeom prst="line">
            <a:avLst/>
          </a:prstGeom>
          <a:noFill/>
          <a:ln w="25400">
            <a:solidFill>
              <a:srgbClr val="0E6B5A"/>
            </a:solidFill>
            <a:prstDash val="solid"/>
            <a:headEnd type="none"/>
            <a:tailEnd type="triangle"/>
          </a:ln>
        </p:spPr>
      </p:sp>
      <p:sp>
        <p:nvSpPr>
          <p:cNvPr id="14" name="Text 12"/>
          <p:cNvSpPr/>
          <p:nvPr/>
        </p:nvSpPr>
        <p:spPr>
          <a:xfrm>
            <a:off x="8503920" y="4663440"/>
            <a:ext cx="914400" cy="566928"/>
          </a:xfrm>
          <a:prstGeom prst="roundRect">
            <a:avLst>
              <a:gd name="adj" fmla="val 12903"/>
            </a:avLst>
          </a:prstGeom>
          <a:solidFill>
            <a:srgbClr val="1C2E38"/>
          </a:solidFill>
          <a:ln w="9525">
            <a:solidFill>
              <a:srgbClr val="B8C7C2"/>
            </a:solidFill>
            <a:prstDash val="solid"/>
          </a:ln>
        </p:spPr>
        <p:txBody>
          <a:bodyPr wrap="square" lIns="63500" tIns="63500" rIns="63500" bIns="63500" rtlCol="0" anchor="ctr"/>
          <a:lstStyle/>
          <a:p>
            <a:pPr algn="ctr" indent="0" marL="0">
              <a:buNone/>
            </a:pPr>
            <a:r>
              <a:rPr lang="en-US" sz="900" dirty="0">
                <a:solidFill>
                  <a:srgbClr val="B8C7C2"/>
                </a:solidFill>
                <a:latin typeface="Courier New" pitchFamily="34" charset="0"/>
                <a:ea typeface="Courier New" pitchFamily="34" charset="-122"/>
                <a:cs typeface="Courier New" pitchFamily="34" charset="-120"/>
              </a:rPr>
              <a:t>ubuntu.ovf</a:t>
            </a:r>
            <a:endParaRPr lang="en-US" sz="900" dirty="0"/>
          </a:p>
        </p:txBody>
      </p:sp>
      <p:sp>
        <p:nvSpPr>
          <p:cNvPr id="15" name="Text 13"/>
          <p:cNvSpPr/>
          <p:nvPr/>
        </p:nvSpPr>
        <p:spPr>
          <a:xfrm>
            <a:off x="9509760" y="4663440"/>
            <a:ext cx="914400" cy="566928"/>
          </a:xfrm>
          <a:prstGeom prst="roundRect">
            <a:avLst>
              <a:gd name="adj" fmla="val 12903"/>
            </a:avLst>
          </a:prstGeom>
          <a:solidFill>
            <a:srgbClr val="1C2E38"/>
          </a:solidFill>
          <a:ln w="9525">
            <a:solidFill>
              <a:srgbClr val="B8C7C2"/>
            </a:solidFill>
            <a:prstDash val="solid"/>
          </a:ln>
        </p:spPr>
        <p:txBody>
          <a:bodyPr wrap="square" lIns="63500" tIns="63500" rIns="63500" bIns="63500" rtlCol="0" anchor="ctr"/>
          <a:lstStyle/>
          <a:p>
            <a:pPr algn="ctr" indent="0" marL="0">
              <a:buNone/>
            </a:pPr>
            <a:r>
              <a:rPr lang="en-US" sz="900" dirty="0">
                <a:solidFill>
                  <a:srgbClr val="B8C7C2"/>
                </a:solidFill>
                <a:latin typeface="Courier New" pitchFamily="34" charset="0"/>
                <a:ea typeface="Courier New" pitchFamily="34" charset="-122"/>
                <a:cs typeface="Courier New" pitchFamily="34" charset="-120"/>
              </a:rPr>
              <a:t>disk1.vmdk</a:t>
            </a:r>
            <a:endParaRPr lang="en-US" sz="900" dirty="0"/>
          </a:p>
        </p:txBody>
      </p:sp>
      <p:sp>
        <p:nvSpPr>
          <p:cNvPr id="16" name="Text 14"/>
          <p:cNvSpPr/>
          <p:nvPr/>
        </p:nvSpPr>
        <p:spPr>
          <a:xfrm>
            <a:off x="10515600" y="4663440"/>
            <a:ext cx="914400" cy="566928"/>
          </a:xfrm>
          <a:prstGeom prst="roundRect">
            <a:avLst>
              <a:gd name="adj" fmla="val 12903"/>
            </a:avLst>
          </a:prstGeom>
          <a:solidFill>
            <a:srgbClr val="1C2E38"/>
          </a:solidFill>
          <a:ln w="9525">
            <a:solidFill>
              <a:srgbClr val="B8C7C2"/>
            </a:solidFill>
            <a:prstDash val="solid"/>
          </a:ln>
        </p:spPr>
        <p:txBody>
          <a:bodyPr wrap="square" lIns="63500" tIns="63500" rIns="63500" bIns="63500" rtlCol="0" anchor="ctr"/>
          <a:lstStyle/>
          <a:p>
            <a:pPr algn="ctr" indent="0" marL="0">
              <a:buNone/>
            </a:pPr>
            <a:r>
              <a:rPr lang="en-US" sz="900" dirty="0">
                <a:solidFill>
                  <a:srgbClr val="B8C7C2"/>
                </a:solidFill>
                <a:latin typeface="Courier New" pitchFamily="34" charset="0"/>
                <a:ea typeface="Courier New" pitchFamily="34" charset="-122"/>
                <a:cs typeface="Courier New" pitchFamily="34" charset="-120"/>
              </a:rPr>
              <a:t>rhel9.iso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8872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What this deck covers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2 / 14</a:t>
            </a:r>
            <a:endParaRPr lang="en-US" sz="900" dirty="0"/>
          </a:p>
        </p:txBody>
      </p:sp>
      <p:sp>
        <p:nvSpPr>
          <p:cNvPr id="7" name="Shape 4"/>
          <p:cNvSpPr/>
          <p:nvPr/>
        </p:nvSpPr>
        <p:spPr>
          <a:xfrm>
            <a:off x="548640" y="1600200"/>
            <a:ext cx="5376672" cy="4526280"/>
          </a:xfrm>
          <a:prstGeom prst="roundRect">
            <a:avLst>
              <a:gd name="adj" fmla="val 2020"/>
            </a:avLst>
          </a:prstGeom>
          <a:solidFill>
            <a:srgbClr val="EEF1EF"/>
          </a:solidFill>
          <a:ln w="12700">
            <a:solidFill>
              <a:srgbClr val="EEF1EF"/>
            </a:solidFill>
            <a:prstDash val="solid"/>
          </a:ln>
        </p:spPr>
      </p:sp>
      <p:sp>
        <p:nvSpPr>
          <p:cNvPr id="8" name="Text 5"/>
          <p:cNvSpPr txBox="1"/>
          <p:nvPr/>
        </p:nvSpPr>
        <p:spPr>
          <a:xfrm>
            <a:off x="868680" y="1783080"/>
            <a:ext cx="4572000" cy="411480"/>
          </a:xfrm>
          <a:prstGeom prst="rect">
            <a:avLst/>
          </a:prstGeom>
          <a:noFill/>
          <a:ln/>
        </p:spPr>
        <p:txBody>
          <a:bodyPr wrap="square" lIns="0" tIns="0" rIns="0" bIns="0" rtlCol="0" anchor="ctr"/>
          <a:lstStyle/>
          <a:p>
            <a:pPr indent="0" marL="0">
              <a:buNone/>
            </a:pPr>
            <a:r>
              <a:rPr lang="en-US" sz="1800" b="1" dirty="0">
                <a:solidFill>
                  <a:srgbClr val="13212B"/>
                </a:solidFill>
                <a:latin typeface="Cambria" pitchFamily="34" charset="0"/>
                <a:ea typeface="Cambria" pitchFamily="34" charset="-122"/>
                <a:cs typeface="Cambria" pitchFamily="34" charset="-120"/>
              </a:rPr>
              <a:t>High-level architecture</a:t>
            </a:r>
            <a:endParaRPr lang="en-US" sz="1800" dirty="0"/>
          </a:p>
        </p:txBody>
      </p:sp>
      <p:sp>
        <p:nvSpPr>
          <p:cNvPr id="9" name="Text 6"/>
          <p:cNvSpPr/>
          <p:nvPr/>
        </p:nvSpPr>
        <p:spPr>
          <a:xfrm>
            <a:off x="868680" y="2414016"/>
            <a:ext cx="329184" cy="329184"/>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0" name="Text 7"/>
          <p:cNvSpPr txBox="1"/>
          <p:nvPr/>
        </p:nvSpPr>
        <p:spPr>
          <a:xfrm>
            <a:off x="1371600" y="2377440"/>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Solution context</a:t>
            </a:r>
            <a:pPr indent="0" marL="0">
              <a:buNone/>
            </a:pPr>
            <a:r>
              <a:rPr lang="en-US" sz="1100" dirty="0">
                <a:solidFill>
                  <a:srgbClr val="56666D"/>
                </a:solidFill>
                <a:latin typeface="Calibri" pitchFamily="34" charset="0"/>
                <a:ea typeface="Calibri" pitchFamily="34" charset="-122"/>
                <a:cs typeface="Calibri" pitchFamily="34" charset="-120"/>
              </a:rPr>
              <a:t>   Who publishes and who subscribes</a:t>
            </a:r>
            <a:endParaRPr lang="en-US" sz="1400" dirty="0"/>
          </a:p>
        </p:txBody>
      </p:sp>
      <p:sp>
        <p:nvSpPr>
          <p:cNvPr id="11" name="Text 8"/>
          <p:cNvSpPr/>
          <p:nvPr/>
        </p:nvSpPr>
        <p:spPr>
          <a:xfrm>
            <a:off x="868680" y="2935224"/>
            <a:ext cx="329184" cy="329184"/>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2" name="Text 9"/>
          <p:cNvSpPr txBox="1"/>
          <p:nvPr/>
        </p:nvSpPr>
        <p:spPr>
          <a:xfrm>
            <a:off x="1371600" y="2898648"/>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Component architecture</a:t>
            </a:r>
            <a:pPr indent="0" marL="0">
              <a:buNone/>
            </a:pPr>
            <a:r>
              <a:rPr lang="en-US" sz="1100" dirty="0">
                <a:solidFill>
                  <a:srgbClr val="56666D"/>
                </a:solidFill>
                <a:latin typeface="Calibri" pitchFamily="34" charset="0"/>
                <a:ea typeface="Calibri" pitchFamily="34" charset="-122"/>
                <a:cs typeface="Calibri" pitchFamily="34" charset="-120"/>
              </a:rPr>
              <a:t>   Layers and responsibilities</a:t>
            </a:r>
            <a:endParaRPr lang="en-US" sz="1400" dirty="0"/>
          </a:p>
        </p:txBody>
      </p:sp>
      <p:sp>
        <p:nvSpPr>
          <p:cNvPr id="13" name="Text 10"/>
          <p:cNvSpPr/>
          <p:nvPr/>
        </p:nvSpPr>
        <p:spPr>
          <a:xfrm>
            <a:off x="868680" y="3456432"/>
            <a:ext cx="329184" cy="329184"/>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4" name="Text 11"/>
          <p:cNvSpPr txBox="1"/>
          <p:nvPr/>
        </p:nvSpPr>
        <p:spPr>
          <a:xfrm>
            <a:off x="1371600" y="3419856"/>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Subscription protocol</a:t>
            </a:r>
            <a:pPr indent="0" marL="0">
              <a:buNone/>
            </a:pPr>
            <a:r>
              <a:rPr lang="en-US" sz="1100" dirty="0">
                <a:solidFill>
                  <a:srgbClr val="56666D"/>
                </a:solidFill>
                <a:latin typeface="Calibri" pitchFamily="34" charset="0"/>
                <a:ea typeface="Calibri" pitchFamily="34" charset="-122"/>
                <a:cs typeface="Calibri" pitchFamily="34" charset="-120"/>
              </a:rPr>
              <a:t>   How subscribers synchronize</a:t>
            </a:r>
            <a:endParaRPr lang="en-US" sz="1400" dirty="0"/>
          </a:p>
        </p:txBody>
      </p:sp>
      <p:sp>
        <p:nvSpPr>
          <p:cNvPr id="15" name="Text 12"/>
          <p:cNvSpPr/>
          <p:nvPr/>
        </p:nvSpPr>
        <p:spPr>
          <a:xfrm>
            <a:off x="868680" y="3977640"/>
            <a:ext cx="329184" cy="329184"/>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6" name="Text 13"/>
          <p:cNvSpPr txBox="1"/>
          <p:nvPr/>
        </p:nvSpPr>
        <p:spPr>
          <a:xfrm>
            <a:off x="1371600" y="3941064"/>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Design principles</a:t>
            </a:r>
            <a:pPr indent="0" marL="0">
              <a:buNone/>
            </a:pPr>
            <a:r>
              <a:rPr lang="en-US" sz="1100" dirty="0">
                <a:solidFill>
                  <a:srgbClr val="56666D"/>
                </a:solidFill>
                <a:latin typeface="Calibri" pitchFamily="34" charset="0"/>
                <a:ea typeface="Calibri" pitchFamily="34" charset="-122"/>
                <a:cs typeface="Calibri" pitchFamily="34" charset="-120"/>
              </a:rPr>
              <a:t>   Decisions that shape the build</a:t>
            </a:r>
            <a:endParaRPr lang="en-US" sz="1400" dirty="0"/>
          </a:p>
        </p:txBody>
      </p:sp>
      <p:sp>
        <p:nvSpPr>
          <p:cNvPr id="17" name="Shape 14"/>
          <p:cNvSpPr/>
          <p:nvPr/>
        </p:nvSpPr>
        <p:spPr>
          <a:xfrm>
            <a:off x="6263640" y="1600200"/>
            <a:ext cx="5376672" cy="4526280"/>
          </a:xfrm>
          <a:prstGeom prst="roundRect">
            <a:avLst>
              <a:gd name="adj" fmla="val 2020"/>
            </a:avLst>
          </a:prstGeom>
          <a:solidFill>
            <a:srgbClr val="EEF1EF"/>
          </a:solidFill>
          <a:ln w="12700">
            <a:solidFill>
              <a:srgbClr val="EEF1EF"/>
            </a:solidFill>
            <a:prstDash val="solid"/>
          </a:ln>
        </p:spPr>
      </p:sp>
      <p:sp>
        <p:nvSpPr>
          <p:cNvPr id="18" name="Text 15"/>
          <p:cNvSpPr txBox="1"/>
          <p:nvPr/>
        </p:nvSpPr>
        <p:spPr>
          <a:xfrm>
            <a:off x="6583680" y="1783080"/>
            <a:ext cx="4572000" cy="411480"/>
          </a:xfrm>
          <a:prstGeom prst="rect">
            <a:avLst/>
          </a:prstGeom>
          <a:noFill/>
          <a:ln/>
        </p:spPr>
        <p:txBody>
          <a:bodyPr wrap="square" lIns="0" tIns="0" rIns="0" bIns="0" rtlCol="0" anchor="ctr"/>
          <a:lstStyle/>
          <a:p>
            <a:pPr indent="0" marL="0">
              <a:buNone/>
            </a:pPr>
            <a:r>
              <a:rPr lang="en-US" sz="1800" b="1" dirty="0">
                <a:solidFill>
                  <a:srgbClr val="13212B"/>
                </a:solidFill>
                <a:latin typeface="Cambria" pitchFamily="34" charset="0"/>
                <a:ea typeface="Cambria" pitchFamily="34" charset="-122"/>
                <a:cs typeface="Cambria" pitchFamily="34" charset="-120"/>
              </a:rPr>
              <a:t>Low-level architecture</a:t>
            </a:r>
            <a:endParaRPr lang="en-US" sz="1800" dirty="0"/>
          </a:p>
        </p:txBody>
      </p:sp>
      <p:sp>
        <p:nvSpPr>
          <p:cNvPr id="19" name="Text 16"/>
          <p:cNvSpPr/>
          <p:nvPr/>
        </p:nvSpPr>
        <p:spPr>
          <a:xfrm>
            <a:off x="6583680" y="2414016"/>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0" name="Text 17"/>
          <p:cNvSpPr txBox="1"/>
          <p:nvPr/>
        </p:nvSpPr>
        <p:spPr>
          <a:xfrm>
            <a:off x="7086600" y="2377440"/>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Host layout and processes</a:t>
            </a:r>
            <a:pPr indent="0" marL="0">
              <a:buNone/>
            </a:pPr>
            <a:r>
              <a:rPr lang="en-US" sz="1100" dirty="0">
                <a:solidFill>
                  <a:srgbClr val="56666D"/>
                </a:solidFill>
                <a:latin typeface="Calibri" pitchFamily="34" charset="0"/>
                <a:ea typeface="Calibri" pitchFamily="34" charset="-122"/>
                <a:cs typeface="Calibri" pitchFamily="34" charset="-120"/>
              </a:rPr>
              <a:t>   Paths, users, access rights</a:t>
            </a:r>
            <a:endParaRPr lang="en-US" sz="1400" dirty="0"/>
          </a:p>
        </p:txBody>
      </p:sp>
      <p:sp>
        <p:nvSpPr>
          <p:cNvPr id="21" name="Text 18"/>
          <p:cNvSpPr/>
          <p:nvPr/>
        </p:nvSpPr>
        <p:spPr>
          <a:xfrm>
            <a:off x="6583680" y="2935224"/>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Text 19"/>
          <p:cNvSpPr txBox="1"/>
          <p:nvPr/>
        </p:nvSpPr>
        <p:spPr>
          <a:xfrm>
            <a:off x="7086600" y="2898648"/>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Network and request routing</a:t>
            </a:r>
            <a:pPr indent="0" marL="0">
              <a:buNone/>
            </a:pPr>
            <a:r>
              <a:rPr lang="en-US" sz="1100" dirty="0">
                <a:solidFill>
                  <a:srgbClr val="56666D"/>
                </a:solidFill>
                <a:latin typeface="Calibri" pitchFamily="34" charset="0"/>
                <a:ea typeface="Calibri" pitchFamily="34" charset="-122"/>
                <a:cs typeface="Calibri" pitchFamily="34" charset="-120"/>
              </a:rPr>
              <a:t>   Ports, nginx locations, controls</a:t>
            </a:r>
            <a:endParaRPr lang="en-US" sz="1400" dirty="0"/>
          </a:p>
        </p:txBody>
      </p:sp>
      <p:sp>
        <p:nvSpPr>
          <p:cNvPr id="23" name="Text 20"/>
          <p:cNvSpPr/>
          <p:nvPr/>
        </p:nvSpPr>
        <p:spPr>
          <a:xfrm>
            <a:off x="6583680" y="3456432"/>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24" name="Text 21"/>
          <p:cNvSpPr txBox="1"/>
          <p:nvPr/>
        </p:nvSpPr>
        <p:spPr>
          <a:xfrm>
            <a:off x="7086600" y="3419856"/>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Upload and publish sequence</a:t>
            </a:r>
            <a:pPr indent="0" marL="0">
              <a:buNone/>
            </a:pPr>
            <a:r>
              <a:rPr lang="en-US" sz="1100" dirty="0">
                <a:solidFill>
                  <a:srgbClr val="56666D"/>
                </a:solidFill>
                <a:latin typeface="Calibri" pitchFamily="34" charset="0"/>
                <a:ea typeface="Calibri" pitchFamily="34" charset="-122"/>
                <a:cs typeface="Calibri" pitchFamily="34" charset="-120"/>
              </a:rPr>
              <a:t>   From browser to lib.json</a:t>
            </a:r>
            <a:endParaRPr lang="en-US" sz="1400" dirty="0"/>
          </a:p>
        </p:txBody>
      </p:sp>
      <p:sp>
        <p:nvSpPr>
          <p:cNvPr id="25" name="Text 22"/>
          <p:cNvSpPr/>
          <p:nvPr/>
        </p:nvSpPr>
        <p:spPr>
          <a:xfrm>
            <a:off x="6583680" y="3977640"/>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26" name="Text 23"/>
          <p:cNvSpPr txBox="1"/>
          <p:nvPr/>
        </p:nvSpPr>
        <p:spPr>
          <a:xfrm>
            <a:off x="7086600" y="3941064"/>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Indexer internals</a:t>
            </a:r>
            <a:pPr indent="0" marL="0">
              <a:buNone/>
            </a:pPr>
            <a:r>
              <a:rPr lang="en-US" sz="1100" dirty="0">
                <a:solidFill>
                  <a:srgbClr val="56666D"/>
                </a:solidFill>
                <a:latin typeface="Calibri" pitchFamily="34" charset="0"/>
                <a:ea typeface="Calibri" pitchFamily="34" charset="-122"/>
                <a:cs typeface="Calibri" pitchFamily="34" charset="-120"/>
              </a:rPr>
              <a:t>   Pipeline and version rules</a:t>
            </a:r>
            <a:endParaRPr lang="en-US" sz="1400" dirty="0"/>
          </a:p>
        </p:txBody>
      </p:sp>
      <p:sp>
        <p:nvSpPr>
          <p:cNvPr id="27" name="Text 24"/>
          <p:cNvSpPr/>
          <p:nvPr/>
        </p:nvSpPr>
        <p:spPr>
          <a:xfrm>
            <a:off x="6583680" y="4498848"/>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28" name="Text 25"/>
          <p:cNvSpPr txBox="1"/>
          <p:nvPr/>
        </p:nvSpPr>
        <p:spPr>
          <a:xfrm>
            <a:off x="7086600" y="4462272"/>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Library data model</a:t>
            </a:r>
            <a:pPr indent="0" marL="0">
              <a:buNone/>
            </a:pPr>
            <a:r>
              <a:rPr lang="en-US" sz="1100" dirty="0">
                <a:solidFill>
                  <a:srgbClr val="56666D"/>
                </a:solidFill>
                <a:latin typeface="Calibri" pitchFamily="34" charset="0"/>
                <a:ea typeface="Calibri" pitchFamily="34" charset="-122"/>
                <a:cs typeface="Calibri" pitchFamily="34" charset="-120"/>
              </a:rPr>
              <a:t>   Folders to VCSP JSON</a:t>
            </a:r>
            <a:endParaRPr lang="en-US" sz="1400" dirty="0"/>
          </a:p>
        </p:txBody>
      </p:sp>
      <p:sp>
        <p:nvSpPr>
          <p:cNvPr id="29" name="Text 26"/>
          <p:cNvSpPr/>
          <p:nvPr/>
        </p:nvSpPr>
        <p:spPr>
          <a:xfrm>
            <a:off x="6583680" y="5020056"/>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30" name="Text 27"/>
          <p:cNvSpPr txBox="1"/>
          <p:nvPr/>
        </p:nvSpPr>
        <p:spPr>
          <a:xfrm>
            <a:off x="7086600" y="4983480"/>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Security controls</a:t>
            </a:r>
            <a:pPr indent="0" marL="0">
              <a:buNone/>
            </a:pPr>
            <a:r>
              <a:rPr lang="en-US" sz="1100" dirty="0">
                <a:solidFill>
                  <a:srgbClr val="56666D"/>
                </a:solidFill>
                <a:latin typeface="Calibri" pitchFamily="34" charset="0"/>
                <a:ea typeface="Calibri" pitchFamily="34" charset="-122"/>
                <a:cs typeface="Calibri" pitchFamily="34" charset="-120"/>
              </a:rPr>
              <a:t>   Six layers of defense</a:t>
            </a:r>
            <a:endParaRPr lang="en-US" sz="1400" dirty="0"/>
          </a:p>
        </p:txBody>
      </p:sp>
      <p:sp>
        <p:nvSpPr>
          <p:cNvPr id="31" name="Text 28"/>
          <p:cNvSpPr/>
          <p:nvPr/>
        </p:nvSpPr>
        <p:spPr>
          <a:xfrm>
            <a:off x="6583680" y="5541264"/>
            <a:ext cx="329184" cy="329184"/>
          </a:xfrm>
          <a:prstGeom prst="ellipse">
            <a:avLst/>
          </a:prstGeom>
          <a:solidFill>
            <a:srgbClr val="13212B"/>
          </a:solidFill>
          <a:ln w="9525">
            <a:solidFill>
              <a:srgbClr val="13212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32" name="Text 29"/>
          <p:cNvSpPr txBox="1"/>
          <p:nvPr/>
        </p:nvSpPr>
        <p:spPr>
          <a:xfrm>
            <a:off x="7086600" y="5504688"/>
            <a:ext cx="4389120" cy="402336"/>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Deployment and lifecycle</a:t>
            </a:r>
            <a:pPr indent="0" marL="0">
              <a:buNone/>
            </a:pPr>
            <a:r>
              <a:rPr lang="en-US" sz="1100" dirty="0">
                <a:solidFill>
                  <a:srgbClr val="56666D"/>
                </a:solidFill>
                <a:latin typeface="Calibri" pitchFamily="34" charset="0"/>
                <a:ea typeface="Calibri" pitchFamily="34" charset="-122"/>
                <a:cs typeface="Calibri" pitchFamily="34" charset="-120"/>
              </a:rPr>
              <a:t>   Bundle, install, verify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514600" cy="274320"/>
          </a:xfrm>
          <a:prstGeom prst="roundRect">
            <a:avLst>
              <a:gd name="adj" fmla="val 43333"/>
            </a:avLst>
          </a:prstGeom>
          <a:solidFill>
            <a:srgbClr val="0E6B5A"/>
          </a:solidFill>
          <a:ln w="9525">
            <a:solidFill>
              <a:srgbClr val="0E6B5A"/>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HIGH-LEVEL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Solution context</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3 / 14</a:t>
            </a:r>
            <a:endParaRPr lang="en-US" sz="900" dirty="0"/>
          </a:p>
        </p:txBody>
      </p:sp>
      <p:sp>
        <p:nvSpPr>
          <p:cNvPr id="7" name="Text 4"/>
          <p:cNvSpPr/>
          <p:nvPr/>
        </p:nvSpPr>
        <p:spPr>
          <a:xfrm>
            <a:off x="548640" y="1783080"/>
            <a:ext cx="2834640" cy="1097280"/>
          </a:xfrm>
          <a:prstGeom prst="roundRect">
            <a:avLst>
              <a:gd name="adj" fmla="val 6667"/>
            </a:avLst>
          </a:prstGeom>
          <a:solidFill>
            <a:srgbClr val="FFFFFF"/>
          </a:solidFill>
          <a:ln w="12700">
            <a:solidFill>
              <a:srgbClr val="9EAEA8"/>
            </a:solidFill>
            <a:prstDash val="solid"/>
          </a:ln>
        </p:spPr>
        <p:txBody>
          <a:bodyPr wrap="square" lIns="101600" tIns="101600" rIns="101600" bIns="1016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Platform administrators</a:t>
            </a:r>
            <a:endParaRPr lang="en-US" sz="1300" dirty="0"/>
          </a:p>
          <a:p>
            <a:pPr algn="l" indent="0" marL="0">
              <a:spcAft>
                <a:spcPts val="200"/>
              </a:spcAft>
              <a:buNone/>
            </a:pPr>
            <a:r>
              <a:rPr lang="en-US" sz="1200" dirty="0">
                <a:solidFill>
                  <a:srgbClr val="56666D"/>
                </a:solidFill>
                <a:latin typeface="Calibri" pitchFamily="34" charset="0"/>
                <a:ea typeface="Calibri" pitchFamily="34" charset="-122"/>
                <a:cs typeface="Calibri" pitchFamily="34" charset="-120"/>
              </a:rPr>
              <a:t>Upload OVF templates, OVAs and ISOs through the web portal</a:t>
            </a:r>
            <a:endParaRPr lang="en-US" sz="1300" dirty="0"/>
          </a:p>
        </p:txBody>
      </p:sp>
      <p:sp>
        <p:nvSpPr>
          <p:cNvPr id="8" name="Text 5"/>
          <p:cNvSpPr/>
          <p:nvPr/>
        </p:nvSpPr>
        <p:spPr>
          <a:xfrm>
            <a:off x="548640" y="4206240"/>
            <a:ext cx="2834640" cy="1097280"/>
          </a:xfrm>
          <a:prstGeom prst="roundRect">
            <a:avLst>
              <a:gd name="adj" fmla="val 6667"/>
            </a:avLst>
          </a:prstGeom>
          <a:solidFill>
            <a:srgbClr val="FFFFFF"/>
          </a:solidFill>
          <a:ln w="12700">
            <a:solidFill>
              <a:srgbClr val="9EAEA8"/>
            </a:solidFill>
            <a:prstDash val="dash"/>
          </a:ln>
        </p:spPr>
        <p:txBody>
          <a:bodyPr wrap="square" lIns="101600" tIns="101600" rIns="101600" bIns="1016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Build host (internet-connected)</a:t>
            </a:r>
            <a:endParaRPr lang="en-US" sz="1300" dirty="0"/>
          </a:p>
          <a:p>
            <a:pPr algn="l" indent="0" marL="0">
              <a:spcAft>
                <a:spcPts val="200"/>
              </a:spcAft>
              <a:buNone/>
            </a:pPr>
            <a:r>
              <a:rPr lang="en-US" sz="1200" dirty="0">
                <a:solidFill>
                  <a:srgbClr val="56666D"/>
                </a:solidFill>
                <a:latin typeface="Calibri" pitchFamily="34" charset="0"/>
                <a:ea typeface="Calibri" pitchFamily="34" charset="-122"/>
                <a:cs typeface="Calibri" pitchFamily="34" charset="-120"/>
              </a:rPr>
              <a:t>Photon OS host that produces the offline prerequisites bundle</a:t>
            </a:r>
            <a:endParaRPr lang="en-US" sz="1300" dirty="0"/>
          </a:p>
        </p:txBody>
      </p:sp>
      <p:sp>
        <p:nvSpPr>
          <p:cNvPr id="9" name="Shape 6"/>
          <p:cNvSpPr/>
          <p:nvPr/>
        </p:nvSpPr>
        <p:spPr>
          <a:xfrm>
            <a:off x="4572000" y="1783080"/>
            <a:ext cx="3108960" cy="3520440"/>
          </a:xfrm>
          <a:prstGeom prst="roundRect">
            <a:avLst>
              <a:gd name="adj" fmla="val 2941"/>
            </a:avLst>
          </a:prstGeom>
          <a:solidFill>
            <a:srgbClr val="13212B"/>
          </a:solidFill>
          <a:ln w="12700">
            <a:solidFill>
              <a:srgbClr val="13212B"/>
            </a:solidFill>
            <a:prstDash val="solid"/>
          </a:ln>
        </p:spPr>
      </p:sp>
      <p:sp>
        <p:nvSpPr>
          <p:cNvPr id="10" name="Text 7"/>
          <p:cNvSpPr txBox="1"/>
          <p:nvPr/>
        </p:nvSpPr>
        <p:spPr>
          <a:xfrm>
            <a:off x="4754880" y="187452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VCSP Content Library</a:t>
            </a:r>
            <a:endParaRPr lang="en-US" sz="1600" dirty="0"/>
          </a:p>
        </p:txBody>
      </p:sp>
      <p:sp>
        <p:nvSpPr>
          <p:cNvPr id="11" name="Text 8"/>
          <p:cNvSpPr txBox="1"/>
          <p:nvPr/>
        </p:nvSpPr>
        <p:spPr>
          <a:xfrm>
            <a:off x="4754880" y="2221992"/>
            <a:ext cx="2743200" cy="274320"/>
          </a:xfrm>
          <a:prstGeom prst="rect">
            <a:avLst/>
          </a:prstGeom>
          <a:noFill/>
          <a:ln/>
        </p:spPr>
        <p:txBody>
          <a:bodyPr wrap="square" lIns="0" tIns="0" rIns="0" bIns="0" rtlCol="0" anchor="ctr"/>
          <a:lstStyle/>
          <a:p>
            <a:pPr algn="ctr" indent="0" marL="0">
              <a:buNone/>
            </a:pPr>
            <a:r>
              <a:rPr lang="en-US" sz="1100" dirty="0">
                <a:solidFill>
                  <a:srgbClr val="B8C7C2"/>
                </a:solidFill>
                <a:latin typeface="Calibri" pitchFamily="34" charset="0"/>
                <a:ea typeface="Calibri" pitchFamily="34" charset="-122"/>
                <a:cs typeface="Calibri" pitchFamily="34" charset="-120"/>
              </a:rPr>
              <a:t>Photon OS 4/5 virtual machine</a:t>
            </a:r>
            <a:endParaRPr lang="en-US" sz="1100" dirty="0"/>
          </a:p>
        </p:txBody>
      </p:sp>
      <p:sp>
        <p:nvSpPr>
          <p:cNvPr id="12" name="Text 9"/>
          <p:cNvSpPr/>
          <p:nvPr/>
        </p:nvSpPr>
        <p:spPr>
          <a:xfrm>
            <a:off x="4846320" y="2697480"/>
            <a:ext cx="2560320" cy="457200"/>
          </a:xfrm>
          <a:prstGeom prst="roundRect">
            <a:avLst>
              <a:gd name="adj" fmla="val 16000"/>
            </a:avLst>
          </a:prstGeom>
          <a:solidFill>
            <a:srgbClr val="1C2E38"/>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nginx: HTTPS and sign-in</a:t>
            </a:r>
            <a:endParaRPr lang="en-US" sz="1200" dirty="0"/>
          </a:p>
        </p:txBody>
      </p:sp>
      <p:sp>
        <p:nvSpPr>
          <p:cNvPr id="13" name="Text 10"/>
          <p:cNvSpPr/>
          <p:nvPr/>
        </p:nvSpPr>
        <p:spPr>
          <a:xfrm>
            <a:off x="4846320" y="3300984"/>
            <a:ext cx="2560320" cy="457200"/>
          </a:xfrm>
          <a:prstGeom prst="roundRect">
            <a:avLst>
              <a:gd name="adj" fmla="val 16000"/>
            </a:avLst>
          </a:prstGeom>
          <a:solidFill>
            <a:srgbClr val="1C2E38"/>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Upload portal and API</a:t>
            </a:r>
            <a:endParaRPr lang="en-US" sz="1200" dirty="0"/>
          </a:p>
        </p:txBody>
      </p:sp>
      <p:sp>
        <p:nvSpPr>
          <p:cNvPr id="14" name="Text 11"/>
          <p:cNvSpPr/>
          <p:nvPr/>
        </p:nvSpPr>
        <p:spPr>
          <a:xfrm>
            <a:off x="4846320" y="3904488"/>
            <a:ext cx="2560320" cy="457200"/>
          </a:xfrm>
          <a:prstGeom prst="roundRect">
            <a:avLst>
              <a:gd name="adj" fmla="val 16000"/>
            </a:avLst>
          </a:prstGeom>
          <a:solidFill>
            <a:srgbClr val="1C2E38"/>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vcsp-index</a:t>
            </a:r>
            <a:endParaRPr lang="en-US" sz="1200" dirty="0"/>
          </a:p>
        </p:txBody>
      </p:sp>
      <p:sp>
        <p:nvSpPr>
          <p:cNvPr id="15" name="Text 12"/>
          <p:cNvSpPr/>
          <p:nvPr/>
        </p:nvSpPr>
        <p:spPr>
          <a:xfrm>
            <a:off x="4846320" y="4507992"/>
            <a:ext cx="2560320" cy="457200"/>
          </a:xfrm>
          <a:prstGeom prst="roundRect">
            <a:avLst>
              <a:gd name="adj" fmla="val 16000"/>
            </a:avLst>
          </a:prstGeom>
          <a:solidFill>
            <a:srgbClr val="1C2E38"/>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Library storage</a:t>
            </a:r>
            <a:endParaRPr lang="en-US" sz="1200" dirty="0"/>
          </a:p>
        </p:txBody>
      </p:sp>
      <p:sp>
        <p:nvSpPr>
          <p:cNvPr id="16" name="Text 13"/>
          <p:cNvSpPr/>
          <p:nvPr/>
        </p:nvSpPr>
        <p:spPr>
          <a:xfrm>
            <a:off x="8915400" y="1783080"/>
            <a:ext cx="2724912" cy="914400"/>
          </a:xfrm>
          <a:prstGeom prst="roundRect">
            <a:avLst>
              <a:gd name="adj" fmla="val 8000"/>
            </a:avLst>
          </a:prstGeom>
          <a:solidFill>
            <a:srgbClr val="FFFFFF"/>
          </a:solidFill>
          <a:ln w="12700">
            <a:solidFill>
              <a:srgbClr val="9EAEA8"/>
            </a:solidFill>
            <a:prstDash val="solid"/>
          </a:ln>
        </p:spPr>
        <p:txBody>
          <a:bodyPr wrap="square" lIns="101600" tIns="101600" rIns="101600" bIns="1016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VMware Cloud Director cells</a:t>
            </a:r>
            <a:endParaRPr lang="en-US" sz="1300" dirty="0"/>
          </a:p>
          <a:p>
            <a:pPr algn="l" indent="0" marL="0">
              <a:spcAft>
                <a:spcPts val="200"/>
              </a:spcAft>
              <a:buNone/>
            </a:pPr>
            <a:r>
              <a:rPr lang="en-US" sz="1200" dirty="0">
                <a:solidFill>
                  <a:srgbClr val="56666D"/>
                </a:solidFill>
                <a:latin typeface="Calibri" pitchFamily="34" charset="0"/>
                <a:ea typeface="Calibri" pitchFamily="34" charset="-122"/>
                <a:cs typeface="Calibri" pitchFamily="34" charset="-120"/>
              </a:rPr>
              <a:t>Subscribed catalogs</a:t>
            </a:r>
            <a:endParaRPr lang="en-US" sz="1300" dirty="0"/>
          </a:p>
        </p:txBody>
      </p:sp>
      <p:sp>
        <p:nvSpPr>
          <p:cNvPr id="17" name="Text 14"/>
          <p:cNvSpPr/>
          <p:nvPr/>
        </p:nvSpPr>
        <p:spPr>
          <a:xfrm>
            <a:off x="8915400" y="2971800"/>
            <a:ext cx="2724912" cy="640080"/>
          </a:xfrm>
          <a:prstGeom prst="roundRect">
            <a:avLst>
              <a:gd name="adj" fmla="val 11429"/>
            </a:avLst>
          </a:prstGeom>
          <a:solidFill>
            <a:srgbClr val="EEF1EF"/>
          </a:solidFill>
          <a:ln w="12700">
            <a:solidFill>
              <a:srgbClr val="EEF1EF"/>
            </a:solidFill>
            <a:prstDash val="solid"/>
          </a:ln>
        </p:spPr>
        <p:txBody>
          <a:bodyPr wrap="square" lIns="63500" tIns="63500" rIns="63500" bIns="63500" rtlCol="0" anchor="ctr"/>
          <a:lstStyle/>
          <a:p>
            <a:pPr algn="ctr" indent="0" marL="0">
              <a:buNone/>
            </a:pPr>
            <a:r>
              <a:rPr lang="en-US" sz="1100" dirty="0">
                <a:solidFill>
                  <a:srgbClr val="13212B"/>
                </a:solidFill>
                <a:latin typeface="Calibri" pitchFamily="34" charset="0"/>
                <a:ea typeface="Calibri" pitchFamily="34" charset="-122"/>
                <a:cs typeface="Calibri" pitchFamily="34" charset="-120"/>
              </a:rPr>
              <a:t>Tenant org catalogs: vApp templates and media</a:t>
            </a:r>
            <a:endParaRPr lang="en-US" sz="1100" dirty="0"/>
          </a:p>
        </p:txBody>
      </p:sp>
      <p:sp>
        <p:nvSpPr>
          <p:cNvPr id="18" name="Text 15"/>
          <p:cNvSpPr/>
          <p:nvPr/>
        </p:nvSpPr>
        <p:spPr>
          <a:xfrm>
            <a:off x="8915400" y="3977640"/>
            <a:ext cx="2724912" cy="914400"/>
          </a:xfrm>
          <a:prstGeom prst="roundRect">
            <a:avLst>
              <a:gd name="adj" fmla="val 8000"/>
            </a:avLst>
          </a:prstGeom>
          <a:solidFill>
            <a:srgbClr val="FFFFFF"/>
          </a:solidFill>
          <a:ln w="12700">
            <a:solidFill>
              <a:srgbClr val="9EAEA8"/>
            </a:solidFill>
            <a:prstDash val="solid"/>
          </a:ln>
        </p:spPr>
        <p:txBody>
          <a:bodyPr wrap="square" lIns="101600" tIns="101600" rIns="101600" bIns="1016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vCenter Server</a:t>
            </a:r>
            <a:endParaRPr lang="en-US" sz="1300" dirty="0"/>
          </a:p>
          <a:p>
            <a:pPr algn="l" indent="0" marL="0">
              <a:spcAft>
                <a:spcPts val="200"/>
              </a:spcAft>
              <a:buNone/>
            </a:pPr>
            <a:r>
              <a:rPr lang="en-US" sz="1200" dirty="0">
                <a:solidFill>
                  <a:srgbClr val="56666D"/>
                </a:solidFill>
                <a:latin typeface="Calibri" pitchFamily="34" charset="0"/>
                <a:ea typeface="Calibri" pitchFamily="34" charset="-122"/>
                <a:cs typeface="Calibri" pitchFamily="34" charset="-120"/>
              </a:rPr>
              <a:t>Subscribed content libraries</a:t>
            </a:r>
            <a:endParaRPr lang="en-US" sz="1300" dirty="0"/>
          </a:p>
        </p:txBody>
      </p:sp>
      <p:sp>
        <p:nvSpPr>
          <p:cNvPr id="19" name="Text 16"/>
          <p:cNvSpPr/>
          <p:nvPr/>
        </p:nvSpPr>
        <p:spPr>
          <a:xfrm>
            <a:off x="8915400" y="5166360"/>
            <a:ext cx="2724912" cy="640080"/>
          </a:xfrm>
          <a:prstGeom prst="roundRect">
            <a:avLst>
              <a:gd name="adj" fmla="val 11429"/>
            </a:avLst>
          </a:prstGeom>
          <a:solidFill>
            <a:srgbClr val="EEF1EF"/>
          </a:solidFill>
          <a:ln w="12700">
            <a:solidFill>
              <a:srgbClr val="EEF1EF"/>
            </a:solidFill>
            <a:prstDash val="solid"/>
          </a:ln>
        </p:spPr>
        <p:txBody>
          <a:bodyPr wrap="square" lIns="63500" tIns="63500" rIns="63500" bIns="63500" rtlCol="0" anchor="ctr"/>
          <a:lstStyle/>
          <a:p>
            <a:pPr algn="ctr" indent="0" marL="0">
              <a:buNone/>
            </a:pPr>
            <a:r>
              <a:rPr lang="en-US" sz="1100" dirty="0">
                <a:solidFill>
                  <a:srgbClr val="13212B"/>
                </a:solidFill>
                <a:latin typeface="Calibri" pitchFamily="34" charset="0"/>
                <a:ea typeface="Calibri" pitchFamily="34" charset="-122"/>
                <a:cs typeface="Calibri" pitchFamily="34" charset="-120"/>
              </a:rPr>
              <a:t>OVF templates and ISOs for vSphere</a:t>
            </a:r>
            <a:endParaRPr lang="en-US" sz="1100" dirty="0"/>
          </a:p>
        </p:txBody>
      </p:sp>
      <p:sp>
        <p:nvSpPr>
          <p:cNvPr id="20" name="Shape 17"/>
          <p:cNvSpPr/>
          <p:nvPr/>
        </p:nvSpPr>
        <p:spPr>
          <a:xfrm>
            <a:off x="3383280" y="2331720"/>
            <a:ext cx="1188720" cy="0"/>
          </a:xfrm>
          <a:prstGeom prst="line">
            <a:avLst/>
          </a:prstGeom>
          <a:noFill/>
          <a:ln w="19050">
            <a:solidFill>
              <a:srgbClr val="5B6B70"/>
            </a:solidFill>
            <a:prstDash val="solid"/>
            <a:headEnd type="none"/>
            <a:tailEnd type="triangle"/>
          </a:ln>
        </p:spPr>
      </p:sp>
      <p:sp>
        <p:nvSpPr>
          <p:cNvPr id="21" name="Text 18"/>
          <p:cNvSpPr txBox="1"/>
          <p:nvPr/>
        </p:nvSpPr>
        <p:spPr>
          <a:xfrm>
            <a:off x="3401568" y="1810512"/>
            <a:ext cx="1152144" cy="457200"/>
          </a:xfrm>
          <a:prstGeom prst="rect">
            <a:avLst/>
          </a:prstGeom>
          <a:noFill/>
          <a:ln/>
        </p:spPr>
        <p:txBody>
          <a:bodyPr wrap="square" lIns="0" tIns="0" rIns="0" bIns="0" rtlCol="0" anchor="ctr"/>
          <a:lstStyle/>
          <a:p>
            <a:pPr algn="ctr" indent="0" marL="0">
              <a:buNone/>
            </a:pPr>
            <a:r>
              <a:rPr lang="en-US" sz="1000" dirty="0">
                <a:solidFill>
                  <a:srgbClr val="56666D"/>
                </a:solidFill>
                <a:latin typeface="Calibri" pitchFamily="34" charset="0"/>
                <a:ea typeface="Calibri" pitchFamily="34" charset="-122"/>
                <a:cs typeface="Calibri" pitchFamily="34" charset="-120"/>
              </a:rPr>
              <a:t>HTTPS /upload/</a:t>
            </a:r>
            <a:endParaRPr lang="en-US" sz="1000" dirty="0"/>
          </a:p>
          <a:p>
            <a:pPr algn="ctr" indent="0" marL="0">
              <a:buNone/>
            </a:pPr>
            <a:r>
              <a:rPr lang="en-US" sz="1000" dirty="0">
                <a:solidFill>
                  <a:srgbClr val="56666D"/>
                </a:solidFill>
                <a:latin typeface="Calibri" pitchFamily="34" charset="0"/>
                <a:ea typeface="Calibri" pitchFamily="34" charset="-122"/>
                <a:cs typeface="Calibri" pitchFamily="34" charset="-120"/>
              </a:rPr>
              <a:t>admin sign-in</a:t>
            </a:r>
            <a:endParaRPr lang="en-US" sz="1000" dirty="0"/>
          </a:p>
        </p:txBody>
      </p:sp>
      <p:sp>
        <p:nvSpPr>
          <p:cNvPr id="22" name="Shape 19"/>
          <p:cNvSpPr/>
          <p:nvPr/>
        </p:nvSpPr>
        <p:spPr>
          <a:xfrm>
            <a:off x="3383280" y="4754880"/>
            <a:ext cx="1188720" cy="0"/>
          </a:xfrm>
          <a:prstGeom prst="line">
            <a:avLst/>
          </a:prstGeom>
          <a:noFill/>
          <a:ln w="19050">
            <a:solidFill>
              <a:srgbClr val="5B6B70"/>
            </a:solidFill>
            <a:prstDash val="dash"/>
            <a:headEnd type="none"/>
            <a:tailEnd type="triangle"/>
          </a:ln>
        </p:spPr>
      </p:sp>
      <p:sp>
        <p:nvSpPr>
          <p:cNvPr id="23" name="Text 20"/>
          <p:cNvSpPr txBox="1"/>
          <p:nvPr/>
        </p:nvSpPr>
        <p:spPr>
          <a:xfrm>
            <a:off x="3401568" y="4233672"/>
            <a:ext cx="1152144" cy="457200"/>
          </a:xfrm>
          <a:prstGeom prst="rect">
            <a:avLst/>
          </a:prstGeom>
          <a:noFill/>
          <a:ln/>
        </p:spPr>
        <p:txBody>
          <a:bodyPr wrap="square" lIns="0" tIns="0" rIns="0" bIns="0" rtlCol="0" anchor="ctr"/>
          <a:lstStyle/>
          <a:p>
            <a:pPr algn="ctr" indent="0" marL="0">
              <a:buNone/>
            </a:pPr>
            <a:r>
              <a:rPr lang="en-US" sz="1000" dirty="0">
                <a:solidFill>
                  <a:srgbClr val="56666D"/>
                </a:solidFill>
                <a:latin typeface="Calibri" pitchFamily="34" charset="0"/>
                <a:ea typeface="Calibri" pitchFamily="34" charset="-122"/>
                <a:cs typeface="Calibri" pitchFamily="34" charset="-120"/>
              </a:rPr>
              <a:t>offline bundle</a:t>
            </a:r>
            <a:endParaRPr lang="en-US" sz="1000" dirty="0"/>
          </a:p>
          <a:p>
            <a:pPr algn="ctr" indent="0" marL="0">
              <a:buNone/>
            </a:pPr>
            <a:r>
              <a:rPr lang="en-US" sz="1000" dirty="0">
                <a:solidFill>
                  <a:srgbClr val="56666D"/>
                </a:solidFill>
                <a:latin typeface="Calibri" pitchFamily="34" charset="0"/>
                <a:ea typeface="Calibri" pitchFamily="34" charset="-122"/>
                <a:cs typeface="Calibri" pitchFamily="34" charset="-120"/>
              </a:rPr>
              <a:t>signed RPMs</a:t>
            </a:r>
            <a:endParaRPr lang="en-US" sz="1000" dirty="0"/>
          </a:p>
        </p:txBody>
      </p:sp>
      <p:sp>
        <p:nvSpPr>
          <p:cNvPr id="24" name="Shape 21"/>
          <p:cNvSpPr/>
          <p:nvPr/>
        </p:nvSpPr>
        <p:spPr>
          <a:xfrm flipH="1">
            <a:off x="7680960" y="2240280"/>
            <a:ext cx="1234440" cy="0"/>
          </a:xfrm>
          <a:prstGeom prst="line">
            <a:avLst/>
          </a:prstGeom>
          <a:noFill/>
          <a:ln w="19050">
            <a:solidFill>
              <a:srgbClr val="5B6B70"/>
            </a:solidFill>
            <a:prstDash val="solid"/>
            <a:headEnd type="none"/>
            <a:tailEnd type="triangle"/>
          </a:ln>
        </p:spPr>
      </p:sp>
      <p:sp>
        <p:nvSpPr>
          <p:cNvPr id="25" name="Text 22"/>
          <p:cNvSpPr txBox="1"/>
          <p:nvPr/>
        </p:nvSpPr>
        <p:spPr>
          <a:xfrm>
            <a:off x="7699248" y="1719072"/>
            <a:ext cx="1197864" cy="457200"/>
          </a:xfrm>
          <a:prstGeom prst="rect">
            <a:avLst/>
          </a:prstGeom>
          <a:noFill/>
          <a:ln/>
        </p:spPr>
        <p:txBody>
          <a:bodyPr wrap="square" lIns="0" tIns="0" rIns="0" bIns="0" rtlCol="0" anchor="ctr"/>
          <a:lstStyle/>
          <a:p>
            <a:pPr algn="ctr" indent="0" marL="0">
              <a:buNone/>
            </a:pPr>
            <a:r>
              <a:rPr lang="en-US" sz="1000" dirty="0">
                <a:solidFill>
                  <a:srgbClr val="56666D"/>
                </a:solidFill>
                <a:latin typeface="Calibri" pitchFamily="34" charset="0"/>
                <a:ea typeface="Calibri" pitchFamily="34" charset="-122"/>
                <a:cs typeface="Calibri" pitchFamily="34" charset="-120"/>
              </a:rPr>
              <a:t>HTTPS GET</a:t>
            </a:r>
            <a:endParaRPr lang="en-US" sz="1000" dirty="0"/>
          </a:p>
          <a:p>
            <a:pPr algn="ctr" indent="0" marL="0">
              <a:buNone/>
            </a:pPr>
            <a:r>
              <a:rPr lang="en-US" sz="1000" dirty="0">
                <a:solidFill>
                  <a:srgbClr val="56666D"/>
                </a:solidFill>
                <a:latin typeface="Calibri" pitchFamily="34" charset="0"/>
                <a:ea typeface="Calibri" pitchFamily="34" charset="-122"/>
                <a:cs typeface="Calibri" pitchFamily="34" charset="-120"/>
              </a:rPr>
              <a:t>user vcsp</a:t>
            </a:r>
            <a:endParaRPr lang="en-US" sz="1000" dirty="0"/>
          </a:p>
        </p:txBody>
      </p:sp>
      <p:sp>
        <p:nvSpPr>
          <p:cNvPr id="26" name="Shape 23"/>
          <p:cNvSpPr/>
          <p:nvPr/>
        </p:nvSpPr>
        <p:spPr>
          <a:xfrm flipH="1">
            <a:off x="7680960" y="4434840"/>
            <a:ext cx="1234440" cy="0"/>
          </a:xfrm>
          <a:prstGeom prst="line">
            <a:avLst/>
          </a:prstGeom>
          <a:noFill/>
          <a:ln w="19050">
            <a:solidFill>
              <a:srgbClr val="5B6B70"/>
            </a:solidFill>
            <a:prstDash val="solid"/>
            <a:headEnd type="none"/>
            <a:tailEnd type="triangle"/>
          </a:ln>
        </p:spPr>
      </p:sp>
      <p:sp>
        <p:nvSpPr>
          <p:cNvPr id="27" name="Text 24"/>
          <p:cNvSpPr txBox="1"/>
          <p:nvPr/>
        </p:nvSpPr>
        <p:spPr>
          <a:xfrm>
            <a:off x="7699248" y="3913632"/>
            <a:ext cx="1197864" cy="457200"/>
          </a:xfrm>
          <a:prstGeom prst="rect">
            <a:avLst/>
          </a:prstGeom>
          <a:noFill/>
          <a:ln/>
        </p:spPr>
        <p:txBody>
          <a:bodyPr wrap="square" lIns="0" tIns="0" rIns="0" bIns="0" rtlCol="0" anchor="ctr"/>
          <a:lstStyle/>
          <a:p>
            <a:pPr algn="ctr" indent="0" marL="0">
              <a:buNone/>
            </a:pPr>
            <a:r>
              <a:rPr lang="en-US" sz="1000" dirty="0">
                <a:solidFill>
                  <a:srgbClr val="56666D"/>
                </a:solidFill>
                <a:latin typeface="Calibri" pitchFamily="34" charset="0"/>
                <a:ea typeface="Calibri" pitchFamily="34" charset="-122"/>
                <a:cs typeface="Calibri" pitchFamily="34" charset="-120"/>
              </a:rPr>
              <a:t>HTTPS GET</a:t>
            </a:r>
            <a:endParaRPr lang="en-US" sz="1000" dirty="0"/>
          </a:p>
          <a:p>
            <a:pPr algn="ctr" indent="0" marL="0">
              <a:buNone/>
            </a:pPr>
            <a:r>
              <a:rPr lang="en-US" sz="1000" dirty="0">
                <a:solidFill>
                  <a:srgbClr val="56666D"/>
                </a:solidFill>
                <a:latin typeface="Calibri" pitchFamily="34" charset="0"/>
                <a:ea typeface="Calibri" pitchFamily="34" charset="-122"/>
                <a:cs typeface="Calibri" pitchFamily="34" charset="-120"/>
              </a:rPr>
              <a:t>user vcsp</a:t>
            </a:r>
            <a:endParaRPr lang="en-US" sz="1000" dirty="0"/>
          </a:p>
        </p:txBody>
      </p:sp>
      <p:sp>
        <p:nvSpPr>
          <p:cNvPr id="28" name="Shape 25"/>
          <p:cNvSpPr/>
          <p:nvPr/>
        </p:nvSpPr>
        <p:spPr>
          <a:xfrm>
            <a:off x="10277856" y="2697480"/>
            <a:ext cx="0" cy="274320"/>
          </a:xfrm>
          <a:prstGeom prst="line">
            <a:avLst/>
          </a:prstGeom>
          <a:noFill/>
          <a:ln w="19050">
            <a:solidFill>
              <a:srgbClr val="5B6B70"/>
            </a:solidFill>
            <a:prstDash val="solid"/>
            <a:headEnd type="none"/>
            <a:tailEnd type="triangle"/>
          </a:ln>
        </p:spPr>
      </p:sp>
      <p:sp>
        <p:nvSpPr>
          <p:cNvPr id="29" name="Shape 26"/>
          <p:cNvSpPr/>
          <p:nvPr/>
        </p:nvSpPr>
        <p:spPr>
          <a:xfrm>
            <a:off x="10277856" y="4892040"/>
            <a:ext cx="0" cy="274320"/>
          </a:xfrm>
          <a:prstGeom prst="line">
            <a:avLst/>
          </a:prstGeom>
          <a:noFill/>
          <a:ln w="19050">
            <a:solidFill>
              <a:srgbClr val="5B6B70"/>
            </a:solidFill>
            <a:prstDash val="solid"/>
            <a:headEnd type="none"/>
            <a:tailEnd type="triangle"/>
          </a:ln>
        </p:spPr>
      </p:sp>
      <p:sp>
        <p:nvSpPr>
          <p:cNvPr id="30" name="Text 27"/>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300" b="1" dirty="0">
                <a:solidFill>
                  <a:srgbClr val="13212B"/>
                </a:solidFill>
                <a:latin typeface="Calibri" pitchFamily="34" charset="0"/>
                <a:ea typeface="Calibri" pitchFamily="34" charset="-122"/>
                <a:cs typeface="Calibri" pitchFamily="34" charset="-120"/>
              </a:rPr>
              <a:t>Subscribers pull; the library never pushes. </a:t>
            </a:r>
            <a:pPr indent="0" marL="0">
              <a:buNone/>
            </a:pPr>
            <a:r>
              <a:rPr lang="en-US" sz="1300" dirty="0">
                <a:solidFill>
                  <a:srgbClr val="56666D"/>
                </a:solidFill>
                <a:latin typeface="Calibri" pitchFamily="34" charset="0"/>
                <a:ea typeface="Calibri" pitchFamily="34" charset="-122"/>
                <a:cs typeface="Calibri" pitchFamily="34" charset="-120"/>
              </a:rPr>
              <a:t>Each subscriber needs one URL, https://&lt;fqdn&gt;/lib/lib.json, and one password.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514600" cy="274320"/>
          </a:xfrm>
          <a:prstGeom prst="roundRect">
            <a:avLst>
              <a:gd name="adj" fmla="val 43333"/>
            </a:avLst>
          </a:prstGeom>
          <a:solidFill>
            <a:srgbClr val="0E6B5A"/>
          </a:solidFill>
          <a:ln w="9525">
            <a:solidFill>
              <a:srgbClr val="0E6B5A"/>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HIGH-LEVEL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Component architecture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4 / 14</a:t>
            </a:r>
            <a:endParaRPr lang="en-US" sz="900" dirty="0"/>
          </a:p>
        </p:txBody>
      </p:sp>
      <p:sp>
        <p:nvSpPr>
          <p:cNvPr id="7" name="Shape 4"/>
          <p:cNvSpPr/>
          <p:nvPr/>
        </p:nvSpPr>
        <p:spPr>
          <a:xfrm>
            <a:off x="548640" y="1554480"/>
            <a:ext cx="11091672" cy="731520"/>
          </a:xfrm>
          <a:prstGeom prst="roundRect">
            <a:avLst>
              <a:gd name="adj" fmla="val 10000"/>
            </a:avLst>
          </a:prstGeom>
          <a:solidFill>
            <a:srgbClr val="EEF1EF"/>
          </a:solidFill>
          <a:ln w="12700">
            <a:solidFill>
              <a:srgbClr val="EEF1EF"/>
            </a:solidFill>
            <a:prstDash val="solid"/>
          </a:ln>
        </p:spPr>
      </p:sp>
      <p:sp>
        <p:nvSpPr>
          <p:cNvPr id="8" name="Text 5"/>
          <p:cNvSpPr txBox="1"/>
          <p:nvPr/>
        </p:nvSpPr>
        <p:spPr>
          <a:xfrm>
            <a:off x="713232" y="1554480"/>
            <a:ext cx="1463040" cy="731520"/>
          </a:xfrm>
          <a:prstGeom prst="rect">
            <a:avLst/>
          </a:prstGeom>
          <a:noFill/>
          <a:ln/>
        </p:spPr>
        <p:txBody>
          <a:bodyPr wrap="square" lIns="0" tIns="0" rIns="0" bIns="0" rtlCol="0" anchor="ctr"/>
          <a:lstStyle/>
          <a:p>
            <a:pPr indent="0" marL="0">
              <a:buNone/>
            </a:pPr>
            <a:r>
              <a:rPr lang="en-US" sz="1000" b="1" spc="150" kern="0" dirty="0">
                <a:solidFill>
                  <a:srgbClr val="56666D"/>
                </a:solidFill>
                <a:latin typeface="Calibri" pitchFamily="34" charset="0"/>
                <a:ea typeface="Calibri" pitchFamily="34" charset="-122"/>
                <a:cs typeface="Calibri" pitchFamily="34" charset="-120"/>
              </a:rPr>
              <a:t>CLIENTS</a:t>
            </a:r>
            <a:endParaRPr lang="en-US" sz="1000" dirty="0"/>
          </a:p>
        </p:txBody>
      </p:sp>
      <p:sp>
        <p:nvSpPr>
          <p:cNvPr id="9" name="Shape 6"/>
          <p:cNvSpPr/>
          <p:nvPr/>
        </p:nvSpPr>
        <p:spPr>
          <a:xfrm>
            <a:off x="548640" y="2423160"/>
            <a:ext cx="11091672" cy="731520"/>
          </a:xfrm>
          <a:prstGeom prst="roundRect">
            <a:avLst>
              <a:gd name="adj" fmla="val 10000"/>
            </a:avLst>
          </a:prstGeom>
          <a:solidFill>
            <a:srgbClr val="EEF1EF"/>
          </a:solidFill>
          <a:ln w="12700">
            <a:solidFill>
              <a:srgbClr val="EEF1EF"/>
            </a:solidFill>
            <a:prstDash val="solid"/>
          </a:ln>
        </p:spPr>
      </p:sp>
      <p:sp>
        <p:nvSpPr>
          <p:cNvPr id="10" name="Text 7"/>
          <p:cNvSpPr txBox="1"/>
          <p:nvPr/>
        </p:nvSpPr>
        <p:spPr>
          <a:xfrm>
            <a:off x="713232" y="2423160"/>
            <a:ext cx="1463040" cy="731520"/>
          </a:xfrm>
          <a:prstGeom prst="rect">
            <a:avLst/>
          </a:prstGeom>
          <a:noFill/>
          <a:ln/>
        </p:spPr>
        <p:txBody>
          <a:bodyPr wrap="square" lIns="0" tIns="0" rIns="0" bIns="0" rtlCol="0" anchor="ctr"/>
          <a:lstStyle/>
          <a:p>
            <a:pPr indent="0" marL="0">
              <a:buNone/>
            </a:pPr>
            <a:r>
              <a:rPr lang="en-US" sz="1000" b="1" spc="150" kern="0" dirty="0">
                <a:solidFill>
                  <a:srgbClr val="56666D"/>
                </a:solidFill>
                <a:latin typeface="Calibri" pitchFamily="34" charset="0"/>
                <a:ea typeface="Calibri" pitchFamily="34" charset="-122"/>
                <a:cs typeface="Calibri" pitchFamily="34" charset="-120"/>
              </a:rPr>
              <a:t>ACCESS</a:t>
            </a:r>
            <a:endParaRPr lang="en-US" sz="1000" dirty="0"/>
          </a:p>
        </p:txBody>
      </p:sp>
      <p:sp>
        <p:nvSpPr>
          <p:cNvPr id="11" name="Shape 8"/>
          <p:cNvSpPr/>
          <p:nvPr/>
        </p:nvSpPr>
        <p:spPr>
          <a:xfrm>
            <a:off x="548640" y="3291840"/>
            <a:ext cx="11091672" cy="960120"/>
          </a:xfrm>
          <a:prstGeom prst="roundRect">
            <a:avLst>
              <a:gd name="adj" fmla="val 7619"/>
            </a:avLst>
          </a:prstGeom>
          <a:solidFill>
            <a:srgbClr val="EEF1EF"/>
          </a:solidFill>
          <a:ln w="12700">
            <a:solidFill>
              <a:srgbClr val="EEF1EF"/>
            </a:solidFill>
            <a:prstDash val="solid"/>
          </a:ln>
        </p:spPr>
      </p:sp>
      <p:sp>
        <p:nvSpPr>
          <p:cNvPr id="12" name="Text 9"/>
          <p:cNvSpPr txBox="1"/>
          <p:nvPr/>
        </p:nvSpPr>
        <p:spPr>
          <a:xfrm>
            <a:off x="713232" y="3291840"/>
            <a:ext cx="1463040" cy="960120"/>
          </a:xfrm>
          <a:prstGeom prst="rect">
            <a:avLst/>
          </a:prstGeom>
          <a:noFill/>
          <a:ln/>
        </p:spPr>
        <p:txBody>
          <a:bodyPr wrap="square" lIns="0" tIns="0" rIns="0" bIns="0" rtlCol="0" anchor="ctr"/>
          <a:lstStyle/>
          <a:p>
            <a:pPr indent="0" marL="0">
              <a:buNone/>
            </a:pPr>
            <a:r>
              <a:rPr lang="en-US" sz="1000" b="1" spc="150" kern="0" dirty="0">
                <a:solidFill>
                  <a:srgbClr val="56666D"/>
                </a:solidFill>
                <a:latin typeface="Calibri" pitchFamily="34" charset="0"/>
                <a:ea typeface="Calibri" pitchFamily="34" charset="-122"/>
                <a:cs typeface="Calibri" pitchFamily="34" charset="-120"/>
              </a:rPr>
              <a:t>APPLICATION</a:t>
            </a:r>
            <a:endParaRPr lang="en-US" sz="1000" dirty="0"/>
          </a:p>
        </p:txBody>
      </p:sp>
      <p:sp>
        <p:nvSpPr>
          <p:cNvPr id="13" name="Shape 10"/>
          <p:cNvSpPr/>
          <p:nvPr/>
        </p:nvSpPr>
        <p:spPr>
          <a:xfrm>
            <a:off x="548640" y="4389120"/>
            <a:ext cx="11091672" cy="914400"/>
          </a:xfrm>
          <a:prstGeom prst="roundRect">
            <a:avLst>
              <a:gd name="adj" fmla="val 8000"/>
            </a:avLst>
          </a:prstGeom>
          <a:solidFill>
            <a:srgbClr val="EEF1EF"/>
          </a:solidFill>
          <a:ln w="12700">
            <a:solidFill>
              <a:srgbClr val="EEF1EF"/>
            </a:solidFill>
            <a:prstDash val="solid"/>
          </a:ln>
        </p:spPr>
      </p:sp>
      <p:sp>
        <p:nvSpPr>
          <p:cNvPr id="14" name="Text 11"/>
          <p:cNvSpPr txBox="1"/>
          <p:nvPr/>
        </p:nvSpPr>
        <p:spPr>
          <a:xfrm>
            <a:off x="713232" y="4389120"/>
            <a:ext cx="1463040" cy="914400"/>
          </a:xfrm>
          <a:prstGeom prst="rect">
            <a:avLst/>
          </a:prstGeom>
          <a:noFill/>
          <a:ln/>
        </p:spPr>
        <p:txBody>
          <a:bodyPr wrap="square" lIns="0" tIns="0" rIns="0" bIns="0" rtlCol="0" anchor="ctr"/>
          <a:lstStyle/>
          <a:p>
            <a:pPr indent="0" marL="0">
              <a:buNone/>
            </a:pPr>
            <a:r>
              <a:rPr lang="en-US" sz="1000" b="1" spc="150" kern="0" dirty="0">
                <a:solidFill>
                  <a:srgbClr val="56666D"/>
                </a:solidFill>
                <a:latin typeface="Calibri" pitchFamily="34" charset="0"/>
                <a:ea typeface="Calibri" pitchFamily="34" charset="-122"/>
                <a:cs typeface="Calibri" pitchFamily="34" charset="-120"/>
              </a:rPr>
              <a:t>DATA</a:t>
            </a:r>
            <a:endParaRPr lang="en-US" sz="1000" dirty="0"/>
          </a:p>
        </p:txBody>
      </p:sp>
      <p:sp>
        <p:nvSpPr>
          <p:cNvPr id="15" name="Shape 12"/>
          <p:cNvSpPr/>
          <p:nvPr/>
        </p:nvSpPr>
        <p:spPr>
          <a:xfrm>
            <a:off x="548640" y="5440680"/>
            <a:ext cx="11091672" cy="548640"/>
          </a:xfrm>
          <a:prstGeom prst="roundRect">
            <a:avLst>
              <a:gd name="adj" fmla="val 13333"/>
            </a:avLst>
          </a:prstGeom>
          <a:solidFill>
            <a:srgbClr val="EEF1EF"/>
          </a:solidFill>
          <a:ln w="12700">
            <a:solidFill>
              <a:srgbClr val="EEF1EF"/>
            </a:solidFill>
            <a:prstDash val="solid"/>
          </a:ln>
        </p:spPr>
      </p:sp>
      <p:sp>
        <p:nvSpPr>
          <p:cNvPr id="16" name="Text 13"/>
          <p:cNvSpPr txBox="1"/>
          <p:nvPr/>
        </p:nvSpPr>
        <p:spPr>
          <a:xfrm>
            <a:off x="713232" y="5440680"/>
            <a:ext cx="1463040" cy="548640"/>
          </a:xfrm>
          <a:prstGeom prst="rect">
            <a:avLst/>
          </a:prstGeom>
          <a:noFill/>
          <a:ln/>
        </p:spPr>
        <p:txBody>
          <a:bodyPr wrap="square" lIns="0" tIns="0" rIns="0" bIns="0" rtlCol="0" anchor="ctr"/>
          <a:lstStyle/>
          <a:p>
            <a:pPr indent="0" marL="0">
              <a:buNone/>
            </a:pPr>
            <a:r>
              <a:rPr lang="en-US" sz="1000" b="1" spc="150" kern="0" dirty="0">
                <a:solidFill>
                  <a:srgbClr val="56666D"/>
                </a:solidFill>
                <a:latin typeface="Calibri" pitchFamily="34" charset="0"/>
                <a:ea typeface="Calibri" pitchFamily="34" charset="-122"/>
                <a:cs typeface="Calibri" pitchFamily="34" charset="-120"/>
              </a:rPr>
              <a:t>PLATFORM</a:t>
            </a:r>
            <a:endParaRPr lang="en-US" sz="1000" dirty="0"/>
          </a:p>
        </p:txBody>
      </p:sp>
      <p:sp>
        <p:nvSpPr>
          <p:cNvPr id="17" name="Text 14"/>
          <p:cNvSpPr/>
          <p:nvPr/>
        </p:nvSpPr>
        <p:spPr>
          <a:xfrm>
            <a:off x="2286000" y="1664208"/>
            <a:ext cx="2651760" cy="512064"/>
          </a:xfrm>
          <a:prstGeom prst="roundRect">
            <a:avLst>
              <a:gd name="adj" fmla="val 14286"/>
            </a:avLst>
          </a:prstGeom>
          <a:solidFill>
            <a:srgbClr val="FFFFFF"/>
          </a:solidFill>
          <a:ln w="12700">
            <a:solidFill>
              <a:srgbClr val="9EAEA8"/>
            </a:solidFill>
            <a:prstDash val="solid"/>
          </a:ln>
        </p:spPr>
        <p:txBody>
          <a:bodyPr wrap="square" lIns="63500" tIns="63500" rIns="63500" bIns="63500" rtlCol="0" anchor="ctr"/>
          <a:lstStyle/>
          <a:p>
            <a:pPr algn="ctr" indent="0" marL="0">
              <a:buNone/>
            </a:pPr>
            <a:r>
              <a:rPr lang="en-US" sz="1200" dirty="0">
                <a:solidFill>
                  <a:srgbClr val="13212B"/>
                </a:solidFill>
                <a:latin typeface="Calibri" pitchFamily="34" charset="0"/>
                <a:ea typeface="Calibri" pitchFamily="34" charset="-122"/>
                <a:cs typeface="Calibri" pitchFamily="34" charset="-120"/>
              </a:rPr>
              <a:t>Administrator browser</a:t>
            </a:r>
            <a:endParaRPr lang="en-US" sz="1200" dirty="0"/>
          </a:p>
        </p:txBody>
      </p:sp>
      <p:sp>
        <p:nvSpPr>
          <p:cNvPr id="18" name="Text 15"/>
          <p:cNvSpPr/>
          <p:nvPr/>
        </p:nvSpPr>
        <p:spPr>
          <a:xfrm>
            <a:off x="5669280" y="1664208"/>
            <a:ext cx="2651760" cy="512064"/>
          </a:xfrm>
          <a:prstGeom prst="roundRect">
            <a:avLst>
              <a:gd name="adj" fmla="val 14286"/>
            </a:avLst>
          </a:prstGeom>
          <a:solidFill>
            <a:srgbClr val="FFFFFF"/>
          </a:solidFill>
          <a:ln w="12700">
            <a:solidFill>
              <a:srgbClr val="9EAEA8"/>
            </a:solidFill>
            <a:prstDash val="solid"/>
          </a:ln>
        </p:spPr>
        <p:txBody>
          <a:bodyPr wrap="square" lIns="63500" tIns="63500" rIns="63500" bIns="63500" rtlCol="0" anchor="ctr"/>
          <a:lstStyle/>
          <a:p>
            <a:pPr algn="ctr" indent="0" marL="0">
              <a:buNone/>
            </a:pPr>
            <a:r>
              <a:rPr lang="en-US" sz="1200" dirty="0">
                <a:solidFill>
                  <a:srgbClr val="13212B"/>
                </a:solidFill>
                <a:latin typeface="Calibri" pitchFamily="34" charset="0"/>
                <a:ea typeface="Calibri" pitchFamily="34" charset="-122"/>
                <a:cs typeface="Calibri" pitchFamily="34" charset="-120"/>
              </a:rPr>
              <a:t>Cloud Director cells</a:t>
            </a:r>
            <a:endParaRPr lang="en-US" sz="1200" dirty="0"/>
          </a:p>
        </p:txBody>
      </p:sp>
      <p:sp>
        <p:nvSpPr>
          <p:cNvPr id="19" name="Text 16"/>
          <p:cNvSpPr/>
          <p:nvPr/>
        </p:nvSpPr>
        <p:spPr>
          <a:xfrm>
            <a:off x="8851392" y="1664208"/>
            <a:ext cx="2651760" cy="512064"/>
          </a:xfrm>
          <a:prstGeom prst="roundRect">
            <a:avLst>
              <a:gd name="adj" fmla="val 14286"/>
            </a:avLst>
          </a:prstGeom>
          <a:solidFill>
            <a:srgbClr val="FFFFFF"/>
          </a:solidFill>
          <a:ln w="12700">
            <a:solidFill>
              <a:srgbClr val="9EAEA8"/>
            </a:solidFill>
            <a:prstDash val="solid"/>
          </a:ln>
        </p:spPr>
        <p:txBody>
          <a:bodyPr wrap="square" lIns="63500" tIns="63500" rIns="63500" bIns="63500" rtlCol="0" anchor="ctr"/>
          <a:lstStyle/>
          <a:p>
            <a:pPr algn="ctr" indent="0" marL="0">
              <a:buNone/>
            </a:pPr>
            <a:r>
              <a:rPr lang="en-US" sz="1200" dirty="0">
                <a:solidFill>
                  <a:srgbClr val="13212B"/>
                </a:solidFill>
                <a:latin typeface="Calibri" pitchFamily="34" charset="0"/>
                <a:ea typeface="Calibri" pitchFamily="34" charset="-122"/>
                <a:cs typeface="Calibri" pitchFamily="34" charset="-120"/>
              </a:rPr>
              <a:t>vCenter Server</a:t>
            </a:r>
            <a:endParaRPr lang="en-US" sz="1200" dirty="0"/>
          </a:p>
        </p:txBody>
      </p:sp>
      <p:sp>
        <p:nvSpPr>
          <p:cNvPr id="20" name="Text 17"/>
          <p:cNvSpPr/>
          <p:nvPr/>
        </p:nvSpPr>
        <p:spPr>
          <a:xfrm>
            <a:off x="2286000" y="2532888"/>
            <a:ext cx="9217152" cy="512064"/>
          </a:xfrm>
          <a:prstGeom prst="roundRect">
            <a:avLst>
              <a:gd name="adj" fmla="val 14286"/>
            </a:avLst>
          </a:prstGeom>
          <a:solidFill>
            <a:srgbClr val="13212B"/>
          </a:solidFill>
          <a:ln w="12700">
            <a:solidFill>
              <a:srgbClr val="13212B"/>
            </a:solidFill>
            <a:prstDash val="solid"/>
          </a:ln>
        </p:spPr>
        <p:txBody>
          <a:bodyPr wrap="square" lIns="63500" tIns="63500" rIns="63500" bIns="635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nginx   |   TLS 1.2/1.3   ·   Basic auth   ·   IP allow-lists   ·   rate limiting   ·   sendfile static delivery</a:t>
            </a:r>
            <a:endParaRPr lang="en-US" sz="1200" dirty="0"/>
          </a:p>
        </p:txBody>
      </p:sp>
      <p:sp>
        <p:nvSpPr>
          <p:cNvPr id="21" name="Text 18"/>
          <p:cNvSpPr/>
          <p:nvPr/>
        </p:nvSpPr>
        <p:spPr>
          <a:xfrm>
            <a:off x="2286000" y="3401568"/>
            <a:ext cx="2011680" cy="740664"/>
          </a:xfrm>
          <a:prstGeom prst="roundRect">
            <a:avLst>
              <a:gd name="adj" fmla="val 9877"/>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Portal UI</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static HTML, CSS, JS</a:t>
            </a:r>
            <a:endParaRPr lang="en-US" sz="1200" dirty="0"/>
          </a:p>
        </p:txBody>
      </p:sp>
      <p:sp>
        <p:nvSpPr>
          <p:cNvPr id="22" name="Text 19"/>
          <p:cNvSpPr/>
          <p:nvPr/>
        </p:nvSpPr>
        <p:spPr>
          <a:xfrm>
            <a:off x="4526280" y="3401568"/>
            <a:ext cx="2468880" cy="740664"/>
          </a:xfrm>
          <a:prstGeom prst="roundRect">
            <a:avLst>
              <a:gd name="adj" fmla="val 9877"/>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vcsp-upload</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Python, 127.0.0.1:8080</a:t>
            </a:r>
            <a:endParaRPr lang="en-US" sz="1200" dirty="0"/>
          </a:p>
        </p:txBody>
      </p:sp>
      <p:sp>
        <p:nvSpPr>
          <p:cNvPr id="23" name="Text 20"/>
          <p:cNvSpPr/>
          <p:nvPr/>
        </p:nvSpPr>
        <p:spPr>
          <a:xfrm>
            <a:off x="8686800" y="3401568"/>
            <a:ext cx="2816352" cy="740664"/>
          </a:xfrm>
          <a:prstGeom prst="roundRect">
            <a:avLst>
              <a:gd name="adj" fmla="val 9877"/>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vcsp-index</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timer + per-item runs</a:t>
            </a:r>
            <a:endParaRPr lang="en-US" sz="1200" dirty="0"/>
          </a:p>
        </p:txBody>
      </p:sp>
      <p:sp>
        <p:nvSpPr>
          <p:cNvPr id="24" name="Text 21"/>
          <p:cNvSpPr/>
          <p:nvPr/>
        </p:nvSpPr>
        <p:spPr>
          <a:xfrm>
            <a:off x="2286000" y="4498848"/>
            <a:ext cx="2011680" cy="694944"/>
          </a:xfrm>
          <a:prstGeom prst="roundRect">
            <a:avLst>
              <a:gd name="adj" fmla="val 10526"/>
            </a:avLst>
          </a:prstGeom>
          <a:solidFill>
            <a:srgbClr val="DCEBE6"/>
          </a:solidFill>
          <a:ln w="12700">
            <a:solidFill>
              <a:srgbClr val="0E6B5A"/>
            </a:solidFill>
            <a:prstDash val="solid"/>
          </a:ln>
        </p:spPr>
        <p:txBody>
          <a:bodyPr wrap="square" lIns="63500" tIns="63500" rIns="63500" bIns="63500" rtlCol="0" anchor="ctr"/>
          <a:lstStyle/>
          <a:p>
            <a:pPr algn="ctr" indent="0" marL="0">
              <a:buNone/>
            </a:pPr>
            <a:r>
              <a:rPr lang="en-US" sz="1100" dirty="0">
                <a:solidFill>
                  <a:srgbClr val="13212B"/>
                </a:solidFill>
                <a:latin typeface="Calibri" pitchFamily="34" charset="0"/>
                <a:ea typeface="Calibri" pitchFamily="34" charset="-122"/>
                <a:cs typeface="Calibri" pitchFamily="34" charset="-120"/>
              </a:rPr>
              <a:t>Config and secrets</a:t>
            </a:r>
            <a:endParaRPr lang="en-US" sz="1100" dirty="0"/>
          </a:p>
          <a:p>
            <a:pPr algn="ctr" indent="0" marL="0">
              <a:buNone/>
            </a:pPr>
            <a:r>
              <a:rPr lang="en-US" sz="1100" dirty="0">
                <a:solidFill>
                  <a:srgbClr val="13212B"/>
                </a:solidFill>
                <a:latin typeface="Calibri" pitchFamily="34" charset="0"/>
                <a:ea typeface="Calibri" pitchFamily="34" charset="-122"/>
                <a:cs typeface="Calibri" pitchFamily="34" charset="-120"/>
              </a:rPr>
              <a:t>/etc/vcsp</a:t>
            </a:r>
            <a:endParaRPr lang="en-US" sz="1100" dirty="0"/>
          </a:p>
        </p:txBody>
      </p:sp>
      <p:sp>
        <p:nvSpPr>
          <p:cNvPr id="25" name="Text 22"/>
          <p:cNvSpPr/>
          <p:nvPr/>
        </p:nvSpPr>
        <p:spPr>
          <a:xfrm>
            <a:off x="4526280" y="4498848"/>
            <a:ext cx="2011680" cy="694944"/>
          </a:xfrm>
          <a:prstGeom prst="roundRect">
            <a:avLst>
              <a:gd name="adj" fmla="val 10526"/>
            </a:avLst>
          </a:prstGeom>
          <a:solidFill>
            <a:srgbClr val="DCEBE6"/>
          </a:solidFill>
          <a:ln w="12700">
            <a:solidFill>
              <a:srgbClr val="0E6B5A"/>
            </a:solidFill>
            <a:prstDash val="solid"/>
          </a:ln>
        </p:spPr>
        <p:txBody>
          <a:bodyPr wrap="square" lIns="63500" tIns="63500" rIns="63500" bIns="63500" rtlCol="0" anchor="ctr"/>
          <a:lstStyle/>
          <a:p>
            <a:pPr algn="ctr" indent="0" marL="0">
              <a:buNone/>
            </a:pPr>
            <a:r>
              <a:rPr lang="en-US" sz="1100" dirty="0">
                <a:solidFill>
                  <a:srgbClr val="13212B"/>
                </a:solidFill>
                <a:latin typeface="Calibri" pitchFamily="34" charset="0"/>
                <a:ea typeface="Calibri" pitchFamily="34" charset="-122"/>
                <a:cs typeface="Calibri" pitchFamily="34" charset="-120"/>
              </a:rPr>
              <a:t>Staging</a:t>
            </a:r>
            <a:endParaRPr lang="en-US" sz="1100" dirty="0"/>
          </a:p>
          <a:p>
            <a:pPr algn="ctr" indent="0" marL="0">
              <a:buNone/>
            </a:pPr>
            <a:r>
              <a:rPr lang="en-US" sz="1100" dirty="0">
                <a:solidFill>
                  <a:srgbClr val="13212B"/>
                </a:solidFill>
                <a:latin typeface="Calibri" pitchFamily="34" charset="0"/>
                <a:ea typeface="Calibri" pitchFamily="34" charset="-122"/>
                <a:cs typeface="Calibri" pitchFamily="34" charset="-120"/>
              </a:rPr>
              <a:t>DATA_ROOT/staging</a:t>
            </a:r>
            <a:endParaRPr lang="en-US" sz="1100" dirty="0"/>
          </a:p>
        </p:txBody>
      </p:sp>
      <p:sp>
        <p:nvSpPr>
          <p:cNvPr id="26" name="Text 23"/>
          <p:cNvSpPr/>
          <p:nvPr/>
        </p:nvSpPr>
        <p:spPr>
          <a:xfrm>
            <a:off x="6766560" y="4498848"/>
            <a:ext cx="2103120" cy="694944"/>
          </a:xfrm>
          <a:prstGeom prst="roundRect">
            <a:avLst>
              <a:gd name="adj" fmla="val 10526"/>
            </a:avLst>
          </a:prstGeom>
          <a:solidFill>
            <a:srgbClr val="DCEBE6"/>
          </a:solidFill>
          <a:ln w="12700">
            <a:solidFill>
              <a:srgbClr val="0E6B5A"/>
            </a:solidFill>
            <a:prstDash val="solid"/>
          </a:ln>
        </p:spPr>
        <p:txBody>
          <a:bodyPr wrap="square" lIns="63500" tIns="63500" rIns="63500" bIns="63500"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Library</a:t>
            </a:r>
            <a:endParaRPr lang="en-US" sz="1100" dirty="0"/>
          </a:p>
          <a:p>
            <a:pPr algn="ctr" indent="0" marL="0">
              <a:buNone/>
            </a:pPr>
            <a:r>
              <a:rPr lang="en-US" sz="1100" b="1" dirty="0">
                <a:solidFill>
                  <a:srgbClr val="13212B"/>
                </a:solidFill>
                <a:latin typeface="Calibri" pitchFamily="34" charset="0"/>
                <a:ea typeface="Calibri" pitchFamily="34" charset="-122"/>
                <a:cs typeface="Calibri" pitchFamily="34" charset="-120"/>
              </a:rPr>
              <a:t>DATA_ROOT/lib</a:t>
            </a:r>
            <a:endParaRPr lang="en-US" sz="1100" dirty="0"/>
          </a:p>
        </p:txBody>
      </p:sp>
      <p:sp>
        <p:nvSpPr>
          <p:cNvPr id="27" name="Text 24"/>
          <p:cNvSpPr/>
          <p:nvPr/>
        </p:nvSpPr>
        <p:spPr>
          <a:xfrm>
            <a:off x="9144000" y="4498848"/>
            <a:ext cx="2359152" cy="694944"/>
          </a:xfrm>
          <a:prstGeom prst="roundRect">
            <a:avLst>
              <a:gd name="adj" fmla="val 10526"/>
            </a:avLst>
          </a:prstGeom>
          <a:solidFill>
            <a:srgbClr val="DCEBE6"/>
          </a:solidFill>
          <a:ln w="12700">
            <a:solidFill>
              <a:srgbClr val="0E6B5A"/>
            </a:solidFill>
            <a:prstDash val="solid"/>
          </a:ln>
        </p:spPr>
        <p:txBody>
          <a:bodyPr wrap="square" lIns="63500" tIns="63500" rIns="63500" bIns="63500" rtlCol="0" anchor="ctr"/>
          <a:lstStyle/>
          <a:p>
            <a:pPr algn="ctr" indent="0" marL="0">
              <a:buNone/>
            </a:pPr>
            <a:r>
              <a:rPr lang="en-US" sz="1100" dirty="0">
                <a:solidFill>
                  <a:srgbClr val="13212B"/>
                </a:solidFill>
                <a:latin typeface="Calibri" pitchFamily="34" charset="0"/>
                <a:ea typeface="Calibri" pitchFamily="34" charset="-122"/>
                <a:cs typeface="Calibri" pitchFamily="34" charset="-120"/>
              </a:rPr>
              <a:t>Index state</a:t>
            </a:r>
            <a:endParaRPr lang="en-US" sz="1100" dirty="0"/>
          </a:p>
          <a:p>
            <a:pPr algn="ctr" indent="0" marL="0">
              <a:buNone/>
            </a:pPr>
            <a:r>
              <a:rPr lang="en-US" sz="1100" dirty="0">
                <a:solidFill>
                  <a:srgbClr val="13212B"/>
                </a:solidFill>
                <a:latin typeface="Calibri" pitchFamily="34" charset="0"/>
                <a:ea typeface="Calibri" pitchFamily="34" charset="-122"/>
                <a:cs typeface="Calibri" pitchFamily="34" charset="-120"/>
              </a:rPr>
              <a:t>/var/lib/vcsp</a:t>
            </a:r>
            <a:endParaRPr lang="en-US" sz="1100" dirty="0"/>
          </a:p>
        </p:txBody>
      </p:sp>
      <p:sp>
        <p:nvSpPr>
          <p:cNvPr id="28" name="Text 25"/>
          <p:cNvSpPr txBox="1"/>
          <p:nvPr/>
        </p:nvSpPr>
        <p:spPr>
          <a:xfrm>
            <a:off x="2286000" y="5440680"/>
            <a:ext cx="9217152" cy="548640"/>
          </a:xfrm>
          <a:prstGeom prst="rect">
            <a:avLst/>
          </a:prstGeom>
          <a:noFill/>
          <a:ln/>
        </p:spPr>
        <p:txBody>
          <a:bodyPr wrap="square" lIns="0" tIns="0" rIns="0" bIns="0" rtlCol="0" anchor="ctr"/>
          <a:lstStyle/>
          <a:p>
            <a:pPr algn="ctr" indent="0" marL="0">
              <a:buNone/>
            </a:pPr>
            <a:r>
              <a:rPr lang="en-US" sz="1200" dirty="0">
                <a:solidFill>
                  <a:srgbClr val="13212B"/>
                </a:solidFill>
                <a:latin typeface="Calibri" pitchFamily="34" charset="0"/>
                <a:ea typeface="Calibri" pitchFamily="34" charset="-122"/>
                <a:cs typeface="Calibri" pitchFamily="34" charset="-120"/>
              </a:rPr>
              <a:t>Photon OS 4 / 5   ·   systemd (sandboxed units, timer)   ·   iptables   ·   OpenSSL   ·   Python 3 standard library</a:t>
            </a:r>
            <a:endParaRPr lang="en-US" sz="1200" dirty="0"/>
          </a:p>
        </p:txBody>
      </p:sp>
      <p:sp>
        <p:nvSpPr>
          <p:cNvPr id="29" name="Shape 26"/>
          <p:cNvSpPr/>
          <p:nvPr/>
        </p:nvSpPr>
        <p:spPr>
          <a:xfrm>
            <a:off x="3611880" y="2176272"/>
            <a:ext cx="0" cy="356616"/>
          </a:xfrm>
          <a:prstGeom prst="line">
            <a:avLst/>
          </a:prstGeom>
          <a:noFill/>
          <a:ln w="19050">
            <a:solidFill>
              <a:srgbClr val="5B6B70"/>
            </a:solidFill>
            <a:prstDash val="solid"/>
            <a:headEnd type="none"/>
            <a:tailEnd type="triangle"/>
          </a:ln>
        </p:spPr>
      </p:sp>
      <p:sp>
        <p:nvSpPr>
          <p:cNvPr id="30" name="Shape 27"/>
          <p:cNvSpPr/>
          <p:nvPr/>
        </p:nvSpPr>
        <p:spPr>
          <a:xfrm>
            <a:off x="6995160" y="2176272"/>
            <a:ext cx="0" cy="356616"/>
          </a:xfrm>
          <a:prstGeom prst="line">
            <a:avLst/>
          </a:prstGeom>
          <a:noFill/>
          <a:ln w="19050">
            <a:solidFill>
              <a:srgbClr val="5B6B70"/>
            </a:solidFill>
            <a:prstDash val="solid"/>
            <a:headEnd type="none"/>
            <a:tailEnd type="triangle"/>
          </a:ln>
        </p:spPr>
      </p:sp>
      <p:sp>
        <p:nvSpPr>
          <p:cNvPr id="31" name="Shape 28"/>
          <p:cNvSpPr/>
          <p:nvPr/>
        </p:nvSpPr>
        <p:spPr>
          <a:xfrm>
            <a:off x="10177272" y="2176272"/>
            <a:ext cx="0" cy="356616"/>
          </a:xfrm>
          <a:prstGeom prst="line">
            <a:avLst/>
          </a:prstGeom>
          <a:noFill/>
          <a:ln w="19050">
            <a:solidFill>
              <a:srgbClr val="5B6B70"/>
            </a:solidFill>
            <a:prstDash val="solid"/>
            <a:headEnd type="none"/>
            <a:tailEnd type="triangle"/>
          </a:ln>
        </p:spPr>
      </p:sp>
      <p:sp>
        <p:nvSpPr>
          <p:cNvPr id="32" name="Shape 29"/>
          <p:cNvSpPr/>
          <p:nvPr/>
        </p:nvSpPr>
        <p:spPr>
          <a:xfrm>
            <a:off x="3291840" y="3044952"/>
            <a:ext cx="0" cy="356616"/>
          </a:xfrm>
          <a:prstGeom prst="line">
            <a:avLst/>
          </a:prstGeom>
          <a:noFill/>
          <a:ln w="19050">
            <a:solidFill>
              <a:srgbClr val="5B6B70"/>
            </a:solidFill>
            <a:prstDash val="solid"/>
            <a:headEnd type="none"/>
            <a:tailEnd type="triangle"/>
          </a:ln>
        </p:spPr>
      </p:sp>
      <p:sp>
        <p:nvSpPr>
          <p:cNvPr id="33" name="Shape 30"/>
          <p:cNvSpPr/>
          <p:nvPr/>
        </p:nvSpPr>
        <p:spPr>
          <a:xfrm>
            <a:off x="5760720" y="3044952"/>
            <a:ext cx="0" cy="356616"/>
          </a:xfrm>
          <a:prstGeom prst="line">
            <a:avLst/>
          </a:prstGeom>
          <a:noFill/>
          <a:ln w="19050">
            <a:solidFill>
              <a:srgbClr val="5B6B70"/>
            </a:solidFill>
            <a:prstDash val="solid"/>
            <a:headEnd type="none"/>
            <a:tailEnd type="triangle"/>
          </a:ln>
        </p:spPr>
      </p:sp>
      <p:sp>
        <p:nvSpPr>
          <p:cNvPr id="34" name="Shape 31"/>
          <p:cNvSpPr/>
          <p:nvPr/>
        </p:nvSpPr>
        <p:spPr>
          <a:xfrm>
            <a:off x="7818120" y="3044952"/>
            <a:ext cx="0" cy="1453896"/>
          </a:xfrm>
          <a:prstGeom prst="line">
            <a:avLst/>
          </a:prstGeom>
          <a:noFill/>
          <a:ln w="25400">
            <a:solidFill>
              <a:srgbClr val="13212B"/>
            </a:solidFill>
            <a:prstDash val="solid"/>
            <a:headEnd type="none"/>
            <a:tailEnd type="triangle"/>
          </a:ln>
        </p:spPr>
      </p:sp>
      <p:sp>
        <p:nvSpPr>
          <p:cNvPr id="35" name="Text 32"/>
          <p:cNvSpPr txBox="1"/>
          <p:nvPr/>
        </p:nvSpPr>
        <p:spPr>
          <a:xfrm>
            <a:off x="7882128" y="3429000"/>
            <a:ext cx="777240" cy="457200"/>
          </a:xfrm>
          <a:prstGeom prst="rect">
            <a:avLst/>
          </a:prstGeom>
          <a:noFill/>
          <a:ln/>
        </p:spPr>
        <p:txBody>
          <a:bodyPr wrap="square" lIns="0" tIns="0" rIns="0" bIns="0" rtlCol="0" anchor="ctr"/>
          <a:lstStyle/>
          <a:p>
            <a:pPr algn="l" indent="0" marL="0">
              <a:buNone/>
            </a:pPr>
            <a:r>
              <a:rPr lang="en-US" sz="950" dirty="0">
                <a:solidFill>
                  <a:srgbClr val="56666D"/>
                </a:solidFill>
                <a:latin typeface="Calibri" pitchFamily="34" charset="0"/>
                <a:ea typeface="Calibri" pitchFamily="34" charset="-122"/>
                <a:cs typeface="Calibri" pitchFamily="34" charset="-120"/>
              </a:rPr>
              <a:t>serves</a:t>
            </a:r>
            <a:endParaRPr lang="en-US" sz="950" dirty="0"/>
          </a:p>
          <a:p>
            <a:pPr algn="l" indent="0" marL="0">
              <a:buNone/>
            </a:pPr>
            <a:r>
              <a:rPr lang="en-US" sz="950" dirty="0">
                <a:solidFill>
                  <a:srgbClr val="56666D"/>
                </a:solidFill>
                <a:latin typeface="Calibri" pitchFamily="34" charset="0"/>
                <a:ea typeface="Calibri" pitchFamily="34" charset="-122"/>
                <a:cs typeface="Calibri" pitchFamily="34" charset="-120"/>
              </a:rPr>
              <a:t>lib/ files</a:t>
            </a:r>
            <a:endParaRPr lang="en-US" sz="950" dirty="0"/>
          </a:p>
        </p:txBody>
      </p:sp>
      <p:sp>
        <p:nvSpPr>
          <p:cNvPr id="36" name="Shape 33"/>
          <p:cNvSpPr/>
          <p:nvPr/>
        </p:nvSpPr>
        <p:spPr>
          <a:xfrm>
            <a:off x="5532120" y="4142232"/>
            <a:ext cx="0" cy="356616"/>
          </a:xfrm>
          <a:prstGeom prst="line">
            <a:avLst/>
          </a:prstGeom>
          <a:noFill/>
          <a:ln w="19050">
            <a:solidFill>
              <a:srgbClr val="5B6B70"/>
            </a:solidFill>
            <a:prstDash val="solid"/>
            <a:headEnd type="none"/>
            <a:tailEnd type="triangle"/>
          </a:ln>
        </p:spPr>
      </p:sp>
      <p:sp>
        <p:nvSpPr>
          <p:cNvPr id="37" name="Shape 34"/>
          <p:cNvSpPr/>
          <p:nvPr/>
        </p:nvSpPr>
        <p:spPr>
          <a:xfrm>
            <a:off x="6903720" y="4142232"/>
            <a:ext cx="0" cy="356616"/>
          </a:xfrm>
          <a:prstGeom prst="line">
            <a:avLst/>
          </a:prstGeom>
          <a:noFill/>
          <a:ln w="19050">
            <a:solidFill>
              <a:srgbClr val="5B6B70"/>
            </a:solidFill>
            <a:prstDash val="solid"/>
            <a:headEnd type="none"/>
            <a:tailEnd type="triangle"/>
          </a:ln>
        </p:spPr>
      </p:sp>
      <p:sp>
        <p:nvSpPr>
          <p:cNvPr id="38" name="Shape 35"/>
          <p:cNvSpPr/>
          <p:nvPr/>
        </p:nvSpPr>
        <p:spPr>
          <a:xfrm>
            <a:off x="8778240" y="4142232"/>
            <a:ext cx="0" cy="356616"/>
          </a:xfrm>
          <a:prstGeom prst="line">
            <a:avLst/>
          </a:prstGeom>
          <a:noFill/>
          <a:ln w="19050">
            <a:solidFill>
              <a:srgbClr val="5B6B70"/>
            </a:solidFill>
            <a:prstDash val="solid"/>
            <a:headEnd type="none"/>
            <a:tailEnd type="triangle"/>
          </a:ln>
        </p:spPr>
      </p:sp>
      <p:sp>
        <p:nvSpPr>
          <p:cNvPr id="39" name="Shape 36"/>
          <p:cNvSpPr/>
          <p:nvPr/>
        </p:nvSpPr>
        <p:spPr>
          <a:xfrm>
            <a:off x="10332720" y="4142232"/>
            <a:ext cx="0" cy="356616"/>
          </a:xfrm>
          <a:prstGeom prst="line">
            <a:avLst/>
          </a:prstGeom>
          <a:noFill/>
          <a:ln w="19050">
            <a:solidFill>
              <a:srgbClr val="5B6B70"/>
            </a:solidFill>
            <a:prstDash val="solid"/>
            <a:headEnd type="none"/>
            <a:tailEnd type="triangle"/>
          </a:ln>
        </p:spPr>
      </p:sp>
      <p:sp>
        <p:nvSpPr>
          <p:cNvPr id="40" name="Text 37"/>
          <p:cNvSpPr txBox="1"/>
          <p:nvPr/>
        </p:nvSpPr>
        <p:spPr>
          <a:xfrm>
            <a:off x="548640" y="6062472"/>
            <a:ext cx="11091672" cy="274320"/>
          </a:xfrm>
          <a:prstGeom prst="rect">
            <a:avLst/>
          </a:prstGeom>
          <a:noFill/>
          <a:ln/>
        </p:spPr>
        <p:txBody>
          <a:bodyPr wrap="square" lIns="0" tIns="0" rIns="0" bIns="0" rtlCol="0" anchor="ctr"/>
          <a:lstStyle/>
          <a:p>
            <a:pPr algn="l" indent="0" marL="0">
              <a:buNone/>
            </a:pPr>
            <a:r>
              <a:rPr lang="en-US" sz="1100" dirty="0">
                <a:solidFill>
                  <a:srgbClr val="56666D"/>
                </a:solidFill>
                <a:latin typeface="Calibri" pitchFamily="34" charset="0"/>
                <a:ea typeface="Calibri" pitchFamily="34" charset="-122"/>
                <a:cs typeface="Calibri" pitchFamily="34" charset="-120"/>
              </a:rPr>
              <a:t>Only nginx is reachable from the network; the upload backend listens on loopback, and the indexer is the only writer of the VCSP JSON files.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514600" cy="274320"/>
          </a:xfrm>
          <a:prstGeom prst="roundRect">
            <a:avLst>
              <a:gd name="adj" fmla="val 43333"/>
            </a:avLst>
          </a:prstGeom>
          <a:solidFill>
            <a:srgbClr val="0E6B5A"/>
          </a:solidFill>
          <a:ln w="9525">
            <a:solidFill>
              <a:srgbClr val="0E6B5A"/>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HIGH-LEVEL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Subscription protocol (VCSP)</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5 / 14</a:t>
            </a:r>
            <a:endParaRPr lang="en-US" sz="900" dirty="0"/>
          </a:p>
        </p:txBody>
      </p:sp>
      <p:sp>
        <p:nvSpPr>
          <p:cNvPr id="7" name="Text 4"/>
          <p:cNvSpPr/>
          <p:nvPr/>
        </p:nvSpPr>
        <p:spPr>
          <a:xfrm>
            <a:off x="548640" y="1874520"/>
            <a:ext cx="1600200" cy="914400"/>
          </a:xfrm>
          <a:prstGeom prst="roundRect">
            <a:avLst>
              <a:gd name="adj" fmla="val 8000"/>
            </a:avLst>
          </a:prstGeom>
          <a:solidFill>
            <a:srgbClr val="EEF1EF"/>
          </a:solidFill>
          <a:ln w="12700">
            <a:solidFill>
              <a:srgbClr val="EEF1EF"/>
            </a:solidFill>
            <a:prstDash val="solid"/>
          </a:ln>
        </p:spPr>
        <p:txBody>
          <a:bodyPr wrap="square" lIns="63500" tIns="63500" rIns="63500" bIns="63500" rtlCol="0" anchor="ctr"/>
          <a:lstStyle/>
          <a:p>
            <a:pPr algn="ctr" indent="0" marL="0">
              <a:buNone/>
            </a:pPr>
            <a:r>
              <a:rPr lang="en-US" sz="1200" dirty="0">
                <a:solidFill>
                  <a:srgbClr val="13212B"/>
                </a:solidFill>
                <a:latin typeface="Calibri" pitchFamily="34" charset="0"/>
                <a:ea typeface="Calibri" pitchFamily="34" charset="-122"/>
                <a:cs typeface="Calibri" pitchFamily="34" charset="-120"/>
              </a:rPr>
              <a:t>Subscriber sync</a:t>
            </a:r>
            <a:endParaRPr lang="en-US" sz="1200" dirty="0"/>
          </a:p>
          <a:p>
            <a:pPr algn="ctr" indent="0" marL="0">
              <a:buNone/>
            </a:pPr>
            <a:r>
              <a:rPr lang="en-US" sz="1200" dirty="0">
                <a:solidFill>
                  <a:srgbClr val="13212B"/>
                </a:solidFill>
                <a:latin typeface="Calibri" pitchFamily="34" charset="0"/>
                <a:ea typeface="Calibri" pitchFamily="34" charset="-122"/>
                <a:cs typeface="Calibri" pitchFamily="34" charset="-120"/>
              </a:rPr>
              <a:t>scheduled or manual</a:t>
            </a:r>
            <a:endParaRPr lang="en-US" sz="1200" dirty="0"/>
          </a:p>
        </p:txBody>
      </p:sp>
      <p:sp>
        <p:nvSpPr>
          <p:cNvPr id="8" name="Text 5"/>
          <p:cNvSpPr/>
          <p:nvPr/>
        </p:nvSpPr>
        <p:spPr>
          <a:xfrm>
            <a:off x="2514600" y="1874520"/>
            <a:ext cx="1508760" cy="914400"/>
          </a:xfrm>
          <a:prstGeom prst="roundRect">
            <a:avLst>
              <a:gd name="adj" fmla="val 8000"/>
            </a:avLst>
          </a:prstGeom>
          <a:solidFill>
            <a:srgbClr val="FFFFFF"/>
          </a:solidFill>
          <a:ln w="19050">
            <a:solidFill>
              <a:srgbClr val="0E6B5A"/>
            </a:solidFill>
            <a:prstDash val="solid"/>
          </a:ln>
        </p:spPr>
        <p:txBody>
          <a:bodyPr wrap="square" lIns="63500" tIns="63500" rIns="63500" bIns="63500" rtlCol="0" anchor="ctr"/>
          <a:lstStyle/>
          <a:p>
            <a:pPr algn="ctr" indent="0" marL="0">
              <a:buNone/>
            </a:pPr>
            <a:r>
              <a:rPr lang="en-US" sz="1300" b="1" dirty="0">
                <a:solidFill>
                  <a:srgbClr val="13212B"/>
                </a:solidFill>
                <a:latin typeface="Calibri" pitchFamily="34" charset="0"/>
                <a:ea typeface="Calibri" pitchFamily="34" charset="-122"/>
                <a:cs typeface="Calibri" pitchFamily="34" charset="-120"/>
              </a:rPr>
              <a:t>GET lib.json</a:t>
            </a:r>
            <a:endParaRPr lang="en-US" sz="1300" dirty="0"/>
          </a:p>
        </p:txBody>
      </p:sp>
      <p:sp>
        <p:nvSpPr>
          <p:cNvPr id="9" name="Text 6"/>
          <p:cNvSpPr/>
          <p:nvPr/>
        </p:nvSpPr>
        <p:spPr>
          <a:xfrm>
            <a:off x="4389120" y="1755648"/>
            <a:ext cx="1463040" cy="1152144"/>
          </a:xfrm>
          <a:prstGeom prst="diamond">
            <a:avLst/>
          </a:prstGeom>
          <a:solidFill>
            <a:srgbClr val="F6EBD6"/>
          </a:solidFill>
          <a:ln w="15875">
            <a:solidFill>
              <a:srgbClr val="B7791F"/>
            </a:solidFill>
          </a:ln>
        </p:spPr>
        <p:txBody>
          <a:bodyPr wrap="square" lIns="0" tIns="0" rIns="0" bIns="0" rtlCol="0" anchor="ctr"/>
          <a:lstStyle/>
          <a:p>
            <a:pPr algn="ctr" indent="0" marL="0">
              <a:buNone/>
            </a:pPr>
            <a:r>
              <a:rPr lang="en-US" sz="1200" b="1" dirty="0">
                <a:solidFill>
                  <a:srgbClr val="13212B"/>
                </a:solidFill>
                <a:latin typeface="Calibri" pitchFamily="34" charset="0"/>
                <a:ea typeface="Calibri" pitchFamily="34" charset="-122"/>
                <a:cs typeface="Calibri" pitchFamily="34" charset="-120"/>
              </a:rPr>
              <a:t>version</a:t>
            </a:r>
            <a:endParaRPr lang="en-US" sz="1200" dirty="0"/>
          </a:p>
          <a:p>
            <a:pPr algn="ctr" indent="0" marL="0">
              <a:buNone/>
            </a:pPr>
            <a:r>
              <a:rPr lang="en-US" sz="1200" b="1" dirty="0">
                <a:solidFill>
                  <a:srgbClr val="13212B"/>
                </a:solidFill>
                <a:latin typeface="Calibri" pitchFamily="34" charset="0"/>
                <a:ea typeface="Calibri" pitchFamily="34" charset="-122"/>
                <a:cs typeface="Calibri" pitchFamily="34" charset="-120"/>
              </a:rPr>
              <a:t>changed?</a:t>
            </a:r>
            <a:endParaRPr lang="en-US" sz="1200" dirty="0"/>
          </a:p>
        </p:txBody>
      </p:sp>
      <p:sp>
        <p:nvSpPr>
          <p:cNvPr id="10" name="Text 7"/>
          <p:cNvSpPr/>
          <p:nvPr/>
        </p:nvSpPr>
        <p:spPr>
          <a:xfrm>
            <a:off x="6263640" y="1874520"/>
            <a:ext cx="1508760" cy="914400"/>
          </a:xfrm>
          <a:prstGeom prst="roundRect">
            <a:avLst>
              <a:gd name="adj" fmla="val 8000"/>
            </a:avLst>
          </a:prstGeom>
          <a:solidFill>
            <a:srgbClr val="FFFFFF"/>
          </a:solidFill>
          <a:ln w="19050">
            <a:solidFill>
              <a:srgbClr val="0E6B5A"/>
            </a:solidFill>
            <a:prstDash val="solid"/>
          </a:ln>
        </p:spPr>
        <p:txBody>
          <a:bodyPr wrap="square" lIns="63500" tIns="63500" rIns="63500" bIns="63500" rtlCol="0" anchor="ctr"/>
          <a:lstStyle/>
          <a:p>
            <a:pPr algn="ctr" indent="0" marL="0">
              <a:buNone/>
            </a:pPr>
            <a:r>
              <a:rPr lang="en-US" sz="1300" b="1" dirty="0">
                <a:solidFill>
                  <a:srgbClr val="13212B"/>
                </a:solidFill>
                <a:latin typeface="Calibri" pitchFamily="34" charset="0"/>
                <a:ea typeface="Calibri" pitchFamily="34" charset="-122"/>
                <a:cs typeface="Calibri" pitchFamily="34" charset="-120"/>
              </a:rPr>
              <a:t>GET items.json</a:t>
            </a:r>
            <a:endParaRPr lang="en-US" sz="1300" dirty="0"/>
          </a:p>
        </p:txBody>
      </p:sp>
      <p:sp>
        <p:nvSpPr>
          <p:cNvPr id="11" name="Text 8"/>
          <p:cNvSpPr/>
          <p:nvPr/>
        </p:nvSpPr>
        <p:spPr>
          <a:xfrm>
            <a:off x="8138160" y="1874520"/>
            <a:ext cx="1600200" cy="914400"/>
          </a:xfrm>
          <a:prstGeom prst="roundRect">
            <a:avLst>
              <a:gd name="adj" fmla="val 8000"/>
            </a:avLst>
          </a:prstGeom>
          <a:solidFill>
            <a:srgbClr val="FFFFFF"/>
          </a:solidFill>
          <a:ln w="19050">
            <a:solidFill>
              <a:srgbClr val="0E6B5A"/>
            </a:solidFill>
            <a:prstDash val="solid"/>
          </a:ln>
        </p:spPr>
        <p:txBody>
          <a:bodyPr wrap="square" lIns="63500" tIns="63500" rIns="63500" bIns="63500" rtlCol="0" anchor="ctr"/>
          <a:lstStyle/>
          <a:p>
            <a:pPr algn="ctr" indent="0" marL="0">
              <a:buNone/>
            </a:pPr>
            <a:r>
              <a:rPr lang="en-US" sz="1200" dirty="0">
                <a:solidFill>
                  <a:srgbClr val="13212B"/>
                </a:solidFill>
                <a:latin typeface="Calibri" pitchFamily="34" charset="0"/>
                <a:ea typeface="Calibri" pitchFamily="34" charset="-122"/>
                <a:cs typeface="Calibri" pitchFamily="34" charset="-120"/>
              </a:rPr>
              <a:t>GET item.json</a:t>
            </a:r>
            <a:endParaRPr lang="en-US" sz="1200" dirty="0"/>
          </a:p>
          <a:p>
            <a:pPr algn="ctr" indent="0" marL="0">
              <a:buNone/>
            </a:pPr>
            <a:r>
              <a:rPr lang="en-US" sz="1200" dirty="0">
                <a:solidFill>
                  <a:srgbClr val="13212B"/>
                </a:solidFill>
                <a:latin typeface="Calibri" pitchFamily="34" charset="0"/>
                <a:ea typeface="Calibri" pitchFamily="34" charset="-122"/>
                <a:cs typeface="Calibri" pitchFamily="34" charset="-120"/>
              </a:rPr>
              <a:t>for changed items</a:t>
            </a:r>
            <a:endParaRPr lang="en-US" sz="1200" dirty="0"/>
          </a:p>
        </p:txBody>
      </p:sp>
      <p:sp>
        <p:nvSpPr>
          <p:cNvPr id="12" name="Text 9"/>
          <p:cNvSpPr/>
          <p:nvPr/>
        </p:nvSpPr>
        <p:spPr>
          <a:xfrm>
            <a:off x="10104120" y="1874520"/>
            <a:ext cx="1536192" cy="914400"/>
          </a:xfrm>
          <a:prstGeom prst="roundRect">
            <a:avLst>
              <a:gd name="adj" fmla="val 8000"/>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GET files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byte-range resume</a:t>
            </a:r>
            <a:endParaRPr lang="en-US" sz="1200" dirty="0"/>
          </a:p>
        </p:txBody>
      </p:sp>
      <p:sp>
        <p:nvSpPr>
          <p:cNvPr id="13" name="Shape 10"/>
          <p:cNvSpPr/>
          <p:nvPr/>
        </p:nvSpPr>
        <p:spPr>
          <a:xfrm>
            <a:off x="2148840" y="2331720"/>
            <a:ext cx="365760" cy="0"/>
          </a:xfrm>
          <a:prstGeom prst="line">
            <a:avLst/>
          </a:prstGeom>
          <a:noFill/>
          <a:ln w="19050">
            <a:solidFill>
              <a:srgbClr val="5B6B70"/>
            </a:solidFill>
            <a:prstDash val="solid"/>
            <a:headEnd type="none"/>
            <a:tailEnd type="triangle"/>
          </a:ln>
        </p:spPr>
      </p:sp>
      <p:sp>
        <p:nvSpPr>
          <p:cNvPr id="14" name="Shape 11"/>
          <p:cNvSpPr/>
          <p:nvPr/>
        </p:nvSpPr>
        <p:spPr>
          <a:xfrm>
            <a:off x="4023360" y="2331720"/>
            <a:ext cx="365760" cy="0"/>
          </a:xfrm>
          <a:prstGeom prst="line">
            <a:avLst/>
          </a:prstGeom>
          <a:noFill/>
          <a:ln w="19050">
            <a:solidFill>
              <a:srgbClr val="5B6B70"/>
            </a:solidFill>
            <a:prstDash val="solid"/>
            <a:headEnd type="none"/>
            <a:tailEnd type="triangle"/>
          </a:ln>
        </p:spPr>
      </p:sp>
      <p:sp>
        <p:nvSpPr>
          <p:cNvPr id="15" name="Shape 12"/>
          <p:cNvSpPr/>
          <p:nvPr/>
        </p:nvSpPr>
        <p:spPr>
          <a:xfrm>
            <a:off x="5852160" y="2331720"/>
            <a:ext cx="411480" cy="0"/>
          </a:xfrm>
          <a:prstGeom prst="line">
            <a:avLst/>
          </a:prstGeom>
          <a:noFill/>
          <a:ln w="19050">
            <a:solidFill>
              <a:srgbClr val="5B6B70"/>
            </a:solidFill>
            <a:prstDash val="solid"/>
            <a:headEnd type="none"/>
            <a:tailEnd type="triangle"/>
          </a:ln>
        </p:spPr>
      </p:sp>
      <p:sp>
        <p:nvSpPr>
          <p:cNvPr id="16" name="Text 13"/>
          <p:cNvSpPr txBox="1"/>
          <p:nvPr/>
        </p:nvSpPr>
        <p:spPr>
          <a:xfrm>
            <a:off x="5852160" y="2029968"/>
            <a:ext cx="411480" cy="237744"/>
          </a:xfrm>
          <a:prstGeom prst="rect">
            <a:avLst/>
          </a:prstGeom>
          <a:noFill/>
          <a:ln/>
        </p:spPr>
        <p:txBody>
          <a:bodyPr wrap="square" lIns="0" tIns="0" rIns="0" bIns="0" rtlCol="0" anchor="ctr"/>
          <a:lstStyle/>
          <a:p>
            <a:pPr algn="ctr" indent="0" marL="0">
              <a:buNone/>
            </a:pPr>
            <a:r>
              <a:rPr lang="en-US" sz="1000" b="1" dirty="0">
                <a:solidFill>
                  <a:srgbClr val="0E6B5A"/>
                </a:solidFill>
                <a:latin typeface="Calibri" pitchFamily="34" charset="0"/>
                <a:ea typeface="Calibri" pitchFamily="34" charset="-122"/>
                <a:cs typeface="Calibri" pitchFamily="34" charset="-120"/>
              </a:rPr>
              <a:t>yes</a:t>
            </a:r>
            <a:endParaRPr lang="en-US" sz="1000" dirty="0"/>
          </a:p>
        </p:txBody>
      </p:sp>
      <p:sp>
        <p:nvSpPr>
          <p:cNvPr id="17" name="Shape 14"/>
          <p:cNvSpPr/>
          <p:nvPr/>
        </p:nvSpPr>
        <p:spPr>
          <a:xfrm>
            <a:off x="7772400" y="2331720"/>
            <a:ext cx="365760" cy="0"/>
          </a:xfrm>
          <a:prstGeom prst="line">
            <a:avLst/>
          </a:prstGeom>
          <a:noFill/>
          <a:ln w="19050">
            <a:solidFill>
              <a:srgbClr val="5B6B70"/>
            </a:solidFill>
            <a:prstDash val="solid"/>
            <a:headEnd type="none"/>
            <a:tailEnd type="triangle"/>
          </a:ln>
        </p:spPr>
      </p:sp>
      <p:sp>
        <p:nvSpPr>
          <p:cNvPr id="18" name="Shape 15"/>
          <p:cNvSpPr/>
          <p:nvPr/>
        </p:nvSpPr>
        <p:spPr>
          <a:xfrm>
            <a:off x="9738360" y="2331720"/>
            <a:ext cx="365760" cy="0"/>
          </a:xfrm>
          <a:prstGeom prst="line">
            <a:avLst/>
          </a:prstGeom>
          <a:noFill/>
          <a:ln w="19050">
            <a:solidFill>
              <a:srgbClr val="5B6B70"/>
            </a:solidFill>
            <a:prstDash val="solid"/>
            <a:headEnd type="none"/>
            <a:tailEnd type="triangle"/>
          </a:ln>
        </p:spPr>
      </p:sp>
      <p:sp>
        <p:nvSpPr>
          <p:cNvPr id="19" name="Shape 16"/>
          <p:cNvSpPr/>
          <p:nvPr/>
        </p:nvSpPr>
        <p:spPr>
          <a:xfrm>
            <a:off x="5120640" y="2907792"/>
            <a:ext cx="0" cy="338328"/>
          </a:xfrm>
          <a:prstGeom prst="line">
            <a:avLst/>
          </a:prstGeom>
          <a:noFill/>
          <a:ln w="19050">
            <a:solidFill>
              <a:srgbClr val="B7791F"/>
            </a:solidFill>
            <a:prstDash val="solid"/>
            <a:headEnd type="none"/>
            <a:tailEnd type="triangle"/>
          </a:ln>
        </p:spPr>
      </p:sp>
      <p:sp>
        <p:nvSpPr>
          <p:cNvPr id="20" name="Text 17"/>
          <p:cNvSpPr txBox="1"/>
          <p:nvPr/>
        </p:nvSpPr>
        <p:spPr>
          <a:xfrm>
            <a:off x="5193792" y="2962656"/>
            <a:ext cx="365760" cy="237744"/>
          </a:xfrm>
          <a:prstGeom prst="rect">
            <a:avLst/>
          </a:prstGeom>
          <a:noFill/>
          <a:ln/>
        </p:spPr>
        <p:txBody>
          <a:bodyPr wrap="square" lIns="0" tIns="0" rIns="0" bIns="0" rtlCol="0" anchor="ctr"/>
          <a:lstStyle/>
          <a:p>
            <a:pPr algn="l" indent="0" marL="0">
              <a:buNone/>
            </a:pPr>
            <a:r>
              <a:rPr lang="en-US" sz="1000" b="1" dirty="0">
                <a:solidFill>
                  <a:srgbClr val="B7791F"/>
                </a:solidFill>
                <a:latin typeface="Calibri" pitchFamily="34" charset="0"/>
                <a:ea typeface="Calibri" pitchFamily="34" charset="-122"/>
                <a:cs typeface="Calibri" pitchFamily="34" charset="-120"/>
              </a:rPr>
              <a:t>no</a:t>
            </a:r>
            <a:endParaRPr lang="en-US" sz="1000" dirty="0"/>
          </a:p>
        </p:txBody>
      </p:sp>
      <p:sp>
        <p:nvSpPr>
          <p:cNvPr id="21" name="Text 18"/>
          <p:cNvSpPr/>
          <p:nvPr/>
        </p:nvSpPr>
        <p:spPr>
          <a:xfrm>
            <a:off x="4206240" y="3246120"/>
            <a:ext cx="1828800" cy="457200"/>
          </a:xfrm>
          <a:prstGeom prst="roundRect">
            <a:avLst>
              <a:gd name="adj" fmla="val 16000"/>
            </a:avLst>
          </a:prstGeom>
          <a:solidFill>
            <a:srgbClr val="F6EBD6"/>
          </a:solidFill>
          <a:ln w="12700">
            <a:solidFill>
              <a:srgbClr val="B7791F"/>
            </a:solidFill>
            <a:prstDash val="solid"/>
          </a:ln>
        </p:spPr>
        <p:txBody>
          <a:bodyPr wrap="square" lIns="63500" tIns="63500" rIns="63500" bIns="63500" rtlCol="0" anchor="ctr"/>
          <a:lstStyle/>
          <a:p>
            <a:pPr algn="ctr" indent="0" marL="0">
              <a:buNone/>
            </a:pPr>
            <a:r>
              <a:rPr lang="en-US" sz="1100" dirty="0">
                <a:solidFill>
                  <a:srgbClr val="13212B"/>
                </a:solidFill>
                <a:latin typeface="Calibri" pitchFamily="34" charset="0"/>
                <a:ea typeface="Calibri" pitchFamily="34" charset="-122"/>
                <a:cs typeface="Calibri" pitchFamily="34" charset="-120"/>
              </a:rPr>
              <a:t>Stop: nothing to fetch</a:t>
            </a:r>
            <a:endParaRPr lang="en-US" sz="1100" dirty="0"/>
          </a:p>
        </p:txBody>
      </p:sp>
      <p:sp>
        <p:nvSpPr>
          <p:cNvPr id="22" name="Text 19"/>
          <p:cNvSpPr txBox="1"/>
          <p:nvPr/>
        </p:nvSpPr>
        <p:spPr>
          <a:xfrm>
            <a:off x="548640" y="4069080"/>
            <a:ext cx="7315200" cy="365760"/>
          </a:xfrm>
          <a:prstGeom prst="rect">
            <a:avLst/>
          </a:prstGeom>
          <a:noFill/>
          <a:ln/>
        </p:spPr>
        <p:txBody>
          <a:bodyPr wrap="square" lIns="0" tIns="0" rIns="0" bIns="0" rtlCol="0" anchor="ctr"/>
          <a:lstStyle/>
          <a:p>
            <a:pPr indent="0" marL="0">
              <a:buNone/>
            </a:pPr>
            <a:r>
              <a:rPr lang="en-US" sz="1800" b="1" dirty="0">
                <a:solidFill>
                  <a:srgbClr val="13212B"/>
                </a:solidFill>
                <a:latin typeface="Cambria" pitchFamily="34" charset="0"/>
                <a:ea typeface="Cambria" pitchFamily="34" charset="-122"/>
                <a:cs typeface="Cambria" pitchFamily="34" charset="-120"/>
              </a:rPr>
              <a:t>What the endpoint guarantees</a:t>
            </a:r>
            <a:endParaRPr lang="en-US" sz="1800" dirty="0"/>
          </a:p>
        </p:txBody>
      </p:sp>
      <p:sp>
        <p:nvSpPr>
          <p:cNvPr id="23" name="Text 20"/>
          <p:cNvSpPr/>
          <p:nvPr/>
        </p:nvSpPr>
        <p:spPr>
          <a:xfrm>
            <a:off x="548640" y="4572000"/>
            <a:ext cx="3520440" cy="1417320"/>
          </a:xfrm>
          <a:prstGeom prst="roundRect">
            <a:avLst>
              <a:gd name="adj" fmla="val 5161"/>
            </a:avLst>
          </a:prstGeom>
          <a:solidFill>
            <a:srgbClr val="DCEBE6"/>
          </a:solidFill>
          <a:ln w="12700">
            <a:solidFill>
              <a:srgbClr val="DCEBE6"/>
            </a:solidFill>
            <a:prstDash val="solid"/>
          </a:ln>
        </p:spPr>
        <p:txBody>
          <a:bodyPr wrap="square" lIns="152400" tIns="152400" rIns="152400" bIns="152400" rtlCol="0" anchor="t"/>
          <a:lstStyle/>
          <a:p>
            <a:pPr algn="l" indent="0" marL="0">
              <a:spcAft>
                <a:spcPts val="200"/>
              </a:spcAft>
              <a:buNone/>
            </a:pPr>
            <a:r>
              <a:rPr lang="en-US" sz="1500" b="1" dirty="0">
                <a:solidFill>
                  <a:srgbClr val="13212B"/>
                </a:solidFill>
                <a:latin typeface="Calibri" pitchFamily="34" charset="0"/>
                <a:ea typeface="Calibri" pitchFamily="34" charset="-122"/>
                <a:cs typeface="Calibri" pitchFamily="34" charset="-120"/>
              </a:rPr>
              <a:t>Stable identities</a:t>
            </a:r>
            <a:endParaRPr lang="en-US" sz="1500" dirty="0"/>
          </a:p>
          <a:p>
            <a:pPr algn="l" indent="0" marL="0">
              <a:spcAft>
                <a:spcPts val="200"/>
              </a:spcAft>
              <a:buNone/>
            </a:pPr>
            <a:r>
              <a:rPr lang="en-US" sz="1300" dirty="0">
                <a:solidFill>
                  <a:srgbClr val="56666D"/>
                </a:solidFill>
                <a:latin typeface="Calibri" pitchFamily="34" charset="0"/>
                <a:ea typeface="Calibri" pitchFamily="34" charset="-122"/>
                <a:cs typeface="Calibri" pitchFamily="34" charset="-120"/>
              </a:rPr>
              <a:t>Library and item IDs (urn:uuid) never change. An index built by make_vcsp_2018.py is adopted, so existing subscribers do not resync.</a:t>
            </a:r>
            <a:endParaRPr lang="en-US" sz="1500" dirty="0"/>
          </a:p>
        </p:txBody>
      </p:sp>
      <p:sp>
        <p:nvSpPr>
          <p:cNvPr id="24" name="Text 21"/>
          <p:cNvSpPr/>
          <p:nvPr/>
        </p:nvSpPr>
        <p:spPr>
          <a:xfrm>
            <a:off x="4334256" y="4572000"/>
            <a:ext cx="3520440" cy="1417320"/>
          </a:xfrm>
          <a:prstGeom prst="roundRect">
            <a:avLst>
              <a:gd name="adj" fmla="val 5161"/>
            </a:avLst>
          </a:prstGeom>
          <a:solidFill>
            <a:srgbClr val="DCEBE6"/>
          </a:solidFill>
          <a:ln w="12700">
            <a:solidFill>
              <a:srgbClr val="DCEBE6"/>
            </a:solidFill>
            <a:prstDash val="solid"/>
          </a:ln>
        </p:spPr>
        <p:txBody>
          <a:bodyPr wrap="square" lIns="152400" tIns="152400" rIns="152400" bIns="152400" rtlCol="0" anchor="t"/>
          <a:lstStyle/>
          <a:p>
            <a:pPr algn="l" indent="0" marL="0">
              <a:spcAft>
                <a:spcPts val="200"/>
              </a:spcAft>
              <a:buNone/>
            </a:pPr>
            <a:r>
              <a:rPr lang="en-US" sz="1500" b="1" dirty="0">
                <a:solidFill>
                  <a:srgbClr val="13212B"/>
                </a:solidFill>
                <a:latin typeface="Calibri" pitchFamily="34" charset="0"/>
                <a:ea typeface="Calibri" pitchFamily="34" charset="-122"/>
                <a:cs typeface="Calibri" pitchFamily="34" charset="-120"/>
              </a:rPr>
              <a:t>Monotonic versions</a:t>
            </a:r>
            <a:endParaRPr lang="en-US" sz="1500" dirty="0"/>
          </a:p>
          <a:p>
            <a:pPr algn="l" indent="0" marL="0">
              <a:spcAft>
                <a:spcPts val="200"/>
              </a:spcAft>
              <a:buNone/>
            </a:pPr>
            <a:r>
              <a:rPr lang="en-US" sz="1300" dirty="0">
                <a:solidFill>
                  <a:srgbClr val="56666D"/>
                </a:solidFill>
                <a:latin typeface="Calibri" pitchFamily="34" charset="0"/>
                <a:ea typeface="Calibri" pitchFamily="34" charset="-122"/>
                <a:cs typeface="Calibri" pitchFamily="34" charset="-120"/>
              </a:rPr>
              <a:t>A file change raises the item version and contentVersion; any item added, removed or changed raises the library version.</a:t>
            </a:r>
            <a:endParaRPr lang="en-US" sz="1500" dirty="0"/>
          </a:p>
        </p:txBody>
      </p:sp>
      <p:sp>
        <p:nvSpPr>
          <p:cNvPr id="25" name="Text 22"/>
          <p:cNvSpPr/>
          <p:nvPr/>
        </p:nvSpPr>
        <p:spPr>
          <a:xfrm>
            <a:off x="8119872" y="4572000"/>
            <a:ext cx="3520440" cy="1417320"/>
          </a:xfrm>
          <a:prstGeom prst="roundRect">
            <a:avLst>
              <a:gd name="adj" fmla="val 5161"/>
            </a:avLst>
          </a:prstGeom>
          <a:solidFill>
            <a:srgbClr val="DCEBE6"/>
          </a:solidFill>
          <a:ln w="12700">
            <a:solidFill>
              <a:srgbClr val="DCEBE6"/>
            </a:solidFill>
            <a:prstDash val="solid"/>
          </a:ln>
        </p:spPr>
        <p:txBody>
          <a:bodyPr wrap="square" lIns="152400" tIns="152400" rIns="152400" bIns="152400" rtlCol="0" anchor="t"/>
          <a:lstStyle/>
          <a:p>
            <a:pPr algn="l" indent="0" marL="0">
              <a:spcAft>
                <a:spcPts val="200"/>
              </a:spcAft>
              <a:buNone/>
            </a:pPr>
            <a:r>
              <a:rPr lang="en-US" sz="1500" b="1" dirty="0">
                <a:solidFill>
                  <a:srgbClr val="13212B"/>
                </a:solidFill>
                <a:latin typeface="Calibri" pitchFamily="34" charset="0"/>
                <a:ea typeface="Calibri" pitchFamily="34" charset="-122"/>
                <a:cs typeface="Calibri" pitchFamily="34" charset="-120"/>
              </a:rPr>
              <a:t>Consistent commits</a:t>
            </a:r>
            <a:endParaRPr lang="en-US" sz="1500" dirty="0"/>
          </a:p>
          <a:p>
            <a:pPr algn="l" indent="0" marL="0">
              <a:spcAft>
                <a:spcPts val="200"/>
              </a:spcAft>
              <a:buNone/>
            </a:pPr>
            <a:r>
              <a:rPr lang="en-US" sz="1300" dirty="0">
                <a:solidFill>
                  <a:srgbClr val="56666D"/>
                </a:solidFill>
                <a:latin typeface="Calibri" pitchFamily="34" charset="0"/>
                <a:ea typeface="Calibri" pitchFamily="34" charset="-122"/>
                <a:cs typeface="Calibri" pitchFamily="34" charset="-120"/>
              </a:rPr>
              <a:t>Writes are atomic and ordered item.json, items.json, lib.json, so lib.json is the commit point a subscriber reads first.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514600" cy="274320"/>
          </a:xfrm>
          <a:prstGeom prst="roundRect">
            <a:avLst>
              <a:gd name="adj" fmla="val 43333"/>
            </a:avLst>
          </a:prstGeom>
          <a:solidFill>
            <a:srgbClr val="0E6B5A"/>
          </a:solidFill>
          <a:ln w="9525">
            <a:solidFill>
              <a:srgbClr val="0E6B5A"/>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HIGH-LEVEL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Design principles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6 / 14</a:t>
            </a:r>
            <a:endParaRPr lang="en-US" sz="900" dirty="0"/>
          </a:p>
        </p:txBody>
      </p:sp>
      <p:sp>
        <p:nvSpPr>
          <p:cNvPr id="7" name="Shape 4"/>
          <p:cNvSpPr/>
          <p:nvPr/>
        </p:nvSpPr>
        <p:spPr>
          <a:xfrm>
            <a:off x="548640" y="1645920"/>
            <a:ext cx="3520440" cy="2103120"/>
          </a:xfrm>
          <a:prstGeom prst="roundRect">
            <a:avLst>
              <a:gd name="adj" fmla="val 4348"/>
            </a:avLst>
          </a:prstGeom>
          <a:solidFill>
            <a:srgbClr val="EEF1EF"/>
          </a:solidFill>
          <a:ln w="12700">
            <a:solidFill>
              <a:srgbClr val="EEF1EF"/>
            </a:solidFill>
            <a:prstDash val="solid"/>
          </a:ln>
        </p:spPr>
      </p:sp>
      <p:sp>
        <p:nvSpPr>
          <p:cNvPr id="8" name="Shape 5"/>
          <p:cNvSpPr/>
          <p:nvPr/>
        </p:nvSpPr>
        <p:spPr>
          <a:xfrm>
            <a:off x="822960" y="1920240"/>
            <a:ext cx="566928" cy="566928"/>
          </a:xfrm>
          <a:prstGeom prst="ellipse">
            <a:avLst/>
          </a:prstGeom>
          <a:solidFill>
            <a:srgbClr val="0E6B5A"/>
          </a:solidFill>
          <a:ln w="12700">
            <a:solidFill>
              <a:srgbClr val="0E6B5A"/>
            </a:solidFill>
            <a:prstDash val="solid"/>
          </a:ln>
        </p:spPr>
      </p:sp>
      <p:pic>
        <p:nvPicPr>
          <p:cNvPr id="9" name="Image 0" descr="preencoded.png">    </p:cNvPr>
          <p:cNvPicPr>
            <a:picLocks noChangeAspect="1"/>
          </p:cNvPicPr>
          <p:nvPr/>
        </p:nvPicPr>
        <p:blipFill>
          <a:blip r:embed="rId1"/>
          <a:stretch>
            <a:fillRect/>
          </a:stretch>
        </p:blipFill>
        <p:spPr>
          <a:xfrm>
            <a:off x="950976" y="2048256"/>
            <a:ext cx="310896" cy="310896"/>
          </a:xfrm>
          <a:prstGeom prst="rect">
            <a:avLst/>
          </a:prstGeom>
        </p:spPr>
      </p:pic>
      <p:sp>
        <p:nvSpPr>
          <p:cNvPr id="10" name="Text 6"/>
          <p:cNvSpPr txBox="1"/>
          <p:nvPr/>
        </p:nvSpPr>
        <p:spPr>
          <a:xfrm>
            <a:off x="1554480" y="1920240"/>
            <a:ext cx="2331720" cy="566928"/>
          </a:xfrm>
          <a:prstGeom prst="rect">
            <a:avLst/>
          </a:prstGeom>
          <a:noFill/>
          <a:ln/>
        </p:spPr>
        <p:txBody>
          <a:bodyPr wrap="square" lIns="0" tIns="0" rIns="0" bIns="0" rtlCol="0" anchor="ctr"/>
          <a:lstStyle/>
          <a:p>
            <a:pPr indent="0" marL="0">
              <a:buNone/>
            </a:pPr>
            <a:r>
              <a:rPr lang="en-US" sz="1500" b="1" dirty="0">
                <a:solidFill>
                  <a:srgbClr val="13212B"/>
                </a:solidFill>
                <a:latin typeface="Calibri" pitchFamily="34" charset="0"/>
                <a:ea typeface="Calibri" pitchFamily="34" charset="-122"/>
                <a:cs typeface="Calibri" pitchFamily="34" charset="-120"/>
              </a:rPr>
              <a:t>Standard library only</a:t>
            </a:r>
            <a:endParaRPr lang="en-US" sz="1500" dirty="0"/>
          </a:p>
        </p:txBody>
      </p:sp>
      <p:sp>
        <p:nvSpPr>
          <p:cNvPr id="11" name="Text 7"/>
          <p:cNvSpPr txBox="1"/>
          <p:nvPr/>
        </p:nvSpPr>
        <p:spPr>
          <a:xfrm>
            <a:off x="822960" y="2633472"/>
            <a:ext cx="3017520" cy="1005840"/>
          </a:xfrm>
          <a:prstGeom prst="rect">
            <a:avLst/>
          </a:prstGeom>
          <a:noFill/>
          <a:ln/>
        </p:spPr>
        <p:txBody>
          <a:bodyPr wrap="square" lIns="0" tIns="0" rIns="0" bIns="0" rtlCol="0" anchor="t"/>
          <a:lstStyle/>
          <a:p>
            <a:pPr indent="0" marL="0">
              <a:buNone/>
            </a:pPr>
            <a:r>
              <a:rPr lang="en-US" sz="1300" dirty="0">
                <a:solidFill>
                  <a:srgbClr val="56666D"/>
                </a:solidFill>
                <a:latin typeface="Calibri" pitchFamily="34" charset="0"/>
                <a:ea typeface="Calibri" pitchFamily="34" charset="-122"/>
                <a:cs typeface="Calibri" pitchFamily="34" charset="-120"/>
              </a:rPr>
              <a:t>Python 3 standard library and Photon OS RPMs. No pip, virtualenv or CDN, so the dependency surface stays small and reviewable.</a:t>
            </a:r>
            <a:endParaRPr lang="en-US" sz="1300" dirty="0"/>
          </a:p>
        </p:txBody>
      </p:sp>
      <p:sp>
        <p:nvSpPr>
          <p:cNvPr id="12" name="Shape 8"/>
          <p:cNvSpPr/>
          <p:nvPr/>
        </p:nvSpPr>
        <p:spPr>
          <a:xfrm>
            <a:off x="4334256" y="1645920"/>
            <a:ext cx="3520440" cy="2103120"/>
          </a:xfrm>
          <a:prstGeom prst="roundRect">
            <a:avLst>
              <a:gd name="adj" fmla="val 4348"/>
            </a:avLst>
          </a:prstGeom>
          <a:solidFill>
            <a:srgbClr val="EEF1EF"/>
          </a:solidFill>
          <a:ln w="12700">
            <a:solidFill>
              <a:srgbClr val="EEF1EF"/>
            </a:solidFill>
            <a:prstDash val="solid"/>
          </a:ln>
        </p:spPr>
      </p:sp>
      <p:sp>
        <p:nvSpPr>
          <p:cNvPr id="13" name="Shape 9"/>
          <p:cNvSpPr/>
          <p:nvPr/>
        </p:nvSpPr>
        <p:spPr>
          <a:xfrm>
            <a:off x="4608576" y="1920240"/>
            <a:ext cx="566928" cy="566928"/>
          </a:xfrm>
          <a:prstGeom prst="ellipse">
            <a:avLst/>
          </a:prstGeom>
          <a:solidFill>
            <a:srgbClr val="0E6B5A"/>
          </a:solidFill>
          <a:ln w="12700">
            <a:solidFill>
              <a:srgbClr val="0E6B5A"/>
            </a:solidFill>
            <a:prstDash val="solid"/>
          </a:ln>
        </p:spPr>
      </p:sp>
      <p:pic>
        <p:nvPicPr>
          <p:cNvPr id="14" name="Image 1" descr="preencoded.png">    </p:cNvPr>
          <p:cNvPicPr>
            <a:picLocks noChangeAspect="1"/>
          </p:cNvPicPr>
          <p:nvPr/>
        </p:nvPicPr>
        <p:blipFill>
          <a:blip r:embed="rId2"/>
          <a:stretch>
            <a:fillRect/>
          </a:stretch>
        </p:blipFill>
        <p:spPr>
          <a:xfrm>
            <a:off x="4736592" y="2048256"/>
            <a:ext cx="310896" cy="310896"/>
          </a:xfrm>
          <a:prstGeom prst="rect">
            <a:avLst/>
          </a:prstGeom>
        </p:spPr>
      </p:pic>
      <p:sp>
        <p:nvSpPr>
          <p:cNvPr id="15" name="Text 10"/>
          <p:cNvSpPr txBox="1"/>
          <p:nvPr/>
        </p:nvSpPr>
        <p:spPr>
          <a:xfrm>
            <a:off x="5340096" y="1920240"/>
            <a:ext cx="2331720" cy="566928"/>
          </a:xfrm>
          <a:prstGeom prst="rect">
            <a:avLst/>
          </a:prstGeom>
          <a:noFill/>
          <a:ln/>
        </p:spPr>
        <p:txBody>
          <a:bodyPr wrap="square" lIns="0" tIns="0" rIns="0" bIns="0" rtlCol="0" anchor="ctr"/>
          <a:lstStyle/>
          <a:p>
            <a:pPr indent="0" marL="0">
              <a:buNone/>
            </a:pPr>
            <a:r>
              <a:rPr lang="en-US" sz="1500" b="1" dirty="0">
                <a:solidFill>
                  <a:srgbClr val="13212B"/>
                </a:solidFill>
                <a:latin typeface="Calibri" pitchFamily="34" charset="0"/>
                <a:ea typeface="Calibri" pitchFamily="34" charset="-122"/>
                <a:cs typeface="Calibri" pitchFamily="34" charset="-120"/>
              </a:rPr>
              <a:t>Air-gap ready</a:t>
            </a:r>
            <a:endParaRPr lang="en-US" sz="1500" dirty="0"/>
          </a:p>
        </p:txBody>
      </p:sp>
      <p:sp>
        <p:nvSpPr>
          <p:cNvPr id="16" name="Text 11"/>
          <p:cNvSpPr txBox="1"/>
          <p:nvPr/>
        </p:nvSpPr>
        <p:spPr>
          <a:xfrm>
            <a:off x="4608576" y="2633472"/>
            <a:ext cx="3017520" cy="1005840"/>
          </a:xfrm>
          <a:prstGeom prst="rect">
            <a:avLst/>
          </a:prstGeom>
          <a:noFill/>
          <a:ln/>
        </p:spPr>
        <p:txBody>
          <a:bodyPr wrap="square" lIns="0" tIns="0" rIns="0" bIns="0" rtlCol="0" anchor="t"/>
          <a:lstStyle/>
          <a:p>
            <a:pPr indent="0" marL="0">
              <a:buNone/>
            </a:pPr>
            <a:r>
              <a:rPr lang="en-US" sz="1300" dirty="0">
                <a:solidFill>
                  <a:srgbClr val="56666D"/>
                </a:solidFill>
                <a:latin typeface="Calibri" pitchFamily="34" charset="0"/>
                <a:ea typeface="Calibri" pitchFamily="34" charset="-122"/>
                <a:cs typeface="Calibri" pitchFamily="34" charset="-120"/>
              </a:rPr>
              <a:t>One bundle of signed RPMs with the full dependency closure. Reused while complete; verified by SHA-256 and rpm -K before install.</a:t>
            </a:r>
            <a:endParaRPr lang="en-US" sz="1300" dirty="0"/>
          </a:p>
        </p:txBody>
      </p:sp>
      <p:sp>
        <p:nvSpPr>
          <p:cNvPr id="17" name="Shape 12"/>
          <p:cNvSpPr/>
          <p:nvPr/>
        </p:nvSpPr>
        <p:spPr>
          <a:xfrm>
            <a:off x="8119872" y="1645920"/>
            <a:ext cx="3520440" cy="2103120"/>
          </a:xfrm>
          <a:prstGeom prst="roundRect">
            <a:avLst>
              <a:gd name="adj" fmla="val 4348"/>
            </a:avLst>
          </a:prstGeom>
          <a:solidFill>
            <a:srgbClr val="EEF1EF"/>
          </a:solidFill>
          <a:ln w="12700">
            <a:solidFill>
              <a:srgbClr val="EEF1EF"/>
            </a:solidFill>
            <a:prstDash val="solid"/>
          </a:ln>
        </p:spPr>
      </p:sp>
      <p:sp>
        <p:nvSpPr>
          <p:cNvPr id="18" name="Shape 13"/>
          <p:cNvSpPr/>
          <p:nvPr/>
        </p:nvSpPr>
        <p:spPr>
          <a:xfrm>
            <a:off x="8394192" y="1920240"/>
            <a:ext cx="566928" cy="566928"/>
          </a:xfrm>
          <a:prstGeom prst="ellipse">
            <a:avLst/>
          </a:prstGeom>
          <a:solidFill>
            <a:srgbClr val="0E6B5A"/>
          </a:solidFill>
          <a:ln w="12700">
            <a:solidFill>
              <a:srgbClr val="0E6B5A"/>
            </a:solidFill>
            <a:prstDash val="solid"/>
          </a:ln>
        </p:spPr>
      </p:sp>
      <p:pic>
        <p:nvPicPr>
          <p:cNvPr id="19" name="Image 2" descr="preencoded.png">    </p:cNvPr>
          <p:cNvPicPr>
            <a:picLocks noChangeAspect="1"/>
          </p:cNvPicPr>
          <p:nvPr/>
        </p:nvPicPr>
        <p:blipFill>
          <a:blip r:embed="rId3"/>
          <a:stretch>
            <a:fillRect/>
          </a:stretch>
        </p:blipFill>
        <p:spPr>
          <a:xfrm>
            <a:off x="8522208" y="2048256"/>
            <a:ext cx="310896" cy="310896"/>
          </a:xfrm>
          <a:prstGeom prst="rect">
            <a:avLst/>
          </a:prstGeom>
        </p:spPr>
      </p:pic>
      <p:sp>
        <p:nvSpPr>
          <p:cNvPr id="20" name="Text 14"/>
          <p:cNvSpPr txBox="1"/>
          <p:nvPr/>
        </p:nvSpPr>
        <p:spPr>
          <a:xfrm>
            <a:off x="9125712" y="1920240"/>
            <a:ext cx="2331720" cy="566928"/>
          </a:xfrm>
          <a:prstGeom prst="rect">
            <a:avLst/>
          </a:prstGeom>
          <a:noFill/>
          <a:ln/>
        </p:spPr>
        <p:txBody>
          <a:bodyPr wrap="square" lIns="0" tIns="0" rIns="0" bIns="0" rtlCol="0" anchor="ctr"/>
          <a:lstStyle/>
          <a:p>
            <a:pPr indent="0" marL="0">
              <a:buNone/>
            </a:pPr>
            <a:r>
              <a:rPr lang="en-US" sz="1500" b="1" dirty="0">
                <a:solidFill>
                  <a:srgbClr val="13212B"/>
                </a:solidFill>
                <a:latin typeface="Calibri" pitchFamily="34" charset="0"/>
                <a:ea typeface="Calibri" pitchFamily="34" charset="-122"/>
                <a:cs typeface="Calibri" pitchFamily="34" charset="-120"/>
              </a:rPr>
              <a:t>Atomic publishing</a:t>
            </a:r>
            <a:endParaRPr lang="en-US" sz="1500" dirty="0"/>
          </a:p>
        </p:txBody>
      </p:sp>
      <p:sp>
        <p:nvSpPr>
          <p:cNvPr id="21" name="Text 15"/>
          <p:cNvSpPr txBox="1"/>
          <p:nvPr/>
        </p:nvSpPr>
        <p:spPr>
          <a:xfrm>
            <a:off x="8394192" y="2633472"/>
            <a:ext cx="3017520" cy="1005840"/>
          </a:xfrm>
          <a:prstGeom prst="rect">
            <a:avLst/>
          </a:prstGeom>
          <a:noFill/>
          <a:ln/>
        </p:spPr>
        <p:txBody>
          <a:bodyPr wrap="square" lIns="0" tIns="0" rIns="0" bIns="0" rtlCol="0" anchor="t"/>
          <a:lstStyle/>
          <a:p>
            <a:pPr indent="0" marL="0">
              <a:buNone/>
            </a:pPr>
            <a:r>
              <a:rPr lang="en-US" sz="1300" dirty="0">
                <a:solidFill>
                  <a:srgbClr val="56666D"/>
                </a:solidFill>
                <a:latin typeface="Calibri" pitchFamily="34" charset="0"/>
                <a:ea typeface="Calibri" pitchFamily="34" charset="-122"/>
                <a:cs typeface="Calibri" pitchFamily="34" charset="-120"/>
              </a:rPr>
              <a:t>Uploads are staged and validated, then renamed into the library under the index lock. Subscribers never see half an item.</a:t>
            </a:r>
            <a:endParaRPr lang="en-US" sz="1300" dirty="0"/>
          </a:p>
        </p:txBody>
      </p:sp>
      <p:sp>
        <p:nvSpPr>
          <p:cNvPr id="22" name="Shape 16"/>
          <p:cNvSpPr/>
          <p:nvPr/>
        </p:nvSpPr>
        <p:spPr>
          <a:xfrm>
            <a:off x="548640" y="3977640"/>
            <a:ext cx="3520440" cy="2103120"/>
          </a:xfrm>
          <a:prstGeom prst="roundRect">
            <a:avLst>
              <a:gd name="adj" fmla="val 4348"/>
            </a:avLst>
          </a:prstGeom>
          <a:solidFill>
            <a:srgbClr val="EEF1EF"/>
          </a:solidFill>
          <a:ln w="12700">
            <a:solidFill>
              <a:srgbClr val="EEF1EF"/>
            </a:solidFill>
            <a:prstDash val="solid"/>
          </a:ln>
        </p:spPr>
      </p:sp>
      <p:sp>
        <p:nvSpPr>
          <p:cNvPr id="23" name="Shape 17"/>
          <p:cNvSpPr/>
          <p:nvPr/>
        </p:nvSpPr>
        <p:spPr>
          <a:xfrm>
            <a:off x="822960" y="4251960"/>
            <a:ext cx="566928" cy="566928"/>
          </a:xfrm>
          <a:prstGeom prst="ellipse">
            <a:avLst/>
          </a:prstGeom>
          <a:solidFill>
            <a:srgbClr val="0E6B5A"/>
          </a:solidFill>
          <a:ln w="12700">
            <a:solidFill>
              <a:srgbClr val="0E6B5A"/>
            </a:solidFill>
            <a:prstDash val="solid"/>
          </a:ln>
        </p:spPr>
      </p:sp>
      <p:pic>
        <p:nvPicPr>
          <p:cNvPr id="24" name="Image 3" descr="preencoded.png">    </p:cNvPr>
          <p:cNvPicPr>
            <a:picLocks noChangeAspect="1"/>
          </p:cNvPicPr>
          <p:nvPr/>
        </p:nvPicPr>
        <p:blipFill>
          <a:blip r:embed="rId4"/>
          <a:stretch>
            <a:fillRect/>
          </a:stretch>
        </p:blipFill>
        <p:spPr>
          <a:xfrm>
            <a:off x="950976" y="4379976"/>
            <a:ext cx="310896" cy="310896"/>
          </a:xfrm>
          <a:prstGeom prst="rect">
            <a:avLst/>
          </a:prstGeom>
        </p:spPr>
      </p:pic>
      <p:sp>
        <p:nvSpPr>
          <p:cNvPr id="25" name="Text 18"/>
          <p:cNvSpPr txBox="1"/>
          <p:nvPr/>
        </p:nvSpPr>
        <p:spPr>
          <a:xfrm>
            <a:off x="1554480" y="4251960"/>
            <a:ext cx="2331720" cy="566928"/>
          </a:xfrm>
          <a:prstGeom prst="rect">
            <a:avLst/>
          </a:prstGeom>
          <a:noFill/>
          <a:ln/>
        </p:spPr>
        <p:txBody>
          <a:bodyPr wrap="square" lIns="0" tIns="0" rIns="0" bIns="0" rtlCol="0" anchor="ctr"/>
          <a:lstStyle/>
          <a:p>
            <a:pPr indent="0" marL="0">
              <a:buNone/>
            </a:pPr>
            <a:r>
              <a:rPr lang="en-US" sz="1500" b="1" dirty="0">
                <a:solidFill>
                  <a:srgbClr val="13212B"/>
                </a:solidFill>
                <a:latin typeface="Calibri" pitchFamily="34" charset="0"/>
                <a:ea typeface="Calibri" pitchFamily="34" charset="-122"/>
                <a:cs typeface="Calibri" pitchFamily="34" charset="-120"/>
              </a:rPr>
              <a:t>Incremental indexing</a:t>
            </a:r>
            <a:endParaRPr lang="en-US" sz="1500" dirty="0"/>
          </a:p>
        </p:txBody>
      </p:sp>
      <p:sp>
        <p:nvSpPr>
          <p:cNvPr id="26" name="Text 19"/>
          <p:cNvSpPr txBox="1"/>
          <p:nvPr/>
        </p:nvSpPr>
        <p:spPr>
          <a:xfrm>
            <a:off x="822960" y="4965192"/>
            <a:ext cx="3017520" cy="1005840"/>
          </a:xfrm>
          <a:prstGeom prst="rect">
            <a:avLst/>
          </a:prstGeom>
          <a:noFill/>
          <a:ln/>
        </p:spPr>
        <p:txBody>
          <a:bodyPr wrap="square" lIns="0" tIns="0" rIns="0" bIns="0" rtlCol="0" anchor="t"/>
          <a:lstStyle/>
          <a:p>
            <a:pPr indent="0" marL="0">
              <a:buNone/>
            </a:pPr>
            <a:r>
              <a:rPr lang="en-US" sz="1300" dirty="0">
                <a:solidFill>
                  <a:srgbClr val="56666D"/>
                </a:solidFill>
                <a:latin typeface="Calibri" pitchFamily="34" charset="0"/>
                <a:ea typeface="Calibri" pitchFamily="34" charset="-122"/>
                <a:cs typeface="Calibri" pitchFamily="34" charset="-120"/>
              </a:rPr>
              <a:t>Etags come from file metadata and equal nginx's ETag header. Unchanged items cost one stat per file; nothing is re-read.</a:t>
            </a:r>
            <a:endParaRPr lang="en-US" sz="1300" dirty="0"/>
          </a:p>
        </p:txBody>
      </p:sp>
      <p:sp>
        <p:nvSpPr>
          <p:cNvPr id="27" name="Shape 20"/>
          <p:cNvSpPr/>
          <p:nvPr/>
        </p:nvSpPr>
        <p:spPr>
          <a:xfrm>
            <a:off x="4334256" y="3977640"/>
            <a:ext cx="3520440" cy="2103120"/>
          </a:xfrm>
          <a:prstGeom prst="roundRect">
            <a:avLst>
              <a:gd name="adj" fmla="val 4348"/>
            </a:avLst>
          </a:prstGeom>
          <a:solidFill>
            <a:srgbClr val="EEF1EF"/>
          </a:solidFill>
          <a:ln w="12700">
            <a:solidFill>
              <a:srgbClr val="EEF1EF"/>
            </a:solidFill>
            <a:prstDash val="solid"/>
          </a:ln>
        </p:spPr>
      </p:sp>
      <p:sp>
        <p:nvSpPr>
          <p:cNvPr id="28" name="Shape 21"/>
          <p:cNvSpPr/>
          <p:nvPr/>
        </p:nvSpPr>
        <p:spPr>
          <a:xfrm>
            <a:off x="4608576" y="4251960"/>
            <a:ext cx="566928" cy="566928"/>
          </a:xfrm>
          <a:prstGeom prst="ellipse">
            <a:avLst/>
          </a:prstGeom>
          <a:solidFill>
            <a:srgbClr val="0E6B5A"/>
          </a:solidFill>
          <a:ln w="12700">
            <a:solidFill>
              <a:srgbClr val="0E6B5A"/>
            </a:solidFill>
            <a:prstDash val="solid"/>
          </a:ln>
        </p:spPr>
      </p:sp>
      <p:pic>
        <p:nvPicPr>
          <p:cNvPr id="29" name="Image 4" descr="preencoded.png">    </p:cNvPr>
          <p:cNvPicPr>
            <a:picLocks noChangeAspect="1"/>
          </p:cNvPicPr>
          <p:nvPr/>
        </p:nvPicPr>
        <p:blipFill>
          <a:blip r:embed="rId5"/>
          <a:stretch>
            <a:fillRect/>
          </a:stretch>
        </p:blipFill>
        <p:spPr>
          <a:xfrm>
            <a:off x="4736592" y="4379976"/>
            <a:ext cx="310896" cy="310896"/>
          </a:xfrm>
          <a:prstGeom prst="rect">
            <a:avLst/>
          </a:prstGeom>
        </p:spPr>
      </p:pic>
      <p:sp>
        <p:nvSpPr>
          <p:cNvPr id="30" name="Text 22"/>
          <p:cNvSpPr txBox="1"/>
          <p:nvPr/>
        </p:nvSpPr>
        <p:spPr>
          <a:xfrm>
            <a:off x="5340096" y="4251960"/>
            <a:ext cx="2331720" cy="566928"/>
          </a:xfrm>
          <a:prstGeom prst="rect">
            <a:avLst/>
          </a:prstGeom>
          <a:noFill/>
          <a:ln/>
        </p:spPr>
        <p:txBody>
          <a:bodyPr wrap="square" lIns="0" tIns="0" rIns="0" bIns="0" rtlCol="0" anchor="ctr"/>
          <a:lstStyle/>
          <a:p>
            <a:pPr indent="0" marL="0">
              <a:buNone/>
            </a:pPr>
            <a:r>
              <a:rPr lang="en-US" sz="1500" b="1" dirty="0">
                <a:solidFill>
                  <a:srgbClr val="13212B"/>
                </a:solidFill>
                <a:latin typeface="Calibri" pitchFamily="34" charset="0"/>
                <a:ea typeface="Calibri" pitchFamily="34" charset="-122"/>
                <a:cs typeface="Calibri" pitchFamily="34" charset="-120"/>
              </a:rPr>
              <a:t>Last good version wins</a:t>
            </a:r>
            <a:endParaRPr lang="en-US" sz="1500" dirty="0"/>
          </a:p>
        </p:txBody>
      </p:sp>
      <p:sp>
        <p:nvSpPr>
          <p:cNvPr id="31" name="Text 23"/>
          <p:cNvSpPr txBox="1"/>
          <p:nvPr/>
        </p:nvSpPr>
        <p:spPr>
          <a:xfrm>
            <a:off x="4608576" y="4965192"/>
            <a:ext cx="3017520" cy="1005840"/>
          </a:xfrm>
          <a:prstGeom prst="rect">
            <a:avLst/>
          </a:prstGeom>
          <a:noFill/>
          <a:ln/>
        </p:spPr>
        <p:txBody>
          <a:bodyPr wrap="square" lIns="0" tIns="0" rIns="0" bIns="0" rtlCol="0" anchor="t"/>
          <a:lstStyle/>
          <a:p>
            <a:pPr indent="0" marL="0">
              <a:buNone/>
            </a:pPr>
            <a:r>
              <a:rPr lang="en-US" sz="1300" dirty="0">
                <a:solidFill>
                  <a:srgbClr val="56666D"/>
                </a:solidFill>
                <a:latin typeface="Calibri" pitchFamily="34" charset="0"/>
                <a:ea typeface="Calibri" pitchFamily="34" charset="-122"/>
                <a:cs typeface="Calibri" pitchFamily="34" charset="-120"/>
              </a:rPr>
              <a:t>Items still being copied, or made incomplete, keep serving their previous version instead of disappearing from tenants.</a:t>
            </a:r>
            <a:endParaRPr lang="en-US" sz="1300" dirty="0"/>
          </a:p>
        </p:txBody>
      </p:sp>
      <p:sp>
        <p:nvSpPr>
          <p:cNvPr id="32" name="Shape 24"/>
          <p:cNvSpPr/>
          <p:nvPr/>
        </p:nvSpPr>
        <p:spPr>
          <a:xfrm>
            <a:off x="8119872" y="3977640"/>
            <a:ext cx="3520440" cy="2103120"/>
          </a:xfrm>
          <a:prstGeom prst="roundRect">
            <a:avLst>
              <a:gd name="adj" fmla="val 4348"/>
            </a:avLst>
          </a:prstGeom>
          <a:solidFill>
            <a:srgbClr val="EEF1EF"/>
          </a:solidFill>
          <a:ln w="12700">
            <a:solidFill>
              <a:srgbClr val="EEF1EF"/>
            </a:solidFill>
            <a:prstDash val="solid"/>
          </a:ln>
        </p:spPr>
      </p:sp>
      <p:sp>
        <p:nvSpPr>
          <p:cNvPr id="33" name="Shape 25"/>
          <p:cNvSpPr/>
          <p:nvPr/>
        </p:nvSpPr>
        <p:spPr>
          <a:xfrm>
            <a:off x="8394192" y="4251960"/>
            <a:ext cx="566928" cy="566928"/>
          </a:xfrm>
          <a:prstGeom prst="ellipse">
            <a:avLst/>
          </a:prstGeom>
          <a:solidFill>
            <a:srgbClr val="0E6B5A"/>
          </a:solidFill>
          <a:ln w="12700">
            <a:solidFill>
              <a:srgbClr val="0E6B5A"/>
            </a:solidFill>
            <a:prstDash val="solid"/>
          </a:ln>
        </p:spPr>
      </p:sp>
      <p:pic>
        <p:nvPicPr>
          <p:cNvPr id="34" name="Image 5" descr="preencoded.png">    </p:cNvPr>
          <p:cNvPicPr>
            <a:picLocks noChangeAspect="1"/>
          </p:cNvPicPr>
          <p:nvPr/>
        </p:nvPicPr>
        <p:blipFill>
          <a:blip r:embed="rId6"/>
          <a:stretch>
            <a:fillRect/>
          </a:stretch>
        </p:blipFill>
        <p:spPr>
          <a:xfrm>
            <a:off x="8522208" y="4379976"/>
            <a:ext cx="310896" cy="310896"/>
          </a:xfrm>
          <a:prstGeom prst="rect">
            <a:avLst/>
          </a:prstGeom>
        </p:spPr>
      </p:pic>
      <p:sp>
        <p:nvSpPr>
          <p:cNvPr id="35" name="Text 26"/>
          <p:cNvSpPr txBox="1"/>
          <p:nvPr/>
        </p:nvSpPr>
        <p:spPr>
          <a:xfrm>
            <a:off x="9125712" y="4251960"/>
            <a:ext cx="2331720" cy="566928"/>
          </a:xfrm>
          <a:prstGeom prst="rect">
            <a:avLst/>
          </a:prstGeom>
          <a:noFill/>
          <a:ln/>
        </p:spPr>
        <p:txBody>
          <a:bodyPr wrap="square" lIns="0" tIns="0" rIns="0" bIns="0" rtlCol="0" anchor="ctr"/>
          <a:lstStyle/>
          <a:p>
            <a:pPr indent="0" marL="0">
              <a:buNone/>
            </a:pPr>
            <a:r>
              <a:rPr lang="en-US" sz="1500" b="1" dirty="0">
                <a:solidFill>
                  <a:srgbClr val="13212B"/>
                </a:solidFill>
                <a:latin typeface="Calibri" pitchFamily="34" charset="0"/>
                <a:ea typeface="Calibri" pitchFamily="34" charset="-122"/>
                <a:cs typeface="Calibri" pitchFamily="34" charset="-120"/>
              </a:rPr>
              <a:t>Defense in depth</a:t>
            </a:r>
            <a:endParaRPr lang="en-US" sz="1500" dirty="0"/>
          </a:p>
        </p:txBody>
      </p:sp>
      <p:sp>
        <p:nvSpPr>
          <p:cNvPr id="36" name="Text 27"/>
          <p:cNvSpPr txBox="1"/>
          <p:nvPr/>
        </p:nvSpPr>
        <p:spPr>
          <a:xfrm>
            <a:off x="8394192" y="4965192"/>
            <a:ext cx="3017520" cy="1005840"/>
          </a:xfrm>
          <a:prstGeom prst="rect">
            <a:avLst/>
          </a:prstGeom>
          <a:noFill/>
          <a:ln/>
        </p:spPr>
        <p:txBody>
          <a:bodyPr wrap="square" lIns="0" tIns="0" rIns="0" bIns="0" rtlCol="0" anchor="t"/>
          <a:lstStyle/>
          <a:p>
            <a:pPr indent="0" marL="0">
              <a:buNone/>
            </a:pPr>
            <a:r>
              <a:rPr lang="en-US" sz="1300" dirty="0">
                <a:solidFill>
                  <a:srgbClr val="56666D"/>
                </a:solidFill>
                <a:latin typeface="Calibri" pitchFamily="34" charset="0"/>
                <a:ea typeface="Calibri" pitchFamily="34" charset="-122"/>
                <a:cs typeface="Calibri" pitchFamily="34" charset="-120"/>
              </a:rPr>
              <a:t>Network, TLS, identity, application, content and runtime controls each stop a different failure or attack.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Host layout, processes and access rights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7 / 14</a:t>
            </a:r>
            <a:endParaRPr lang="en-US" sz="900" dirty="0"/>
          </a:p>
        </p:txBody>
      </p:sp>
      <p:sp>
        <p:nvSpPr>
          <p:cNvPr id="7" name="Text 4"/>
          <p:cNvSpPr/>
          <p:nvPr/>
        </p:nvSpPr>
        <p:spPr>
          <a:xfrm>
            <a:off x="548640" y="1600200"/>
            <a:ext cx="2743200" cy="960120"/>
          </a:xfrm>
          <a:prstGeom prst="roundRect">
            <a:avLst>
              <a:gd name="adj" fmla="val 7619"/>
            </a:avLst>
          </a:prstGeom>
          <a:solidFill>
            <a:srgbClr val="EEF1EF"/>
          </a:solidFill>
          <a:ln w="12700">
            <a:solidFill>
              <a:srgbClr val="EEF1EF"/>
            </a:solidFill>
            <a:prstDash val="solid"/>
          </a:ln>
        </p:spPr>
        <p:txBody>
          <a:bodyPr wrap="square" lIns="63500" tIns="63500" rIns="63500" bIns="63500" rtlCol="0" anchor="ctr"/>
          <a:lstStyle/>
          <a:p>
            <a:pPr algn="ctr" indent="0" marL="0">
              <a:buNone/>
            </a:pPr>
            <a:r>
              <a:rPr lang="en-US" sz="1200" dirty="0">
                <a:solidFill>
                  <a:srgbClr val="56666D"/>
                </a:solidFill>
                <a:latin typeface="Calibri" pitchFamily="34" charset="0"/>
                <a:ea typeface="Calibri" pitchFamily="34" charset="-122"/>
                <a:cs typeface="Calibri" pitchFamily="34" charset="-120"/>
              </a:rPr>
              <a:t>Processes (rows)</a:t>
            </a:r>
            <a:endParaRPr lang="en-US" sz="1200" dirty="0"/>
          </a:p>
          <a:p>
            <a:pPr algn="ctr" indent="0" marL="0">
              <a:buNone/>
            </a:pPr>
            <a:r>
              <a:rPr lang="en-US" sz="1200" dirty="0">
                <a:solidFill>
                  <a:srgbClr val="56666D"/>
                </a:solidFill>
                <a:latin typeface="Calibri" pitchFamily="34" charset="0"/>
                <a:ea typeface="Calibri" pitchFamily="34" charset="-122"/>
                <a:cs typeface="Calibri" pitchFamily="34" charset="-120"/>
              </a:rPr>
              <a:t>by paths (columns)</a:t>
            </a:r>
            <a:endParaRPr lang="en-US" sz="1200" dirty="0"/>
          </a:p>
        </p:txBody>
      </p:sp>
      <p:sp>
        <p:nvSpPr>
          <p:cNvPr id="8" name="Text 5"/>
          <p:cNvSpPr/>
          <p:nvPr/>
        </p:nvSpPr>
        <p:spPr>
          <a:xfrm>
            <a:off x="3520440" y="1600200"/>
            <a:ext cx="1947672" cy="960120"/>
          </a:xfrm>
          <a:prstGeom prst="roundRect">
            <a:avLst>
              <a:gd name="adj" fmla="val 7619"/>
            </a:avLst>
          </a:prstGeom>
          <a:solidFill>
            <a:srgbClr val="DCEBE6"/>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/opt/vcsp</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code, portal UI, deploy.sh</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owner root, read-only</a:t>
            </a:r>
            <a:endParaRPr lang="en-US" sz="1300" dirty="0"/>
          </a:p>
        </p:txBody>
      </p:sp>
      <p:sp>
        <p:nvSpPr>
          <p:cNvPr id="9" name="Text 6"/>
          <p:cNvSpPr/>
          <p:nvPr/>
        </p:nvSpPr>
        <p:spPr>
          <a:xfrm>
            <a:off x="5559552" y="1600200"/>
            <a:ext cx="1947672" cy="960120"/>
          </a:xfrm>
          <a:prstGeom prst="roundRect">
            <a:avLst>
              <a:gd name="adj" fmla="val 7619"/>
            </a:avLst>
          </a:prstGeom>
          <a:solidFill>
            <a:srgbClr val="DCEBE6"/>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/etc/vcsp  (0751)</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vcsp.conf, htpasswd files,</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tls/ certificate and key</a:t>
            </a:r>
            <a:endParaRPr lang="en-US" sz="1300" dirty="0"/>
          </a:p>
        </p:txBody>
      </p:sp>
      <p:sp>
        <p:nvSpPr>
          <p:cNvPr id="10" name="Text 7"/>
          <p:cNvSpPr/>
          <p:nvPr/>
        </p:nvSpPr>
        <p:spPr>
          <a:xfrm>
            <a:off x="7598664" y="1600200"/>
            <a:ext cx="1947672" cy="960120"/>
          </a:xfrm>
          <a:prstGeom prst="roundRect">
            <a:avLst>
              <a:gd name="adj" fmla="val 7619"/>
            </a:avLst>
          </a:prstGeom>
          <a:solidFill>
            <a:srgbClr val="DCEBE6"/>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DATA_ROOT</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/srv/vcsp = /var/srv/vcsp</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lib/ (served), staging/</a:t>
            </a:r>
            <a:endParaRPr lang="en-US" sz="1300" dirty="0"/>
          </a:p>
        </p:txBody>
      </p:sp>
      <p:sp>
        <p:nvSpPr>
          <p:cNvPr id="11" name="Text 8"/>
          <p:cNvSpPr/>
          <p:nvPr/>
        </p:nvSpPr>
        <p:spPr>
          <a:xfrm>
            <a:off x="9637776" y="1600200"/>
            <a:ext cx="1947672" cy="960120"/>
          </a:xfrm>
          <a:prstGeom prst="roundRect">
            <a:avLst>
              <a:gd name="adj" fmla="val 7619"/>
            </a:avLst>
          </a:prstGeom>
          <a:solidFill>
            <a:srgbClr val="DCEBE6"/>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/var/lib/vcsp</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STATE_DIR: state.json,</a:t>
            </a:r>
            <a:endParaRPr lang="en-US" sz="1300" dirty="0"/>
          </a:p>
          <a:p>
            <a:pPr algn="l" indent="0" marL="0">
              <a:spcAft>
                <a:spcPts val="200"/>
              </a:spcAft>
              <a:buNone/>
            </a:pPr>
            <a:r>
              <a:rPr lang="en-US" sz="1050" dirty="0">
                <a:solidFill>
                  <a:srgbClr val="13212B"/>
                </a:solidFill>
                <a:latin typeface="Calibri" pitchFamily="34" charset="0"/>
                <a:ea typeface="Calibri" pitchFamily="34" charset="-122"/>
                <a:cs typeface="Calibri" pitchFamily="34" charset="-120"/>
              </a:rPr>
              <a:t>index.lock</a:t>
            </a:r>
            <a:endParaRPr lang="en-US" sz="1300" dirty="0"/>
          </a:p>
        </p:txBody>
      </p:sp>
      <p:sp>
        <p:nvSpPr>
          <p:cNvPr id="12" name="Text 9"/>
          <p:cNvSpPr/>
          <p:nvPr/>
        </p:nvSpPr>
        <p:spPr>
          <a:xfrm>
            <a:off x="548640" y="2715768"/>
            <a:ext cx="2743200" cy="822960"/>
          </a:xfrm>
          <a:prstGeom prst="roundRect">
            <a:avLst>
              <a:gd name="adj" fmla="val 8889"/>
            </a:avLst>
          </a:prstGeom>
          <a:solidFill>
            <a:srgbClr val="13212B"/>
          </a:solidFill>
          <a:ln w="12700">
            <a:solidFill>
              <a:srgbClr val="13212B"/>
            </a:solidFill>
            <a:prstDash val="solid"/>
          </a:ln>
        </p:spPr>
        <p:txBody>
          <a:bodyPr wrap="square" lIns="88900" tIns="88900" rIns="88900" bIns="88900" rtlCol="0" anchor="t"/>
          <a:lstStyle/>
          <a:p>
            <a:pPr algn="l" indent="0" marL="0">
              <a:spcAft>
                <a:spcPts val="200"/>
              </a:spcAft>
              <a:buNone/>
            </a:pPr>
            <a:r>
              <a:rPr lang="en-US" sz="1300" b="1" dirty="0">
                <a:solidFill>
                  <a:srgbClr val="FFFFFF"/>
                </a:solidFill>
                <a:latin typeface="Calibri" pitchFamily="34" charset="0"/>
                <a:ea typeface="Calibri" pitchFamily="34" charset="-122"/>
                <a:cs typeface="Calibri" pitchFamily="34" charset="-120"/>
              </a:rPr>
              <a:t>nginx</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user nginx</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:443 TLS, :80 redirect</a:t>
            </a:r>
            <a:endParaRPr lang="en-US" sz="1300" dirty="0"/>
          </a:p>
        </p:txBody>
      </p:sp>
      <p:sp>
        <p:nvSpPr>
          <p:cNvPr id="13" name="Text 10"/>
          <p:cNvSpPr/>
          <p:nvPr/>
        </p:nvSpPr>
        <p:spPr>
          <a:xfrm>
            <a:off x="3520440" y="271576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portal UI</a:t>
            </a:r>
            <a:endParaRPr lang="en-US" sz="1700" dirty="0"/>
          </a:p>
        </p:txBody>
      </p:sp>
      <p:sp>
        <p:nvSpPr>
          <p:cNvPr id="14" name="Text 11"/>
          <p:cNvSpPr/>
          <p:nvPr/>
        </p:nvSpPr>
        <p:spPr>
          <a:xfrm>
            <a:off x="5559552" y="271576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tls/, htpasswd</a:t>
            </a:r>
            <a:endParaRPr lang="en-US" sz="1700" dirty="0"/>
          </a:p>
        </p:txBody>
      </p:sp>
      <p:sp>
        <p:nvSpPr>
          <p:cNvPr id="15" name="Text 12"/>
          <p:cNvSpPr/>
          <p:nvPr/>
        </p:nvSpPr>
        <p:spPr>
          <a:xfrm>
            <a:off x="7598664" y="271576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lib/ only</a:t>
            </a:r>
            <a:endParaRPr lang="en-US" sz="1700" dirty="0"/>
          </a:p>
        </p:txBody>
      </p:sp>
      <p:sp>
        <p:nvSpPr>
          <p:cNvPr id="16" name="Text 13"/>
          <p:cNvSpPr/>
          <p:nvPr/>
        </p:nvSpPr>
        <p:spPr>
          <a:xfrm>
            <a:off x="9637776" y="2715768"/>
            <a:ext cx="1947672" cy="822960"/>
          </a:xfrm>
          <a:prstGeom prst="roundRect">
            <a:avLst>
              <a:gd name="adj" fmla="val 8889"/>
            </a:avLst>
          </a:prstGeom>
          <a:solidFill>
            <a:srgbClr val="EEF1EF"/>
          </a:solidFill>
          <a:ln w="12700">
            <a:solidFill>
              <a:srgbClr val="EEF1EF"/>
            </a:solidFill>
          </a:ln>
        </p:spPr>
        <p:txBody>
          <a:bodyPr wrap="square" lIns="50800" tIns="50800" rIns="50800" bIns="50800" rtlCol="0" anchor="ctr"/>
          <a:lstStyle/>
          <a:p>
            <a:pPr algn="ctr" indent="0" marL="0">
              <a:buNone/>
            </a:pPr>
            <a:r>
              <a:rPr lang="en-US" sz="1700" b="1" dirty="0">
                <a:solidFill>
                  <a:srgbClr val="56666D"/>
                </a:solidFill>
                <a:latin typeface="Calibri" pitchFamily="34" charset="0"/>
                <a:ea typeface="Calibri" pitchFamily="34" charset="-122"/>
                <a:cs typeface="Calibri" pitchFamily="34" charset="-120"/>
              </a:rPr>
              <a:t>—</a:t>
            </a:r>
            <a:endParaRPr lang="en-US" sz="1700" dirty="0"/>
          </a:p>
        </p:txBody>
      </p:sp>
      <p:sp>
        <p:nvSpPr>
          <p:cNvPr id="17" name="Text 14"/>
          <p:cNvSpPr/>
          <p:nvPr/>
        </p:nvSpPr>
        <p:spPr>
          <a:xfrm>
            <a:off x="548640" y="3675888"/>
            <a:ext cx="2743200" cy="822960"/>
          </a:xfrm>
          <a:prstGeom prst="roundRect">
            <a:avLst>
              <a:gd name="adj" fmla="val 8889"/>
            </a:avLst>
          </a:prstGeom>
          <a:solidFill>
            <a:srgbClr val="0E6B5A"/>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FFFFFF"/>
                </a:solidFill>
                <a:latin typeface="Calibri" pitchFamily="34" charset="0"/>
                <a:ea typeface="Calibri" pitchFamily="34" charset="-122"/>
                <a:cs typeface="Calibri" pitchFamily="34" charset="-120"/>
              </a:rPr>
              <a:t>vcsp-upload.service</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user vcsp, 127.0.0.1:8080</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sandbox: writes DATA_ROOT, STATE_DIR</a:t>
            </a:r>
            <a:endParaRPr lang="en-US" sz="1300" dirty="0"/>
          </a:p>
        </p:txBody>
      </p:sp>
      <p:sp>
        <p:nvSpPr>
          <p:cNvPr id="18" name="Text 15"/>
          <p:cNvSpPr/>
          <p:nvPr/>
        </p:nvSpPr>
        <p:spPr>
          <a:xfrm>
            <a:off x="3520440" y="367588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code</a:t>
            </a:r>
            <a:endParaRPr lang="en-US" sz="1700" dirty="0"/>
          </a:p>
        </p:txBody>
      </p:sp>
      <p:sp>
        <p:nvSpPr>
          <p:cNvPr id="19" name="Text 16"/>
          <p:cNvSpPr/>
          <p:nvPr/>
        </p:nvSpPr>
        <p:spPr>
          <a:xfrm>
            <a:off x="5559552" y="367588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vcsp.conf</a:t>
            </a:r>
            <a:endParaRPr lang="en-US" sz="1700" dirty="0"/>
          </a:p>
        </p:txBody>
      </p:sp>
      <p:sp>
        <p:nvSpPr>
          <p:cNvPr id="20" name="Text 17"/>
          <p:cNvSpPr/>
          <p:nvPr/>
        </p:nvSpPr>
        <p:spPr>
          <a:xfrm>
            <a:off x="7598664" y="3675888"/>
            <a:ext cx="1947672" cy="822960"/>
          </a:xfrm>
          <a:prstGeom prst="roundRect">
            <a:avLst>
              <a:gd name="adj" fmla="val 8889"/>
            </a:avLst>
          </a:prstGeom>
          <a:solidFill>
            <a:srgbClr val="0E6B5A"/>
          </a:solidFill>
          <a:ln w="12700">
            <a:solidFill>
              <a:srgbClr val="0E6B5A"/>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RW</a:t>
            </a:r>
            <a:endParaRPr lang="en-US" sz="1700" dirty="0"/>
          </a:p>
          <a:p>
            <a:pPr algn="ctr" indent="0" marL="0">
              <a:buNone/>
            </a:pPr>
            <a:r>
              <a:rPr lang="en-US" sz="1050" dirty="0">
                <a:solidFill>
                  <a:srgbClr val="FFFFFF"/>
                </a:solidFill>
                <a:latin typeface="Calibri" pitchFamily="34" charset="0"/>
                <a:ea typeface="Calibri" pitchFamily="34" charset="-122"/>
                <a:cs typeface="Calibri" pitchFamily="34" charset="-120"/>
              </a:rPr>
              <a:t>staging/, lib/</a:t>
            </a:r>
            <a:endParaRPr lang="en-US" sz="1700" dirty="0"/>
          </a:p>
        </p:txBody>
      </p:sp>
      <p:sp>
        <p:nvSpPr>
          <p:cNvPr id="21" name="Text 18"/>
          <p:cNvSpPr/>
          <p:nvPr/>
        </p:nvSpPr>
        <p:spPr>
          <a:xfrm>
            <a:off x="9637776" y="3675888"/>
            <a:ext cx="1947672" cy="822960"/>
          </a:xfrm>
          <a:prstGeom prst="roundRect">
            <a:avLst>
              <a:gd name="adj" fmla="val 8889"/>
            </a:avLst>
          </a:prstGeom>
          <a:solidFill>
            <a:srgbClr val="0E6B5A"/>
          </a:solidFill>
          <a:ln w="12700">
            <a:solidFill>
              <a:srgbClr val="0E6B5A"/>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RW</a:t>
            </a:r>
            <a:endParaRPr lang="en-US" sz="1700" dirty="0"/>
          </a:p>
          <a:p>
            <a:pPr algn="ctr" indent="0" marL="0">
              <a:buNone/>
            </a:pPr>
            <a:r>
              <a:rPr lang="en-US" sz="1050" dirty="0">
                <a:solidFill>
                  <a:srgbClr val="FFFFFF"/>
                </a:solidFill>
                <a:latin typeface="Calibri" pitchFamily="34" charset="0"/>
                <a:ea typeface="Calibri" pitchFamily="34" charset="-122"/>
                <a:cs typeface="Calibri" pitchFamily="34" charset="-120"/>
              </a:rPr>
              <a:t>index.lock</a:t>
            </a:r>
            <a:endParaRPr lang="en-US" sz="1700" dirty="0"/>
          </a:p>
        </p:txBody>
      </p:sp>
      <p:sp>
        <p:nvSpPr>
          <p:cNvPr id="22" name="Text 19"/>
          <p:cNvSpPr/>
          <p:nvPr/>
        </p:nvSpPr>
        <p:spPr>
          <a:xfrm>
            <a:off x="548640" y="4636008"/>
            <a:ext cx="2743200" cy="822960"/>
          </a:xfrm>
          <a:prstGeom prst="roundRect">
            <a:avLst>
              <a:gd name="adj" fmla="val 8889"/>
            </a:avLst>
          </a:prstGeom>
          <a:solidFill>
            <a:srgbClr val="0E6B5A"/>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FFFFFF"/>
                </a:solidFill>
                <a:latin typeface="Calibri" pitchFamily="34" charset="0"/>
                <a:ea typeface="Calibri" pitchFamily="34" charset="-122"/>
                <a:cs typeface="Calibri" pitchFamily="34" charset="-120"/>
              </a:rPr>
              <a:t>vcsp-index (timer)</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user vcsp, no network</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every 5 min + per-item runs</a:t>
            </a:r>
            <a:endParaRPr lang="en-US" sz="1300" dirty="0"/>
          </a:p>
        </p:txBody>
      </p:sp>
      <p:sp>
        <p:nvSpPr>
          <p:cNvPr id="23" name="Text 20"/>
          <p:cNvSpPr/>
          <p:nvPr/>
        </p:nvSpPr>
        <p:spPr>
          <a:xfrm>
            <a:off x="3520440" y="463600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code</a:t>
            </a:r>
            <a:endParaRPr lang="en-US" sz="1700" dirty="0"/>
          </a:p>
        </p:txBody>
      </p:sp>
      <p:sp>
        <p:nvSpPr>
          <p:cNvPr id="24" name="Text 21"/>
          <p:cNvSpPr/>
          <p:nvPr/>
        </p:nvSpPr>
        <p:spPr>
          <a:xfrm>
            <a:off x="5559552" y="4636008"/>
            <a:ext cx="1947672" cy="822960"/>
          </a:xfrm>
          <a:prstGeom prst="roundRect">
            <a:avLst>
              <a:gd name="adj" fmla="val 8889"/>
            </a:avLst>
          </a:prstGeom>
          <a:solidFill>
            <a:srgbClr val="FFFFFF"/>
          </a:solidFill>
          <a:ln w="12700">
            <a:solidFill>
              <a:srgbClr val="0E6B5A"/>
            </a:solidFill>
          </a:ln>
        </p:spPr>
        <p:txBody>
          <a:bodyPr wrap="square" lIns="50800" tIns="50800" rIns="50800" bIns="50800" rtlCol="0" anchor="ctr"/>
          <a:lstStyle/>
          <a:p>
            <a:pPr algn="ctr" indent="0" marL="0">
              <a:buNone/>
            </a:pPr>
            <a:r>
              <a:rPr lang="en-US" sz="1700" b="1" dirty="0">
                <a:solidFill>
                  <a:srgbClr val="13212B"/>
                </a:solidFill>
                <a:latin typeface="Calibri" pitchFamily="34" charset="0"/>
                <a:ea typeface="Calibri" pitchFamily="34" charset="-122"/>
                <a:cs typeface="Calibri" pitchFamily="34" charset="-120"/>
              </a:rPr>
              <a:t>R</a:t>
            </a:r>
            <a:endParaRPr lang="en-US" sz="1700" dirty="0"/>
          </a:p>
          <a:p>
            <a:pPr algn="ctr" indent="0" marL="0">
              <a:buNone/>
            </a:pPr>
            <a:r>
              <a:rPr lang="en-US" sz="1050" dirty="0">
                <a:solidFill>
                  <a:srgbClr val="13212B"/>
                </a:solidFill>
                <a:latin typeface="Calibri" pitchFamily="34" charset="0"/>
                <a:ea typeface="Calibri" pitchFamily="34" charset="-122"/>
                <a:cs typeface="Calibri" pitchFamily="34" charset="-120"/>
              </a:rPr>
              <a:t>vcsp.conf</a:t>
            </a:r>
            <a:endParaRPr lang="en-US" sz="1700" dirty="0"/>
          </a:p>
        </p:txBody>
      </p:sp>
      <p:sp>
        <p:nvSpPr>
          <p:cNvPr id="25" name="Text 22"/>
          <p:cNvSpPr/>
          <p:nvPr/>
        </p:nvSpPr>
        <p:spPr>
          <a:xfrm>
            <a:off x="7598664" y="4636008"/>
            <a:ext cx="1947672" cy="822960"/>
          </a:xfrm>
          <a:prstGeom prst="roundRect">
            <a:avLst>
              <a:gd name="adj" fmla="val 8889"/>
            </a:avLst>
          </a:prstGeom>
          <a:solidFill>
            <a:srgbClr val="0E6B5A"/>
          </a:solidFill>
          <a:ln w="12700">
            <a:solidFill>
              <a:srgbClr val="0E6B5A"/>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RW</a:t>
            </a:r>
            <a:endParaRPr lang="en-US" sz="1700" dirty="0"/>
          </a:p>
          <a:p>
            <a:pPr algn="ctr" indent="0" marL="0">
              <a:buNone/>
            </a:pPr>
            <a:r>
              <a:rPr lang="en-US" sz="1050" dirty="0">
                <a:solidFill>
                  <a:srgbClr val="FFFFFF"/>
                </a:solidFill>
                <a:latin typeface="Calibri" pitchFamily="34" charset="0"/>
                <a:ea typeface="Calibri" pitchFamily="34" charset="-122"/>
                <a:cs typeface="Calibri" pitchFamily="34" charset="-120"/>
              </a:rPr>
              <a:t>JSON in lib/</a:t>
            </a:r>
            <a:endParaRPr lang="en-US" sz="1700" dirty="0"/>
          </a:p>
        </p:txBody>
      </p:sp>
      <p:sp>
        <p:nvSpPr>
          <p:cNvPr id="26" name="Text 23"/>
          <p:cNvSpPr/>
          <p:nvPr/>
        </p:nvSpPr>
        <p:spPr>
          <a:xfrm>
            <a:off x="9637776" y="4636008"/>
            <a:ext cx="1947672" cy="822960"/>
          </a:xfrm>
          <a:prstGeom prst="roundRect">
            <a:avLst>
              <a:gd name="adj" fmla="val 8889"/>
            </a:avLst>
          </a:prstGeom>
          <a:solidFill>
            <a:srgbClr val="0E6B5A"/>
          </a:solidFill>
          <a:ln w="12700">
            <a:solidFill>
              <a:srgbClr val="0E6B5A"/>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RW</a:t>
            </a:r>
            <a:endParaRPr lang="en-US" sz="1700" dirty="0"/>
          </a:p>
          <a:p>
            <a:pPr algn="ctr" indent="0" marL="0">
              <a:buNone/>
            </a:pPr>
            <a:r>
              <a:rPr lang="en-US" sz="1050" dirty="0">
                <a:solidFill>
                  <a:srgbClr val="FFFFFF"/>
                </a:solidFill>
                <a:latin typeface="Calibri" pitchFamily="34" charset="0"/>
                <a:ea typeface="Calibri" pitchFamily="34" charset="-122"/>
                <a:cs typeface="Calibri" pitchFamily="34" charset="-120"/>
              </a:rPr>
              <a:t>state.json</a:t>
            </a:r>
            <a:endParaRPr lang="en-US" sz="1700" dirty="0"/>
          </a:p>
        </p:txBody>
      </p:sp>
      <p:sp>
        <p:nvSpPr>
          <p:cNvPr id="27" name="Text 24"/>
          <p:cNvSpPr/>
          <p:nvPr/>
        </p:nvSpPr>
        <p:spPr>
          <a:xfrm>
            <a:off x="548640" y="5669280"/>
            <a:ext cx="11091672" cy="502920"/>
          </a:xfrm>
          <a:prstGeom prst="roundRect">
            <a:avLst>
              <a:gd name="adj" fmla="val 14545"/>
            </a:avLst>
          </a:prstGeom>
          <a:solidFill>
            <a:srgbClr val="F6EBD6"/>
          </a:solidFill>
          <a:ln w="12700">
            <a:solidFill>
              <a:srgbClr val="F6EBD6"/>
            </a:solidFill>
            <a:prstDash val="solid"/>
          </a:ln>
        </p:spPr>
        <p:txBody>
          <a:bodyPr wrap="square" lIns="127000" tIns="127000" rIns="127000" bIns="1270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Photon OS ships /srv as a link to var/srv. deploy.sh resolves DATA_ROOT and gives nginx and systemd the real path /var/srv/vcsp; symbolic links inside lib/ are still refused.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Network and request routing</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8 / 14</a:t>
            </a:r>
            <a:endParaRPr lang="en-US" sz="900" dirty="0"/>
          </a:p>
        </p:txBody>
      </p:sp>
      <p:sp>
        <p:nvSpPr>
          <p:cNvPr id="7" name="Text 4"/>
          <p:cNvSpPr/>
          <p:nvPr/>
        </p:nvSpPr>
        <p:spPr>
          <a:xfrm>
            <a:off x="548640" y="1874520"/>
            <a:ext cx="2103120" cy="960120"/>
          </a:xfrm>
          <a:prstGeom prst="roundRect">
            <a:avLst>
              <a:gd name="adj" fmla="val 7619"/>
            </a:avLst>
          </a:prstGeom>
          <a:solidFill>
            <a:srgbClr val="FFFFFF"/>
          </a:solidFill>
          <a:ln w="12700">
            <a:solidFill>
              <a:srgbClr val="9EAEA8"/>
            </a:solidFill>
            <a:prstDash val="solid"/>
          </a:ln>
        </p:spPr>
        <p:txBody>
          <a:bodyPr wrap="square" lIns="101600" tIns="101600" rIns="101600" bIns="1016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Subscribers</a:t>
            </a:r>
            <a:endParaRPr lang="en-US" sz="1300" dirty="0"/>
          </a:p>
          <a:p>
            <a:pPr algn="l" indent="0" marL="0">
              <a:spcAft>
                <a:spcPts val="200"/>
              </a:spcAft>
              <a:buNone/>
            </a:pPr>
            <a:r>
              <a:rPr lang="en-US" sz="1100" dirty="0">
                <a:solidFill>
                  <a:srgbClr val="56666D"/>
                </a:solidFill>
                <a:latin typeface="Calibri" pitchFamily="34" charset="0"/>
                <a:ea typeface="Calibri" pitchFamily="34" charset="-122"/>
                <a:cs typeface="Calibri" pitchFamily="34" charset="-120"/>
              </a:rPr>
              <a:t>Cloud Director cells, vCenter Server</a:t>
            </a:r>
            <a:endParaRPr lang="en-US" sz="1300" dirty="0"/>
          </a:p>
        </p:txBody>
      </p:sp>
      <p:sp>
        <p:nvSpPr>
          <p:cNvPr id="8" name="Text 5"/>
          <p:cNvSpPr/>
          <p:nvPr/>
        </p:nvSpPr>
        <p:spPr>
          <a:xfrm>
            <a:off x="548640" y="4160520"/>
            <a:ext cx="2103120" cy="960120"/>
          </a:xfrm>
          <a:prstGeom prst="roundRect">
            <a:avLst>
              <a:gd name="adj" fmla="val 7619"/>
            </a:avLst>
          </a:prstGeom>
          <a:solidFill>
            <a:srgbClr val="FFFFFF"/>
          </a:solidFill>
          <a:ln w="12700">
            <a:solidFill>
              <a:srgbClr val="9EAEA8"/>
            </a:solidFill>
            <a:prstDash val="solid"/>
          </a:ln>
        </p:spPr>
        <p:txBody>
          <a:bodyPr wrap="square" lIns="101600" tIns="101600" rIns="101600" bIns="1016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Administrators</a:t>
            </a:r>
            <a:endParaRPr lang="en-US" sz="1300" dirty="0"/>
          </a:p>
          <a:p>
            <a:pPr algn="l" indent="0" marL="0">
              <a:spcAft>
                <a:spcPts val="200"/>
              </a:spcAft>
              <a:buNone/>
            </a:pPr>
            <a:r>
              <a:rPr lang="en-US" sz="1100" dirty="0">
                <a:solidFill>
                  <a:srgbClr val="56666D"/>
                </a:solidFill>
                <a:latin typeface="Calibri" pitchFamily="34" charset="0"/>
                <a:ea typeface="Calibri" pitchFamily="34" charset="-122"/>
                <a:cs typeface="Calibri" pitchFamily="34" charset="-120"/>
              </a:rPr>
              <a:t>Web browser</a:t>
            </a:r>
            <a:endParaRPr lang="en-US" sz="1300" dirty="0"/>
          </a:p>
        </p:txBody>
      </p:sp>
      <p:sp>
        <p:nvSpPr>
          <p:cNvPr id="9" name="Text 6"/>
          <p:cNvSpPr/>
          <p:nvPr/>
        </p:nvSpPr>
        <p:spPr>
          <a:xfrm>
            <a:off x="3017520" y="1645920"/>
            <a:ext cx="548640" cy="4434840"/>
          </a:xfrm>
          <a:prstGeom prst="roundRect">
            <a:avLst>
              <a:gd name="adj" fmla="val 13333"/>
            </a:avLst>
          </a:prstGeom>
          <a:solidFill>
            <a:srgbClr val="F6EBD6"/>
          </a:solidFill>
          <a:ln w="12700">
            <a:solidFill>
              <a:srgbClr val="B7791F"/>
            </a:solidFill>
          </a:ln>
        </p:spPr>
        <p:txBody>
          <a:bodyPr wrap="square" lIns="0" tIns="0" rIns="0" bIns="0" rtlCol="0" anchor="ctr" vert="vert270"/>
          <a:lstStyle/>
          <a:p>
            <a:pPr algn="ctr" indent="0" marL="0">
              <a:buNone/>
            </a:pPr>
            <a:r>
              <a:rPr lang="en-US" sz="1100" b="1" dirty="0">
                <a:solidFill>
                  <a:srgbClr val="13212B"/>
                </a:solidFill>
                <a:latin typeface="Calibri" pitchFamily="34" charset="0"/>
                <a:ea typeface="Calibri" pitchFamily="34" charset="-122"/>
                <a:cs typeface="Calibri" pitchFamily="34" charset="-120"/>
              </a:rPr>
              <a:t>iptables: only TCP 443 and 80, persisted</a:t>
            </a:r>
            <a:endParaRPr lang="en-US" sz="1100" dirty="0"/>
          </a:p>
        </p:txBody>
      </p:sp>
      <p:sp>
        <p:nvSpPr>
          <p:cNvPr id="10" name="Shape 7"/>
          <p:cNvSpPr/>
          <p:nvPr/>
        </p:nvSpPr>
        <p:spPr>
          <a:xfrm>
            <a:off x="3931920" y="1645920"/>
            <a:ext cx="2240280" cy="4434840"/>
          </a:xfrm>
          <a:prstGeom prst="roundRect">
            <a:avLst>
              <a:gd name="adj" fmla="val 4082"/>
            </a:avLst>
          </a:prstGeom>
          <a:solidFill>
            <a:srgbClr val="13212B"/>
          </a:solidFill>
          <a:ln w="12700">
            <a:solidFill>
              <a:srgbClr val="13212B"/>
            </a:solidFill>
            <a:prstDash val="solid"/>
          </a:ln>
        </p:spPr>
      </p:sp>
      <p:sp>
        <p:nvSpPr>
          <p:cNvPr id="11" name="Text 8"/>
          <p:cNvSpPr txBox="1"/>
          <p:nvPr/>
        </p:nvSpPr>
        <p:spPr>
          <a:xfrm>
            <a:off x="4069080" y="1783080"/>
            <a:ext cx="19659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nginx</a:t>
            </a:r>
            <a:endParaRPr lang="en-US" sz="1700" dirty="0"/>
          </a:p>
        </p:txBody>
      </p:sp>
      <p:sp>
        <p:nvSpPr>
          <p:cNvPr id="12" name="Text 9"/>
          <p:cNvSpPr/>
          <p:nvPr/>
        </p:nvSpPr>
        <p:spPr>
          <a:xfrm>
            <a:off x="4114800" y="2377440"/>
            <a:ext cx="1874520" cy="411480"/>
          </a:xfrm>
          <a:prstGeom prst="roundRect">
            <a:avLst>
              <a:gd name="adj" fmla="val 17778"/>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:443  TLS 1.2 / 1.3</a:t>
            </a:r>
            <a:endParaRPr lang="en-US" sz="1100" dirty="0"/>
          </a:p>
        </p:txBody>
      </p:sp>
      <p:sp>
        <p:nvSpPr>
          <p:cNvPr id="13" name="Text 10"/>
          <p:cNvSpPr/>
          <p:nvPr/>
        </p:nvSpPr>
        <p:spPr>
          <a:xfrm>
            <a:off x="4114800" y="2926080"/>
            <a:ext cx="1874520" cy="411480"/>
          </a:xfrm>
          <a:prstGeom prst="roundRect">
            <a:avLst>
              <a:gd name="adj" fmla="val 17778"/>
            </a:avLst>
          </a:prstGeom>
          <a:solidFill>
            <a:srgbClr val="1C2E38"/>
          </a:solidFill>
          <a:ln w="12700">
            <a:solidFill>
              <a:srgbClr val="B8C7C2"/>
            </a:solidFill>
            <a:prstDash val="solid"/>
          </a:ln>
        </p:spPr>
        <p:txBody>
          <a:bodyPr wrap="square" lIns="63500" tIns="63500" rIns="63500" bIns="635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:80  redirect to https</a:t>
            </a:r>
            <a:endParaRPr lang="en-US" sz="1100" dirty="0"/>
          </a:p>
        </p:txBody>
      </p:sp>
      <p:sp>
        <p:nvSpPr>
          <p:cNvPr id="14" name="Text 11"/>
          <p:cNvSpPr txBox="1"/>
          <p:nvPr/>
        </p:nvSpPr>
        <p:spPr>
          <a:xfrm>
            <a:off x="4114800" y="3657600"/>
            <a:ext cx="1874520" cy="2194560"/>
          </a:xfrm>
          <a:prstGeom prst="rect">
            <a:avLst/>
          </a:prstGeom>
          <a:noFill/>
          <a:ln/>
        </p:spPr>
        <p:txBody>
          <a:bodyPr wrap="square" lIns="0" tIns="0" rIns="0" bIns="0" rtlCol="0" anchor="t"/>
          <a:lstStyle/>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auth_basic per location</a:t>
            </a:r>
            <a:endParaRPr lang="en-US" sz="1150" dirty="0"/>
          </a:p>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limit_req 20 r/s</a:t>
            </a:r>
            <a:endParaRPr lang="en-US" sz="1150" dirty="0"/>
          </a:p>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HSTS, CSP, nosniff</a:t>
            </a:r>
            <a:endParaRPr lang="en-US" sz="1150" dirty="0"/>
          </a:p>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sendfile, byte ranges</a:t>
            </a:r>
            <a:endParaRPr lang="en-US" sz="1150" dirty="0"/>
          </a:p>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server_tokens off</a:t>
            </a:r>
            <a:endParaRPr lang="en-US" sz="1150" dirty="0"/>
          </a:p>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workers run as user nginx</a:t>
            </a:r>
            <a:endParaRPr lang="en-US" sz="1150" dirty="0"/>
          </a:p>
          <a:p>
            <a:pPr indent="0" marL="0">
              <a:spcAft>
                <a:spcPts val="700"/>
              </a:spcAft>
              <a:buNone/>
            </a:pPr>
            <a:r>
              <a:rPr lang="en-US" sz="1150" dirty="0">
                <a:solidFill>
                  <a:srgbClr val="B8C7C2"/>
                </a:solidFill>
                <a:latin typeface="Calibri" pitchFamily="34" charset="0"/>
                <a:ea typeface="Calibri" pitchFamily="34" charset="-122"/>
                <a:cs typeface="Calibri" pitchFamily="34" charset="-120"/>
              </a:rPr>
              <a:t>access log records the user</a:t>
            </a:r>
            <a:endParaRPr lang="en-US" sz="1150" dirty="0"/>
          </a:p>
        </p:txBody>
      </p:sp>
      <p:sp>
        <p:nvSpPr>
          <p:cNvPr id="15" name="Shape 12"/>
          <p:cNvSpPr/>
          <p:nvPr/>
        </p:nvSpPr>
        <p:spPr>
          <a:xfrm>
            <a:off x="2651760" y="2350008"/>
            <a:ext cx="1280160" cy="0"/>
          </a:xfrm>
          <a:prstGeom prst="line">
            <a:avLst/>
          </a:prstGeom>
          <a:noFill/>
          <a:ln w="19050">
            <a:solidFill>
              <a:srgbClr val="5B6B70"/>
            </a:solidFill>
            <a:prstDash val="solid"/>
            <a:headEnd type="none"/>
            <a:tailEnd type="triangle"/>
          </a:ln>
        </p:spPr>
      </p:sp>
      <p:sp>
        <p:nvSpPr>
          <p:cNvPr id="16" name="Shape 13"/>
          <p:cNvSpPr/>
          <p:nvPr/>
        </p:nvSpPr>
        <p:spPr>
          <a:xfrm>
            <a:off x="2651760" y="4636008"/>
            <a:ext cx="1280160" cy="0"/>
          </a:xfrm>
          <a:prstGeom prst="line">
            <a:avLst/>
          </a:prstGeom>
          <a:noFill/>
          <a:ln w="19050">
            <a:solidFill>
              <a:srgbClr val="5B6B70"/>
            </a:solidFill>
            <a:prstDash val="solid"/>
            <a:headEnd type="none"/>
            <a:tailEnd type="triangle"/>
          </a:ln>
        </p:spPr>
      </p:sp>
      <p:sp>
        <p:nvSpPr>
          <p:cNvPr id="17" name="Text 14"/>
          <p:cNvSpPr txBox="1"/>
          <p:nvPr/>
        </p:nvSpPr>
        <p:spPr>
          <a:xfrm>
            <a:off x="2651760" y="2075688"/>
            <a:ext cx="365760" cy="237744"/>
          </a:xfrm>
          <a:prstGeom prst="rect">
            <a:avLst/>
          </a:prstGeom>
          <a:noFill/>
          <a:ln/>
        </p:spPr>
        <p:txBody>
          <a:bodyPr wrap="square" lIns="0" tIns="0" rIns="0" bIns="0" rtlCol="0" anchor="ctr"/>
          <a:lstStyle/>
          <a:p>
            <a:pPr algn="ctr" indent="0" marL="0">
              <a:buNone/>
            </a:pPr>
            <a:r>
              <a:rPr lang="en-US" sz="900" dirty="0">
                <a:solidFill>
                  <a:srgbClr val="56666D"/>
                </a:solidFill>
                <a:latin typeface="Calibri" pitchFamily="34" charset="0"/>
                <a:ea typeface="Calibri" pitchFamily="34" charset="-122"/>
                <a:cs typeface="Calibri" pitchFamily="34" charset="-120"/>
              </a:rPr>
              <a:t>HTTPS</a:t>
            </a:r>
            <a:endParaRPr lang="en-US" sz="900" dirty="0"/>
          </a:p>
        </p:txBody>
      </p:sp>
      <p:sp>
        <p:nvSpPr>
          <p:cNvPr id="18" name="Text 15"/>
          <p:cNvSpPr txBox="1"/>
          <p:nvPr/>
        </p:nvSpPr>
        <p:spPr>
          <a:xfrm>
            <a:off x="2651760" y="4361688"/>
            <a:ext cx="365760" cy="237744"/>
          </a:xfrm>
          <a:prstGeom prst="rect">
            <a:avLst/>
          </a:prstGeom>
          <a:noFill/>
          <a:ln/>
        </p:spPr>
        <p:txBody>
          <a:bodyPr wrap="square" lIns="0" tIns="0" rIns="0" bIns="0" rtlCol="0" anchor="ctr"/>
          <a:lstStyle/>
          <a:p>
            <a:pPr algn="ctr" indent="0" marL="0">
              <a:buNone/>
            </a:pPr>
            <a:r>
              <a:rPr lang="en-US" sz="900" dirty="0">
                <a:solidFill>
                  <a:srgbClr val="56666D"/>
                </a:solidFill>
                <a:latin typeface="Calibri" pitchFamily="34" charset="0"/>
                <a:ea typeface="Calibri" pitchFamily="34" charset="-122"/>
                <a:cs typeface="Calibri" pitchFamily="34" charset="-120"/>
              </a:rPr>
              <a:t>HTTPS</a:t>
            </a:r>
            <a:endParaRPr lang="en-US" sz="900" dirty="0"/>
          </a:p>
        </p:txBody>
      </p:sp>
      <p:sp>
        <p:nvSpPr>
          <p:cNvPr id="19" name="Text 16"/>
          <p:cNvSpPr/>
          <p:nvPr/>
        </p:nvSpPr>
        <p:spPr>
          <a:xfrm>
            <a:off x="6720840" y="1645920"/>
            <a:ext cx="1417320" cy="777240"/>
          </a:xfrm>
          <a:prstGeom prst="roundRect">
            <a:avLst>
              <a:gd name="adj" fmla="val 9412"/>
            </a:avLst>
          </a:prstGeom>
          <a:solidFill>
            <a:srgbClr val="13212B"/>
          </a:solidFill>
          <a:ln w="12700">
            <a:solidFill>
              <a:srgbClr val="13212B"/>
            </a:solidFill>
            <a:prstDash val="solid"/>
          </a:ln>
        </p:spPr>
        <p:txBody>
          <a:bodyPr wrap="square" lIns="63500" tIns="63500" rIns="63500" bIns="6350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/lib/</a:t>
            </a:r>
            <a:endParaRPr lang="en-US" sz="1300" dirty="0"/>
          </a:p>
        </p:txBody>
      </p:sp>
      <p:sp>
        <p:nvSpPr>
          <p:cNvPr id="20" name="Text 17"/>
          <p:cNvSpPr/>
          <p:nvPr/>
        </p:nvSpPr>
        <p:spPr>
          <a:xfrm>
            <a:off x="8275320" y="1645920"/>
            <a:ext cx="3364992" cy="777240"/>
          </a:xfrm>
          <a:prstGeom prst="roundRect">
            <a:avLst>
              <a:gd name="adj" fmla="val 9412"/>
            </a:avLst>
          </a:prstGeom>
          <a:solidFill>
            <a:srgbClr val="FFFFFF"/>
          </a:solidFill>
          <a:ln w="12700">
            <a:solidFill>
              <a:srgbClr val="9EAEA8"/>
            </a:solidFill>
            <a:prstDash val="solid"/>
          </a:ln>
        </p:spPr>
        <p:txBody>
          <a:bodyPr wrap="square" lIns="76200" tIns="76200" rIns="76200" bIns="76200" rtlCol="0" anchor="t"/>
          <a:lstStyle/>
          <a:p>
            <a:pPr algn="l" indent="0" marL="0">
              <a:spcAft>
                <a:spcPts val="200"/>
              </a:spcAft>
              <a:buNone/>
            </a:pPr>
            <a:r>
              <a:rPr lang="en-US" sz="1200" b="1" dirty="0">
                <a:solidFill>
                  <a:srgbClr val="13212B"/>
                </a:solidFill>
                <a:latin typeface="Calibri" pitchFamily="34" charset="0"/>
                <a:ea typeface="Calibri" pitchFamily="34" charset="-122"/>
                <a:cs typeface="Calibri" pitchFamily="34" charset="-120"/>
              </a:rPr>
              <a:t>Library files from DATA_ROOT/lib</a:t>
            </a:r>
            <a:endParaRPr lang="en-US" sz="1200" dirty="0"/>
          </a:p>
          <a:p>
            <a:pPr algn="l" indent="0" marL="0">
              <a:spcAft>
                <a:spcPts val="200"/>
              </a:spcAft>
              <a:buNone/>
            </a:pPr>
            <a:r>
              <a:rPr lang="en-US" sz="1000" dirty="0">
                <a:solidFill>
                  <a:srgbClr val="56666D"/>
                </a:solidFill>
                <a:latin typeface="Calibri" pitchFamily="34" charset="0"/>
                <a:ea typeface="Calibri" pitchFamily="34" charset="-122"/>
                <a:cs typeface="Calibri" pitchFamily="34" charset="-120"/>
              </a:rPr>
              <a:t>user vcsp, LIB_ALLOW_CIDRS, GET/HEAD only, no links inside, JSON no-cache</a:t>
            </a:r>
            <a:endParaRPr lang="en-US" sz="1200" dirty="0"/>
          </a:p>
        </p:txBody>
      </p:sp>
      <p:sp>
        <p:nvSpPr>
          <p:cNvPr id="21" name="Shape 18"/>
          <p:cNvSpPr/>
          <p:nvPr/>
        </p:nvSpPr>
        <p:spPr>
          <a:xfrm>
            <a:off x="6172200" y="2034540"/>
            <a:ext cx="548640" cy="0"/>
          </a:xfrm>
          <a:prstGeom prst="line">
            <a:avLst/>
          </a:prstGeom>
          <a:noFill/>
          <a:ln w="19050">
            <a:solidFill>
              <a:srgbClr val="5B6B70"/>
            </a:solidFill>
            <a:prstDash val="solid"/>
            <a:headEnd type="none"/>
            <a:tailEnd type="triangle"/>
          </a:ln>
        </p:spPr>
      </p:sp>
      <p:sp>
        <p:nvSpPr>
          <p:cNvPr id="22" name="Text 19"/>
          <p:cNvSpPr/>
          <p:nvPr/>
        </p:nvSpPr>
        <p:spPr>
          <a:xfrm>
            <a:off x="6720840" y="2560320"/>
            <a:ext cx="1417320" cy="777240"/>
          </a:xfrm>
          <a:prstGeom prst="roundRect">
            <a:avLst>
              <a:gd name="adj" fmla="val 9412"/>
            </a:avLst>
          </a:prstGeom>
          <a:solidFill>
            <a:srgbClr val="13212B"/>
          </a:solidFill>
          <a:ln w="12700">
            <a:solidFill>
              <a:srgbClr val="13212B"/>
            </a:solidFill>
            <a:prstDash val="solid"/>
          </a:ln>
        </p:spPr>
        <p:txBody>
          <a:bodyPr wrap="square" lIns="63500" tIns="63500" rIns="63500" bIns="6350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/upload/</a:t>
            </a:r>
            <a:endParaRPr lang="en-US" sz="1300" dirty="0"/>
          </a:p>
        </p:txBody>
      </p:sp>
      <p:sp>
        <p:nvSpPr>
          <p:cNvPr id="23" name="Text 20"/>
          <p:cNvSpPr/>
          <p:nvPr/>
        </p:nvSpPr>
        <p:spPr>
          <a:xfrm>
            <a:off x="8275320" y="2560320"/>
            <a:ext cx="3364992" cy="777240"/>
          </a:xfrm>
          <a:prstGeom prst="roundRect">
            <a:avLst>
              <a:gd name="adj" fmla="val 9412"/>
            </a:avLst>
          </a:prstGeom>
          <a:solidFill>
            <a:srgbClr val="FFFFFF"/>
          </a:solidFill>
          <a:ln w="12700">
            <a:solidFill>
              <a:srgbClr val="9EAEA8"/>
            </a:solidFill>
            <a:prstDash val="solid"/>
          </a:ln>
        </p:spPr>
        <p:txBody>
          <a:bodyPr wrap="square" lIns="76200" tIns="76200" rIns="76200" bIns="76200" rtlCol="0" anchor="t"/>
          <a:lstStyle/>
          <a:p>
            <a:pPr algn="l" indent="0" marL="0">
              <a:spcAft>
                <a:spcPts val="200"/>
              </a:spcAft>
              <a:buNone/>
            </a:pPr>
            <a:r>
              <a:rPr lang="en-US" sz="1200" b="1" dirty="0">
                <a:solidFill>
                  <a:srgbClr val="13212B"/>
                </a:solidFill>
                <a:latin typeface="Calibri" pitchFamily="34" charset="0"/>
                <a:ea typeface="Calibri" pitchFamily="34" charset="-122"/>
                <a:cs typeface="Calibri" pitchFamily="34" charset="-120"/>
              </a:rPr>
              <a:t>Portal UI from /opt/vcsp/app/static</a:t>
            </a:r>
            <a:endParaRPr lang="en-US" sz="1200" dirty="0"/>
          </a:p>
          <a:p>
            <a:pPr algn="l" indent="0" marL="0">
              <a:spcAft>
                <a:spcPts val="200"/>
              </a:spcAft>
              <a:buNone/>
            </a:pPr>
            <a:r>
              <a:rPr lang="en-US" sz="1000" dirty="0">
                <a:solidFill>
                  <a:srgbClr val="56666D"/>
                </a:solidFill>
                <a:latin typeface="Calibri" pitchFamily="34" charset="0"/>
                <a:ea typeface="Calibri" pitchFamily="34" charset="-122"/>
                <a:cs typeface="Calibri" pitchFamily="34" charset="-120"/>
              </a:rPr>
              <a:t>admin sign-in, ADMIN_ALLOW_CIDRS, 20 requests/s</a:t>
            </a:r>
            <a:endParaRPr lang="en-US" sz="1200" dirty="0"/>
          </a:p>
        </p:txBody>
      </p:sp>
      <p:sp>
        <p:nvSpPr>
          <p:cNvPr id="24" name="Shape 21"/>
          <p:cNvSpPr/>
          <p:nvPr/>
        </p:nvSpPr>
        <p:spPr>
          <a:xfrm>
            <a:off x="6172200" y="2948940"/>
            <a:ext cx="548640" cy="0"/>
          </a:xfrm>
          <a:prstGeom prst="line">
            <a:avLst/>
          </a:prstGeom>
          <a:noFill/>
          <a:ln w="19050">
            <a:solidFill>
              <a:srgbClr val="5B6B70"/>
            </a:solidFill>
            <a:prstDash val="solid"/>
            <a:headEnd type="none"/>
            <a:tailEnd type="triangle"/>
          </a:ln>
        </p:spPr>
      </p:sp>
      <p:sp>
        <p:nvSpPr>
          <p:cNvPr id="25" name="Text 22"/>
          <p:cNvSpPr/>
          <p:nvPr/>
        </p:nvSpPr>
        <p:spPr>
          <a:xfrm>
            <a:off x="6720840" y="3474720"/>
            <a:ext cx="1417320" cy="777240"/>
          </a:xfrm>
          <a:prstGeom prst="roundRect">
            <a:avLst>
              <a:gd name="adj" fmla="val 9412"/>
            </a:avLst>
          </a:prstGeom>
          <a:solidFill>
            <a:srgbClr val="13212B"/>
          </a:solidFill>
          <a:ln w="12700">
            <a:solidFill>
              <a:srgbClr val="13212B"/>
            </a:solidFill>
            <a:prstDash val="solid"/>
          </a:ln>
        </p:spPr>
        <p:txBody>
          <a:bodyPr wrap="square" lIns="63500" tIns="63500" rIns="63500" bIns="6350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/upload/api/</a:t>
            </a:r>
            <a:endParaRPr lang="en-US" sz="1300" dirty="0"/>
          </a:p>
        </p:txBody>
      </p:sp>
      <p:sp>
        <p:nvSpPr>
          <p:cNvPr id="26" name="Text 23"/>
          <p:cNvSpPr/>
          <p:nvPr/>
        </p:nvSpPr>
        <p:spPr>
          <a:xfrm>
            <a:off x="8275320" y="3474720"/>
            <a:ext cx="3364992" cy="777240"/>
          </a:xfrm>
          <a:prstGeom prst="roundRect">
            <a:avLst>
              <a:gd name="adj" fmla="val 9412"/>
            </a:avLst>
          </a:prstGeom>
          <a:solidFill>
            <a:srgbClr val="FFFFFF"/>
          </a:solidFill>
          <a:ln w="12700">
            <a:solidFill>
              <a:srgbClr val="9EAEA8"/>
            </a:solidFill>
            <a:prstDash val="solid"/>
          </a:ln>
        </p:spPr>
        <p:txBody>
          <a:bodyPr wrap="square" lIns="76200" tIns="76200" rIns="76200" bIns="76200" rtlCol="0" anchor="t"/>
          <a:lstStyle/>
          <a:p>
            <a:pPr algn="l" indent="0" marL="0">
              <a:spcAft>
                <a:spcPts val="200"/>
              </a:spcAft>
              <a:buNone/>
            </a:pPr>
            <a:r>
              <a:rPr lang="en-US" sz="1200" b="1" dirty="0">
                <a:solidFill>
                  <a:srgbClr val="13212B"/>
                </a:solidFill>
                <a:latin typeface="Calibri" pitchFamily="34" charset="0"/>
                <a:ea typeface="Calibri" pitchFamily="34" charset="-122"/>
                <a:cs typeface="Calibri" pitchFamily="34" charset="-120"/>
              </a:rPr>
              <a:t>Proxy to 127.0.0.1:8080</a:t>
            </a:r>
            <a:endParaRPr lang="en-US" sz="1200" dirty="0"/>
          </a:p>
          <a:p>
            <a:pPr algn="l" indent="0" marL="0">
              <a:spcAft>
                <a:spcPts val="200"/>
              </a:spcAft>
              <a:buNone/>
            </a:pPr>
            <a:r>
              <a:rPr lang="en-US" sz="1000" dirty="0">
                <a:solidFill>
                  <a:srgbClr val="56666D"/>
                </a:solidFill>
                <a:latin typeface="Calibri" pitchFamily="34" charset="0"/>
                <a:ea typeface="Calibri" pitchFamily="34" charset="-122"/>
                <a:cs typeface="Calibri" pitchFamily="34" charset="-120"/>
              </a:rPr>
              <a:t>body up to chunk + 1 MiB, unbuffered, X-Remote-User, 900 s timeouts</a:t>
            </a:r>
            <a:endParaRPr lang="en-US" sz="1200" dirty="0"/>
          </a:p>
        </p:txBody>
      </p:sp>
      <p:sp>
        <p:nvSpPr>
          <p:cNvPr id="27" name="Shape 24"/>
          <p:cNvSpPr/>
          <p:nvPr/>
        </p:nvSpPr>
        <p:spPr>
          <a:xfrm>
            <a:off x="6172200" y="3863340"/>
            <a:ext cx="548640" cy="0"/>
          </a:xfrm>
          <a:prstGeom prst="line">
            <a:avLst/>
          </a:prstGeom>
          <a:noFill/>
          <a:ln w="19050">
            <a:solidFill>
              <a:srgbClr val="5B6B70"/>
            </a:solidFill>
            <a:prstDash val="solid"/>
            <a:headEnd type="none"/>
            <a:tailEnd type="triangle"/>
          </a:ln>
        </p:spPr>
      </p:sp>
      <p:sp>
        <p:nvSpPr>
          <p:cNvPr id="28" name="Text 25"/>
          <p:cNvSpPr/>
          <p:nvPr/>
        </p:nvSpPr>
        <p:spPr>
          <a:xfrm>
            <a:off x="6720840" y="4389120"/>
            <a:ext cx="1417320" cy="777240"/>
          </a:xfrm>
          <a:prstGeom prst="roundRect">
            <a:avLst>
              <a:gd name="adj" fmla="val 9412"/>
            </a:avLst>
          </a:prstGeom>
          <a:solidFill>
            <a:srgbClr val="13212B"/>
          </a:solidFill>
          <a:ln w="12700">
            <a:solidFill>
              <a:srgbClr val="13212B"/>
            </a:solidFill>
            <a:prstDash val="solid"/>
          </a:ln>
        </p:spPr>
        <p:txBody>
          <a:bodyPr wrap="square" lIns="63500" tIns="63500" rIns="63500" bIns="6350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 /\.</a:t>
            </a:r>
            <a:endParaRPr lang="en-US" sz="1300" dirty="0"/>
          </a:p>
        </p:txBody>
      </p:sp>
      <p:sp>
        <p:nvSpPr>
          <p:cNvPr id="29" name="Text 26"/>
          <p:cNvSpPr/>
          <p:nvPr/>
        </p:nvSpPr>
        <p:spPr>
          <a:xfrm>
            <a:off x="8275320" y="4389120"/>
            <a:ext cx="3364992" cy="777240"/>
          </a:xfrm>
          <a:prstGeom prst="roundRect">
            <a:avLst>
              <a:gd name="adj" fmla="val 9412"/>
            </a:avLst>
          </a:prstGeom>
          <a:solidFill>
            <a:srgbClr val="FFFFFF"/>
          </a:solidFill>
          <a:ln w="12700">
            <a:solidFill>
              <a:srgbClr val="9EAEA8"/>
            </a:solidFill>
            <a:prstDash val="solid"/>
          </a:ln>
        </p:spPr>
        <p:txBody>
          <a:bodyPr wrap="square" lIns="76200" tIns="76200" rIns="76200" bIns="76200" rtlCol="0" anchor="t"/>
          <a:lstStyle/>
          <a:p>
            <a:pPr algn="l" indent="0" marL="0">
              <a:spcAft>
                <a:spcPts val="200"/>
              </a:spcAft>
              <a:buNone/>
            </a:pPr>
            <a:r>
              <a:rPr lang="en-US" sz="1200" b="1" dirty="0">
                <a:solidFill>
                  <a:srgbClr val="13212B"/>
                </a:solidFill>
                <a:latin typeface="Calibri" pitchFamily="34" charset="0"/>
                <a:ea typeface="Calibri" pitchFamily="34" charset="-122"/>
                <a:cs typeface="Calibri" pitchFamily="34" charset="-120"/>
              </a:rPr>
              <a:t>Dot-files</a:t>
            </a:r>
            <a:endParaRPr lang="en-US" sz="1200" dirty="0"/>
          </a:p>
          <a:p>
            <a:pPr algn="l" indent="0" marL="0">
              <a:spcAft>
                <a:spcPts val="200"/>
              </a:spcAft>
              <a:buNone/>
            </a:pPr>
            <a:r>
              <a:rPr lang="en-US" sz="1000" dirty="0">
                <a:solidFill>
                  <a:srgbClr val="56666D"/>
                </a:solidFill>
                <a:latin typeface="Calibri" pitchFamily="34" charset="0"/>
                <a:ea typeface="Calibri" pitchFamily="34" charset="-122"/>
                <a:cs typeface="Calibri" pitchFamily="34" charset="-120"/>
              </a:rPr>
              <a:t>always 404: temp files and .vcsp-meta.json are never served</a:t>
            </a:r>
            <a:endParaRPr lang="en-US" sz="1200" dirty="0"/>
          </a:p>
        </p:txBody>
      </p:sp>
      <p:sp>
        <p:nvSpPr>
          <p:cNvPr id="30" name="Shape 27"/>
          <p:cNvSpPr/>
          <p:nvPr/>
        </p:nvSpPr>
        <p:spPr>
          <a:xfrm>
            <a:off x="6172200" y="4777740"/>
            <a:ext cx="548640" cy="0"/>
          </a:xfrm>
          <a:prstGeom prst="line">
            <a:avLst/>
          </a:prstGeom>
          <a:noFill/>
          <a:ln w="19050">
            <a:solidFill>
              <a:srgbClr val="5B6B70"/>
            </a:solidFill>
            <a:prstDash val="solid"/>
            <a:headEnd type="none"/>
            <a:tailEnd type="triangle"/>
          </a:ln>
        </p:spPr>
      </p:sp>
      <p:sp>
        <p:nvSpPr>
          <p:cNvPr id="31" name="Text 28"/>
          <p:cNvSpPr/>
          <p:nvPr/>
        </p:nvSpPr>
        <p:spPr>
          <a:xfrm>
            <a:off x="6720840" y="5303520"/>
            <a:ext cx="1417320" cy="777240"/>
          </a:xfrm>
          <a:prstGeom prst="roundRect">
            <a:avLst>
              <a:gd name="adj" fmla="val 9412"/>
            </a:avLst>
          </a:prstGeom>
          <a:solidFill>
            <a:srgbClr val="13212B"/>
          </a:solidFill>
          <a:ln w="12700">
            <a:solidFill>
              <a:srgbClr val="13212B"/>
            </a:solidFill>
            <a:prstDash val="solid"/>
          </a:ln>
        </p:spPr>
        <p:txBody>
          <a:bodyPr wrap="square" lIns="63500" tIns="63500" rIns="63500" bIns="6350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32" name="Text 29"/>
          <p:cNvSpPr/>
          <p:nvPr/>
        </p:nvSpPr>
        <p:spPr>
          <a:xfrm>
            <a:off x="8275320" y="5303520"/>
            <a:ext cx="3364992" cy="777240"/>
          </a:xfrm>
          <a:prstGeom prst="roundRect">
            <a:avLst>
              <a:gd name="adj" fmla="val 9412"/>
            </a:avLst>
          </a:prstGeom>
          <a:solidFill>
            <a:srgbClr val="FFFFFF"/>
          </a:solidFill>
          <a:ln w="12700">
            <a:solidFill>
              <a:srgbClr val="9EAEA8"/>
            </a:solidFill>
            <a:prstDash val="solid"/>
          </a:ln>
        </p:spPr>
        <p:txBody>
          <a:bodyPr wrap="square" lIns="76200" tIns="76200" rIns="76200" bIns="76200" rtlCol="0" anchor="t"/>
          <a:lstStyle/>
          <a:p>
            <a:pPr algn="l" indent="0" marL="0">
              <a:spcAft>
                <a:spcPts val="200"/>
              </a:spcAft>
              <a:buNone/>
            </a:pPr>
            <a:r>
              <a:rPr lang="en-US" sz="1200" b="1" dirty="0">
                <a:solidFill>
                  <a:srgbClr val="13212B"/>
                </a:solidFill>
                <a:latin typeface="Calibri" pitchFamily="34" charset="0"/>
                <a:ea typeface="Calibri" pitchFamily="34" charset="-122"/>
                <a:cs typeface="Calibri" pitchFamily="34" charset="-120"/>
              </a:rPr>
              <a:t>Root</a:t>
            </a:r>
            <a:endParaRPr lang="en-US" sz="1200" dirty="0"/>
          </a:p>
          <a:p>
            <a:pPr algn="l" indent="0" marL="0">
              <a:spcAft>
                <a:spcPts val="200"/>
              </a:spcAft>
              <a:buNone/>
            </a:pPr>
            <a:r>
              <a:rPr lang="en-US" sz="1000" dirty="0">
                <a:solidFill>
                  <a:srgbClr val="56666D"/>
                </a:solidFill>
                <a:latin typeface="Calibri" pitchFamily="34" charset="0"/>
                <a:ea typeface="Calibri" pitchFamily="34" charset="-122"/>
                <a:cs typeface="Calibri" pitchFamily="34" charset="-120"/>
              </a:rPr>
              <a:t>302 to /upload/; any other path returns 404</a:t>
            </a:r>
            <a:endParaRPr lang="en-US" sz="1200" dirty="0"/>
          </a:p>
        </p:txBody>
      </p:sp>
      <p:sp>
        <p:nvSpPr>
          <p:cNvPr id="33" name="Shape 30"/>
          <p:cNvSpPr/>
          <p:nvPr/>
        </p:nvSpPr>
        <p:spPr>
          <a:xfrm>
            <a:off x="6172200" y="5692140"/>
            <a:ext cx="548640" cy="0"/>
          </a:xfrm>
          <a:prstGeom prst="line">
            <a:avLst/>
          </a:prstGeom>
          <a:noFill/>
          <a:ln w="19050">
            <a:solidFill>
              <a:srgbClr val="5B6B70"/>
            </a:solidFill>
            <a:prstDash val="solid"/>
            <a:headEnd type="none"/>
            <a:tailEnd type="triangl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Upload and publish sequence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9 / 14</a:t>
            </a:r>
            <a:endParaRPr lang="en-US" sz="900" dirty="0"/>
          </a:p>
        </p:txBody>
      </p:sp>
      <p:sp>
        <p:nvSpPr>
          <p:cNvPr id="7" name="Text 4"/>
          <p:cNvSpPr/>
          <p:nvPr/>
        </p:nvSpPr>
        <p:spPr>
          <a:xfrm>
            <a:off x="502920" y="1508760"/>
            <a:ext cx="1188720" cy="457200"/>
          </a:xfrm>
          <a:prstGeom prst="roundRect">
            <a:avLst>
              <a:gd name="adj" fmla="val 16000"/>
            </a:avLst>
          </a:prstGeom>
          <a:solidFill>
            <a:srgbClr val="FFFFFF"/>
          </a:solidFill>
          <a:ln w="12700">
            <a:solidFill>
              <a:srgbClr val="0E6B5A"/>
            </a:solidFill>
            <a:prstDash val="solid"/>
          </a:ln>
        </p:spPr>
        <p:txBody>
          <a:bodyPr wrap="square" lIns="25400" tIns="25400" rIns="25400" bIns="25400" rtlCol="0" anchor="ctr"/>
          <a:lstStyle/>
          <a:p>
            <a:pPr algn="ctr" indent="0" marL="0">
              <a:buNone/>
            </a:pPr>
            <a:r>
              <a:rPr lang="en-US" sz="1050" b="1" dirty="0">
                <a:solidFill>
                  <a:srgbClr val="13212B"/>
                </a:solidFill>
                <a:latin typeface="Calibri" pitchFamily="34" charset="0"/>
                <a:ea typeface="Calibri" pitchFamily="34" charset="-122"/>
                <a:cs typeface="Calibri" pitchFamily="34" charset="-120"/>
              </a:rPr>
              <a:t>Browser</a:t>
            </a:r>
            <a:endParaRPr lang="en-US" sz="1050" dirty="0"/>
          </a:p>
        </p:txBody>
      </p:sp>
      <p:sp>
        <p:nvSpPr>
          <p:cNvPr id="8" name="Shape 5"/>
          <p:cNvSpPr/>
          <p:nvPr/>
        </p:nvSpPr>
        <p:spPr>
          <a:xfrm>
            <a:off x="1097280" y="1965960"/>
            <a:ext cx="0" cy="4325112"/>
          </a:xfrm>
          <a:prstGeom prst="line">
            <a:avLst/>
          </a:prstGeom>
          <a:noFill/>
          <a:ln w="12700">
            <a:solidFill>
              <a:srgbClr val="9EAEA8"/>
            </a:solidFill>
            <a:prstDash val="dash"/>
            <a:headEnd type="none"/>
            <a:tailEnd type="none"/>
          </a:ln>
        </p:spPr>
      </p:sp>
      <p:sp>
        <p:nvSpPr>
          <p:cNvPr id="9" name="Text 6"/>
          <p:cNvSpPr/>
          <p:nvPr/>
        </p:nvSpPr>
        <p:spPr>
          <a:xfrm>
            <a:off x="2400300" y="1508760"/>
            <a:ext cx="1325880" cy="457200"/>
          </a:xfrm>
          <a:prstGeom prst="roundRect">
            <a:avLst>
              <a:gd name="adj" fmla="val 16000"/>
            </a:avLst>
          </a:prstGeom>
          <a:solidFill>
            <a:srgbClr val="13212B"/>
          </a:solidFill>
          <a:ln w="12700">
            <a:solidFill>
              <a:srgbClr val="13212B"/>
            </a:solidFill>
            <a:prstDash val="solid"/>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nginx</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proxy for all calls</a:t>
            </a:r>
            <a:endParaRPr lang="en-US" sz="1050" dirty="0"/>
          </a:p>
        </p:txBody>
      </p:sp>
      <p:sp>
        <p:nvSpPr>
          <p:cNvPr id="10" name="Shape 7"/>
          <p:cNvSpPr/>
          <p:nvPr/>
        </p:nvSpPr>
        <p:spPr>
          <a:xfrm>
            <a:off x="3063240" y="1965960"/>
            <a:ext cx="0" cy="4325112"/>
          </a:xfrm>
          <a:prstGeom prst="line">
            <a:avLst/>
          </a:prstGeom>
          <a:noFill/>
          <a:ln w="12700">
            <a:solidFill>
              <a:srgbClr val="9EAEA8"/>
            </a:solidFill>
            <a:prstDash val="dash"/>
            <a:headEnd type="none"/>
            <a:tailEnd type="none"/>
          </a:ln>
        </p:spPr>
      </p:sp>
      <p:sp>
        <p:nvSpPr>
          <p:cNvPr id="11" name="Text 8"/>
          <p:cNvSpPr/>
          <p:nvPr/>
        </p:nvSpPr>
        <p:spPr>
          <a:xfrm>
            <a:off x="4572000" y="1508760"/>
            <a:ext cx="1828800" cy="457200"/>
          </a:xfrm>
          <a:prstGeom prst="roundRect">
            <a:avLst>
              <a:gd name="adj" fmla="val 16000"/>
            </a:avLst>
          </a:prstGeom>
          <a:solidFill>
            <a:srgbClr val="0E6B5A"/>
          </a:solidFill>
          <a:ln w="12700">
            <a:solidFill>
              <a:srgbClr val="0E6B5A"/>
            </a:solidFill>
            <a:prstDash val="solid"/>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vcsp-upload</a:t>
            </a:r>
            <a:endParaRPr lang="en-US" sz="1050" dirty="0"/>
          </a:p>
        </p:txBody>
      </p:sp>
      <p:sp>
        <p:nvSpPr>
          <p:cNvPr id="12" name="Shape 9"/>
          <p:cNvSpPr/>
          <p:nvPr/>
        </p:nvSpPr>
        <p:spPr>
          <a:xfrm>
            <a:off x="5486400" y="1965960"/>
            <a:ext cx="0" cy="4325112"/>
          </a:xfrm>
          <a:prstGeom prst="line">
            <a:avLst/>
          </a:prstGeom>
          <a:noFill/>
          <a:ln w="12700">
            <a:solidFill>
              <a:srgbClr val="9EAEA8"/>
            </a:solidFill>
            <a:prstDash val="dash"/>
            <a:headEnd type="none"/>
            <a:tailEnd type="none"/>
          </a:ln>
        </p:spPr>
      </p:sp>
      <p:sp>
        <p:nvSpPr>
          <p:cNvPr id="13" name="Text 10"/>
          <p:cNvSpPr/>
          <p:nvPr/>
        </p:nvSpPr>
        <p:spPr>
          <a:xfrm>
            <a:off x="7406640" y="1508760"/>
            <a:ext cx="2011680" cy="457200"/>
          </a:xfrm>
          <a:prstGeom prst="roundRect">
            <a:avLst>
              <a:gd name="adj" fmla="val 16000"/>
            </a:avLst>
          </a:prstGeom>
          <a:solidFill>
            <a:srgbClr val="DCEBE6"/>
          </a:solidFill>
          <a:ln w="12700">
            <a:solidFill>
              <a:srgbClr val="0E6B5A"/>
            </a:solidFill>
            <a:prstDash val="solid"/>
          </a:ln>
        </p:spPr>
        <p:txBody>
          <a:bodyPr wrap="square" lIns="25400" tIns="25400" rIns="25400" bIns="25400" rtlCol="0" anchor="ctr"/>
          <a:lstStyle/>
          <a:p>
            <a:pPr algn="ctr" indent="0" marL="0">
              <a:buNone/>
            </a:pPr>
            <a:r>
              <a:rPr lang="en-US" sz="1050" b="1" dirty="0">
                <a:solidFill>
                  <a:srgbClr val="13212B"/>
                </a:solidFill>
                <a:latin typeface="Calibri" pitchFamily="34" charset="0"/>
                <a:ea typeface="Calibri" pitchFamily="34" charset="-122"/>
                <a:cs typeface="Calibri" pitchFamily="34" charset="-120"/>
              </a:rPr>
              <a:t>Staging and library</a:t>
            </a:r>
            <a:endParaRPr lang="en-US" sz="1050" dirty="0"/>
          </a:p>
          <a:p>
            <a:pPr algn="ctr" indent="0" marL="0">
              <a:buNone/>
            </a:pPr>
            <a:r>
              <a:rPr lang="en-US" sz="1050" b="1" dirty="0">
                <a:solidFill>
                  <a:srgbClr val="13212B"/>
                </a:solidFill>
                <a:latin typeface="Calibri" pitchFamily="34" charset="0"/>
                <a:ea typeface="Calibri" pitchFamily="34" charset="-122"/>
                <a:cs typeface="Calibri" pitchFamily="34" charset="-120"/>
              </a:rPr>
              <a:t>filesystem</a:t>
            </a:r>
            <a:endParaRPr lang="en-US" sz="1050" dirty="0"/>
          </a:p>
        </p:txBody>
      </p:sp>
      <p:sp>
        <p:nvSpPr>
          <p:cNvPr id="14" name="Shape 11"/>
          <p:cNvSpPr/>
          <p:nvPr/>
        </p:nvSpPr>
        <p:spPr>
          <a:xfrm>
            <a:off x="8412480" y="1965960"/>
            <a:ext cx="0" cy="4325112"/>
          </a:xfrm>
          <a:prstGeom prst="line">
            <a:avLst/>
          </a:prstGeom>
          <a:noFill/>
          <a:ln w="12700">
            <a:solidFill>
              <a:srgbClr val="9EAEA8"/>
            </a:solidFill>
            <a:prstDash val="dash"/>
            <a:headEnd type="none"/>
            <a:tailEnd type="none"/>
          </a:ln>
        </p:spPr>
      </p:sp>
      <p:sp>
        <p:nvSpPr>
          <p:cNvPr id="15" name="Text 12"/>
          <p:cNvSpPr/>
          <p:nvPr/>
        </p:nvSpPr>
        <p:spPr>
          <a:xfrm>
            <a:off x="10195560" y="1508760"/>
            <a:ext cx="1371600" cy="457200"/>
          </a:xfrm>
          <a:prstGeom prst="roundRect">
            <a:avLst>
              <a:gd name="adj" fmla="val 16000"/>
            </a:avLst>
          </a:prstGeom>
          <a:solidFill>
            <a:srgbClr val="0E6B5A"/>
          </a:solidFill>
          <a:ln w="12700">
            <a:solidFill>
              <a:srgbClr val="0E6B5A"/>
            </a:solidFill>
            <a:prstDash val="solid"/>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vcsp-index</a:t>
            </a:r>
            <a:endParaRPr lang="en-US" sz="1050" dirty="0"/>
          </a:p>
        </p:txBody>
      </p:sp>
      <p:sp>
        <p:nvSpPr>
          <p:cNvPr id="16" name="Shape 13"/>
          <p:cNvSpPr/>
          <p:nvPr/>
        </p:nvSpPr>
        <p:spPr>
          <a:xfrm>
            <a:off x="10881360" y="1965960"/>
            <a:ext cx="0" cy="4325112"/>
          </a:xfrm>
          <a:prstGeom prst="line">
            <a:avLst/>
          </a:prstGeom>
          <a:noFill/>
          <a:ln w="12700">
            <a:solidFill>
              <a:srgbClr val="9EAEA8"/>
            </a:solidFill>
            <a:prstDash val="dash"/>
            <a:headEnd type="none"/>
            <a:tailEnd type="none"/>
          </a:ln>
        </p:spPr>
      </p:sp>
      <p:sp>
        <p:nvSpPr>
          <p:cNvPr id="17" name="Text 14"/>
          <p:cNvSpPr txBox="1"/>
          <p:nvPr/>
        </p:nvSpPr>
        <p:spPr>
          <a:xfrm>
            <a:off x="1170432" y="2194560"/>
            <a:ext cx="181965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POST /api/uploads {item, file, size}</a:t>
            </a:r>
            <a:endParaRPr lang="en-US" sz="950" dirty="0"/>
          </a:p>
        </p:txBody>
      </p:sp>
      <p:sp>
        <p:nvSpPr>
          <p:cNvPr id="18" name="Shape 15"/>
          <p:cNvSpPr/>
          <p:nvPr/>
        </p:nvSpPr>
        <p:spPr>
          <a:xfrm>
            <a:off x="1097280" y="2432304"/>
            <a:ext cx="1965960" cy="0"/>
          </a:xfrm>
          <a:prstGeom prst="line">
            <a:avLst/>
          </a:prstGeom>
          <a:noFill/>
          <a:ln w="15875">
            <a:solidFill>
              <a:srgbClr val="5B6B70"/>
            </a:solidFill>
            <a:prstDash val="solid"/>
            <a:headEnd type="none"/>
            <a:tailEnd type="triangle"/>
          </a:ln>
        </p:spPr>
      </p:sp>
      <p:sp>
        <p:nvSpPr>
          <p:cNvPr id="19" name="Text 16"/>
          <p:cNvSpPr txBox="1"/>
          <p:nvPr/>
        </p:nvSpPr>
        <p:spPr>
          <a:xfrm>
            <a:off x="3136392" y="2523744"/>
            <a:ext cx="227685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proxy: TLS ended, X-Remote-User</a:t>
            </a:r>
            <a:endParaRPr lang="en-US" sz="950" dirty="0"/>
          </a:p>
        </p:txBody>
      </p:sp>
      <p:sp>
        <p:nvSpPr>
          <p:cNvPr id="20" name="Shape 17"/>
          <p:cNvSpPr/>
          <p:nvPr/>
        </p:nvSpPr>
        <p:spPr>
          <a:xfrm>
            <a:off x="3063240" y="2761488"/>
            <a:ext cx="2423160" cy="0"/>
          </a:xfrm>
          <a:prstGeom prst="line">
            <a:avLst/>
          </a:prstGeom>
          <a:noFill/>
          <a:ln w="15875">
            <a:solidFill>
              <a:srgbClr val="5B6B70"/>
            </a:solidFill>
            <a:prstDash val="solid"/>
            <a:headEnd type="none"/>
            <a:tailEnd type="triangle"/>
          </a:ln>
        </p:spPr>
      </p:sp>
      <p:sp>
        <p:nvSpPr>
          <p:cNvPr id="21" name="Text 18"/>
          <p:cNvSpPr txBox="1"/>
          <p:nvPr/>
        </p:nvSpPr>
        <p:spPr>
          <a:xfrm>
            <a:off x="1170432" y="2852928"/>
            <a:ext cx="424281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{id, offset}: where to resume</a:t>
            </a:r>
            <a:endParaRPr lang="en-US" sz="950" dirty="0"/>
          </a:p>
        </p:txBody>
      </p:sp>
      <p:sp>
        <p:nvSpPr>
          <p:cNvPr id="22" name="Shape 19"/>
          <p:cNvSpPr/>
          <p:nvPr/>
        </p:nvSpPr>
        <p:spPr>
          <a:xfrm flipH="1">
            <a:off x="1097280" y="3090672"/>
            <a:ext cx="4389120" cy="0"/>
          </a:xfrm>
          <a:prstGeom prst="line">
            <a:avLst/>
          </a:prstGeom>
          <a:noFill/>
          <a:ln w="15875">
            <a:solidFill>
              <a:srgbClr val="56666D"/>
            </a:solidFill>
            <a:prstDash val="dash"/>
            <a:headEnd type="none"/>
            <a:tailEnd type="triangle"/>
          </a:ln>
        </p:spPr>
      </p:sp>
      <p:sp>
        <p:nvSpPr>
          <p:cNvPr id="23" name="Text 20"/>
          <p:cNvSpPr txBox="1"/>
          <p:nvPr/>
        </p:nvSpPr>
        <p:spPr>
          <a:xfrm>
            <a:off x="1170432" y="3182112"/>
            <a:ext cx="424281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PUT chunk, Content-Range: bytes a-b/total  (repeated)</a:t>
            </a:r>
            <a:endParaRPr lang="en-US" sz="950" dirty="0"/>
          </a:p>
        </p:txBody>
      </p:sp>
      <p:sp>
        <p:nvSpPr>
          <p:cNvPr id="24" name="Shape 21"/>
          <p:cNvSpPr/>
          <p:nvPr/>
        </p:nvSpPr>
        <p:spPr>
          <a:xfrm>
            <a:off x="1097280" y="3419856"/>
            <a:ext cx="4389120" cy="0"/>
          </a:xfrm>
          <a:prstGeom prst="line">
            <a:avLst/>
          </a:prstGeom>
          <a:noFill/>
          <a:ln w="15875">
            <a:solidFill>
              <a:srgbClr val="5B6B70"/>
            </a:solidFill>
            <a:prstDash val="solid"/>
            <a:headEnd type="none"/>
            <a:tailEnd type="triangle"/>
          </a:ln>
        </p:spPr>
      </p:sp>
      <p:sp>
        <p:nvSpPr>
          <p:cNvPr id="25" name="Text 22"/>
          <p:cNvSpPr txBox="1"/>
          <p:nvPr/>
        </p:nvSpPr>
        <p:spPr>
          <a:xfrm>
            <a:off x="5559552" y="3511296"/>
            <a:ext cx="277977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append uploads/&lt;id&gt;.part; magic bytes</a:t>
            </a:r>
            <a:endParaRPr lang="en-US" sz="950" dirty="0"/>
          </a:p>
        </p:txBody>
      </p:sp>
      <p:sp>
        <p:nvSpPr>
          <p:cNvPr id="26" name="Shape 23"/>
          <p:cNvSpPr/>
          <p:nvPr/>
        </p:nvSpPr>
        <p:spPr>
          <a:xfrm>
            <a:off x="5486400" y="3749040"/>
            <a:ext cx="2926080" cy="0"/>
          </a:xfrm>
          <a:prstGeom prst="line">
            <a:avLst/>
          </a:prstGeom>
          <a:noFill/>
          <a:ln w="15875">
            <a:solidFill>
              <a:srgbClr val="5B6B70"/>
            </a:solidFill>
            <a:prstDash val="solid"/>
            <a:headEnd type="none"/>
            <a:tailEnd type="triangle"/>
          </a:ln>
        </p:spPr>
      </p:sp>
      <p:sp>
        <p:nvSpPr>
          <p:cNvPr id="27" name="Text 24"/>
          <p:cNvSpPr txBox="1"/>
          <p:nvPr/>
        </p:nvSpPr>
        <p:spPr>
          <a:xfrm>
            <a:off x="5559552" y="3840480"/>
            <a:ext cx="277977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last chunk: fsync, move to ready/&lt;item&gt;/</a:t>
            </a:r>
            <a:endParaRPr lang="en-US" sz="950" dirty="0"/>
          </a:p>
        </p:txBody>
      </p:sp>
      <p:sp>
        <p:nvSpPr>
          <p:cNvPr id="28" name="Shape 25"/>
          <p:cNvSpPr/>
          <p:nvPr/>
        </p:nvSpPr>
        <p:spPr>
          <a:xfrm>
            <a:off x="5486400" y="4078224"/>
            <a:ext cx="2926080" cy="0"/>
          </a:xfrm>
          <a:prstGeom prst="line">
            <a:avLst/>
          </a:prstGeom>
          <a:noFill/>
          <a:ln w="15875">
            <a:solidFill>
              <a:srgbClr val="5B6B70"/>
            </a:solidFill>
            <a:prstDash val="solid"/>
            <a:headEnd type="none"/>
            <a:tailEnd type="triangle"/>
          </a:ln>
        </p:spPr>
      </p:sp>
      <p:sp>
        <p:nvSpPr>
          <p:cNvPr id="29" name="Text 26"/>
          <p:cNvSpPr txBox="1"/>
          <p:nvPr/>
        </p:nvSpPr>
        <p:spPr>
          <a:xfrm>
            <a:off x="1170432" y="4169664"/>
            <a:ext cx="424281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POST /api/items/&lt;item&gt;/publish</a:t>
            </a:r>
            <a:endParaRPr lang="en-US" sz="950" dirty="0"/>
          </a:p>
        </p:txBody>
      </p:sp>
      <p:sp>
        <p:nvSpPr>
          <p:cNvPr id="30" name="Shape 27"/>
          <p:cNvSpPr/>
          <p:nvPr/>
        </p:nvSpPr>
        <p:spPr>
          <a:xfrm>
            <a:off x="1097280" y="4407408"/>
            <a:ext cx="4389120" cy="0"/>
          </a:xfrm>
          <a:prstGeom prst="line">
            <a:avLst/>
          </a:prstGeom>
          <a:noFill/>
          <a:ln w="15875">
            <a:solidFill>
              <a:srgbClr val="5B6B70"/>
            </a:solidFill>
            <a:prstDash val="solid"/>
            <a:headEnd type="none"/>
            <a:tailEnd type="triangle"/>
          </a:ln>
        </p:spPr>
      </p:sp>
      <p:sp>
        <p:nvSpPr>
          <p:cNvPr id="31" name="Text 28"/>
          <p:cNvSpPr/>
          <p:nvPr/>
        </p:nvSpPr>
        <p:spPr>
          <a:xfrm>
            <a:off x="4160520" y="4517136"/>
            <a:ext cx="2651760" cy="292608"/>
          </a:xfrm>
          <a:prstGeom prst="roundRect">
            <a:avLst>
              <a:gd name="adj" fmla="val 25000"/>
            </a:avLst>
          </a:prstGeom>
          <a:solidFill>
            <a:srgbClr val="DCEBE6"/>
          </a:solidFill>
          <a:ln w="12700">
            <a:solidFill>
              <a:srgbClr val="0E6B5A"/>
            </a:solidFill>
            <a:prstDash val="solid"/>
          </a:ln>
        </p:spPr>
        <p:txBody>
          <a:bodyPr wrap="square" lIns="25400" tIns="25400" rIns="25400" bIns="2540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job: unpack OVA, check OVF refs, verify .mf</a:t>
            </a:r>
            <a:endParaRPr lang="en-US" sz="950" dirty="0"/>
          </a:p>
        </p:txBody>
      </p:sp>
      <p:sp>
        <p:nvSpPr>
          <p:cNvPr id="32" name="Text 29"/>
          <p:cNvSpPr txBox="1"/>
          <p:nvPr/>
        </p:nvSpPr>
        <p:spPr>
          <a:xfrm>
            <a:off x="5559552" y="4828032"/>
            <a:ext cx="277977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flock index.lock, rename into lib/&lt;item&gt;</a:t>
            </a:r>
            <a:endParaRPr lang="en-US" sz="950" dirty="0"/>
          </a:p>
        </p:txBody>
      </p:sp>
      <p:sp>
        <p:nvSpPr>
          <p:cNvPr id="33" name="Shape 30"/>
          <p:cNvSpPr/>
          <p:nvPr/>
        </p:nvSpPr>
        <p:spPr>
          <a:xfrm>
            <a:off x="5486400" y="5065776"/>
            <a:ext cx="2926080" cy="0"/>
          </a:xfrm>
          <a:prstGeom prst="line">
            <a:avLst/>
          </a:prstGeom>
          <a:noFill/>
          <a:ln w="15875">
            <a:solidFill>
              <a:srgbClr val="5B6B70"/>
            </a:solidFill>
            <a:prstDash val="solid"/>
            <a:headEnd type="none"/>
            <a:tailEnd type="triangle"/>
          </a:ln>
        </p:spPr>
      </p:sp>
      <p:sp>
        <p:nvSpPr>
          <p:cNvPr id="34" name="Text 31"/>
          <p:cNvSpPr txBox="1"/>
          <p:nvPr/>
        </p:nvSpPr>
        <p:spPr>
          <a:xfrm>
            <a:off x="5559552" y="5157216"/>
            <a:ext cx="524865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vcsp-index --only &lt;item&gt; --settle 0</a:t>
            </a:r>
            <a:endParaRPr lang="en-US" sz="950" dirty="0"/>
          </a:p>
        </p:txBody>
      </p:sp>
      <p:sp>
        <p:nvSpPr>
          <p:cNvPr id="35" name="Shape 32"/>
          <p:cNvSpPr/>
          <p:nvPr/>
        </p:nvSpPr>
        <p:spPr>
          <a:xfrm>
            <a:off x="5486400" y="5394960"/>
            <a:ext cx="5394960" cy="0"/>
          </a:xfrm>
          <a:prstGeom prst="line">
            <a:avLst/>
          </a:prstGeom>
          <a:noFill/>
          <a:ln w="15875">
            <a:solidFill>
              <a:srgbClr val="5B6B70"/>
            </a:solidFill>
            <a:prstDash val="solid"/>
            <a:headEnd type="none"/>
            <a:tailEnd type="triangle"/>
          </a:ln>
        </p:spPr>
      </p:sp>
      <p:sp>
        <p:nvSpPr>
          <p:cNvPr id="36" name="Text 33"/>
          <p:cNvSpPr txBox="1"/>
          <p:nvPr/>
        </p:nvSpPr>
        <p:spPr>
          <a:xfrm>
            <a:off x="8485632" y="5486400"/>
            <a:ext cx="232257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item.json, items.json, lib.json (v+1)</a:t>
            </a:r>
            <a:endParaRPr lang="en-US" sz="950" dirty="0"/>
          </a:p>
        </p:txBody>
      </p:sp>
      <p:sp>
        <p:nvSpPr>
          <p:cNvPr id="37" name="Shape 34"/>
          <p:cNvSpPr/>
          <p:nvPr/>
        </p:nvSpPr>
        <p:spPr>
          <a:xfrm flipH="1">
            <a:off x="8412480" y="5724144"/>
            <a:ext cx="2468880" cy="0"/>
          </a:xfrm>
          <a:prstGeom prst="line">
            <a:avLst/>
          </a:prstGeom>
          <a:noFill/>
          <a:ln w="15875">
            <a:solidFill>
              <a:srgbClr val="5B6B70"/>
            </a:solidFill>
            <a:prstDash val="solid"/>
            <a:headEnd type="none"/>
            <a:tailEnd type="triangle"/>
          </a:ln>
        </p:spPr>
      </p:sp>
      <p:sp>
        <p:nvSpPr>
          <p:cNvPr id="38" name="Text 35"/>
          <p:cNvSpPr txBox="1"/>
          <p:nvPr/>
        </p:nvSpPr>
        <p:spPr>
          <a:xfrm>
            <a:off x="1170432" y="5815584"/>
            <a:ext cx="4242816" cy="182880"/>
          </a:xfrm>
          <a:prstGeom prst="rect">
            <a:avLst/>
          </a:prstGeom>
          <a:solidFill>
            <a:srgbClr val="FFFFFF"/>
          </a:solidFill>
          <a:ln/>
        </p:spPr>
        <p:txBody>
          <a:bodyPr wrap="square" lIns="0" tIns="0" rIns="0" bIns="0" rtlCol="0" anchor="ctr"/>
          <a:lstStyle/>
          <a:p>
            <a:pPr algn="ctr" indent="0" marL="0">
              <a:buNone/>
            </a:pPr>
            <a:r>
              <a:rPr lang="en-US" sz="950" dirty="0">
                <a:solidFill>
                  <a:srgbClr val="13212B"/>
                </a:solidFill>
                <a:latin typeface="Calibri" pitchFamily="34" charset="0"/>
                <a:ea typeface="Calibri" pitchFamily="34" charset="-122"/>
                <a:cs typeface="Calibri" pitchFamily="34" charset="-120"/>
              </a:rPr>
              <a:t>GET /api/jobs/&lt;id&gt;: done, new versions</a:t>
            </a:r>
            <a:endParaRPr lang="en-US" sz="950" dirty="0"/>
          </a:p>
        </p:txBody>
      </p:sp>
      <p:sp>
        <p:nvSpPr>
          <p:cNvPr id="39" name="Shape 36"/>
          <p:cNvSpPr/>
          <p:nvPr/>
        </p:nvSpPr>
        <p:spPr>
          <a:xfrm flipH="1">
            <a:off x="1097280" y="6053328"/>
            <a:ext cx="4389120" cy="0"/>
          </a:xfrm>
          <a:prstGeom prst="line">
            <a:avLst/>
          </a:prstGeom>
          <a:noFill/>
          <a:ln w="15875">
            <a:solidFill>
              <a:srgbClr val="56666D"/>
            </a:solidFill>
            <a:prstDash val="dash"/>
            <a:headEnd type="none"/>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Indexer internals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10 / 14</a:t>
            </a:r>
            <a:endParaRPr lang="en-US" sz="900" dirty="0"/>
          </a:p>
        </p:txBody>
      </p:sp>
      <p:sp>
        <p:nvSpPr>
          <p:cNvPr id="7" name="Text 4"/>
          <p:cNvSpPr/>
          <p:nvPr/>
        </p:nvSpPr>
        <p:spPr>
          <a:xfrm>
            <a:off x="548640" y="1645920"/>
            <a:ext cx="1691640" cy="868680"/>
          </a:xfrm>
          <a:prstGeom prst="roundRect">
            <a:avLst>
              <a:gd name="adj" fmla="val 8421"/>
            </a:avLst>
          </a:prstGeom>
          <a:solidFill>
            <a:srgbClr val="FFFFFF"/>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Scan</a:t>
            </a:r>
            <a:endParaRPr lang="en-US" sz="1300" dirty="0"/>
          </a:p>
          <a:p>
            <a:pPr algn="l" indent="0" marL="0">
              <a:spcAft>
                <a:spcPts val="200"/>
              </a:spcAft>
              <a:buNone/>
            </a:pPr>
            <a:r>
              <a:rPr lang="en-US" sz="1050" dirty="0">
                <a:solidFill>
                  <a:srgbClr val="56666D"/>
                </a:solidFill>
                <a:latin typeface="Calibri" pitchFamily="34" charset="0"/>
                <a:ea typeface="Calibri" pitchFamily="34" charset="-122"/>
                <a:cs typeface="Calibri" pitchFamily="34" charset="-120"/>
              </a:rPr>
              <a:t>one scandir per item, one stat per file</a:t>
            </a:r>
            <a:endParaRPr lang="en-US" sz="1300" dirty="0"/>
          </a:p>
        </p:txBody>
      </p:sp>
      <p:sp>
        <p:nvSpPr>
          <p:cNvPr id="8" name="Shape 5"/>
          <p:cNvSpPr/>
          <p:nvPr/>
        </p:nvSpPr>
        <p:spPr>
          <a:xfrm>
            <a:off x="2240280" y="2080260"/>
            <a:ext cx="182880" cy="0"/>
          </a:xfrm>
          <a:prstGeom prst="line">
            <a:avLst/>
          </a:prstGeom>
          <a:noFill/>
          <a:ln w="19050">
            <a:solidFill>
              <a:srgbClr val="5B6B70"/>
            </a:solidFill>
            <a:prstDash val="solid"/>
            <a:headEnd type="none"/>
            <a:tailEnd type="triangle"/>
          </a:ln>
        </p:spPr>
      </p:sp>
      <p:sp>
        <p:nvSpPr>
          <p:cNvPr id="9" name="Text 6"/>
          <p:cNvSpPr/>
          <p:nvPr/>
        </p:nvSpPr>
        <p:spPr>
          <a:xfrm>
            <a:off x="2423160" y="1645920"/>
            <a:ext cx="1691640" cy="868680"/>
          </a:xfrm>
          <a:prstGeom prst="roundRect">
            <a:avLst>
              <a:gd name="adj" fmla="val 8421"/>
            </a:avLst>
          </a:prstGeom>
          <a:solidFill>
            <a:srgbClr val="FFFFFF"/>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Compare</a:t>
            </a:r>
            <a:endParaRPr lang="en-US" sz="1300" dirty="0"/>
          </a:p>
          <a:p>
            <a:pPr algn="l" indent="0" marL="0">
              <a:spcAft>
                <a:spcPts val="200"/>
              </a:spcAft>
              <a:buNone/>
            </a:pPr>
            <a:r>
              <a:rPr lang="en-US" sz="1050" dirty="0">
                <a:solidFill>
                  <a:srgbClr val="56666D"/>
                </a:solidFill>
                <a:latin typeface="Calibri" pitchFamily="34" charset="0"/>
                <a:ea typeface="Calibri" pitchFamily="34" charset="-122"/>
                <a:cs typeface="Calibri" pitchFamily="34" charset="-120"/>
              </a:rPr>
              <a:t>stat signature against state.json</a:t>
            </a:r>
            <a:endParaRPr lang="en-US" sz="1300" dirty="0"/>
          </a:p>
        </p:txBody>
      </p:sp>
      <p:sp>
        <p:nvSpPr>
          <p:cNvPr id="10" name="Shape 7"/>
          <p:cNvSpPr/>
          <p:nvPr/>
        </p:nvSpPr>
        <p:spPr>
          <a:xfrm>
            <a:off x="4114800" y="2080260"/>
            <a:ext cx="182880" cy="0"/>
          </a:xfrm>
          <a:prstGeom prst="line">
            <a:avLst/>
          </a:prstGeom>
          <a:noFill/>
          <a:ln w="19050">
            <a:solidFill>
              <a:srgbClr val="5B6B70"/>
            </a:solidFill>
            <a:prstDash val="solid"/>
            <a:headEnd type="none"/>
            <a:tailEnd type="triangle"/>
          </a:ln>
        </p:spPr>
      </p:sp>
      <p:sp>
        <p:nvSpPr>
          <p:cNvPr id="11" name="Text 8"/>
          <p:cNvSpPr/>
          <p:nvPr/>
        </p:nvSpPr>
        <p:spPr>
          <a:xfrm>
            <a:off x="4297680" y="1645920"/>
            <a:ext cx="1691640" cy="868680"/>
          </a:xfrm>
          <a:prstGeom prst="roundRect">
            <a:avLst>
              <a:gd name="adj" fmla="val 8421"/>
            </a:avLst>
          </a:prstGeom>
          <a:solidFill>
            <a:srgbClr val="FFFFFF"/>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Evaluate</a:t>
            </a:r>
            <a:endParaRPr lang="en-US" sz="1300" dirty="0"/>
          </a:p>
          <a:p>
            <a:pPr algn="l" indent="0" marL="0">
              <a:spcAft>
                <a:spcPts val="200"/>
              </a:spcAft>
              <a:buNone/>
            </a:pPr>
            <a:r>
              <a:rPr lang="en-US" sz="1050" dirty="0">
                <a:solidFill>
                  <a:srgbClr val="56666D"/>
                </a:solidFill>
                <a:latin typeface="Calibri" pitchFamily="34" charset="0"/>
                <a:ea typeface="Calibri" pitchFamily="34" charset="-122"/>
                <a:cs typeface="Calibri" pitchFamily="34" charset="-120"/>
              </a:rPr>
              <a:t>settle time; OVF references and sizes</a:t>
            </a:r>
            <a:endParaRPr lang="en-US" sz="1300" dirty="0"/>
          </a:p>
        </p:txBody>
      </p:sp>
      <p:sp>
        <p:nvSpPr>
          <p:cNvPr id="12" name="Shape 9"/>
          <p:cNvSpPr/>
          <p:nvPr/>
        </p:nvSpPr>
        <p:spPr>
          <a:xfrm>
            <a:off x="5989320" y="2080260"/>
            <a:ext cx="182880" cy="0"/>
          </a:xfrm>
          <a:prstGeom prst="line">
            <a:avLst/>
          </a:prstGeom>
          <a:noFill/>
          <a:ln w="19050">
            <a:solidFill>
              <a:srgbClr val="5B6B70"/>
            </a:solidFill>
            <a:prstDash val="solid"/>
            <a:headEnd type="none"/>
            <a:tailEnd type="triangle"/>
          </a:ln>
        </p:spPr>
      </p:sp>
      <p:sp>
        <p:nvSpPr>
          <p:cNvPr id="13" name="Text 10"/>
          <p:cNvSpPr/>
          <p:nvPr/>
        </p:nvSpPr>
        <p:spPr>
          <a:xfrm>
            <a:off x="6172200" y="1645920"/>
            <a:ext cx="1691640" cy="868680"/>
          </a:xfrm>
          <a:prstGeom prst="roundRect">
            <a:avLst>
              <a:gd name="adj" fmla="val 8421"/>
            </a:avLst>
          </a:prstGeom>
          <a:solidFill>
            <a:srgbClr val="FFFFFF"/>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Etag</a:t>
            </a:r>
            <a:endParaRPr lang="en-US" sz="1300" dirty="0"/>
          </a:p>
          <a:p>
            <a:pPr algn="l" indent="0" marL="0">
              <a:spcAft>
                <a:spcPts val="200"/>
              </a:spcAft>
              <a:buNone/>
            </a:pPr>
            <a:r>
              <a:rPr lang="en-US" sz="1050" dirty="0">
                <a:solidFill>
                  <a:srgbClr val="56666D"/>
                </a:solidFill>
                <a:latin typeface="Calibri" pitchFamily="34" charset="0"/>
                <a:ea typeface="Calibri" pitchFamily="34" charset="-122"/>
                <a:cs typeface="Calibri" pitchFamily="34" charset="-120"/>
              </a:rPr>
              <a:t>mtime-size = nginx ETag; md5/sha256 cached</a:t>
            </a:r>
            <a:endParaRPr lang="en-US" sz="1300" dirty="0"/>
          </a:p>
        </p:txBody>
      </p:sp>
      <p:sp>
        <p:nvSpPr>
          <p:cNvPr id="14" name="Shape 11"/>
          <p:cNvSpPr/>
          <p:nvPr/>
        </p:nvSpPr>
        <p:spPr>
          <a:xfrm>
            <a:off x="7863840" y="2080260"/>
            <a:ext cx="182880" cy="0"/>
          </a:xfrm>
          <a:prstGeom prst="line">
            <a:avLst/>
          </a:prstGeom>
          <a:noFill/>
          <a:ln w="19050">
            <a:solidFill>
              <a:srgbClr val="5B6B70"/>
            </a:solidFill>
            <a:prstDash val="solid"/>
            <a:headEnd type="none"/>
            <a:tailEnd type="triangle"/>
          </a:ln>
        </p:spPr>
      </p:sp>
      <p:sp>
        <p:nvSpPr>
          <p:cNvPr id="15" name="Text 12"/>
          <p:cNvSpPr/>
          <p:nvPr/>
        </p:nvSpPr>
        <p:spPr>
          <a:xfrm>
            <a:off x="8046720" y="1645920"/>
            <a:ext cx="1691640" cy="868680"/>
          </a:xfrm>
          <a:prstGeom prst="roundRect">
            <a:avLst>
              <a:gd name="adj" fmla="val 8421"/>
            </a:avLst>
          </a:prstGeom>
          <a:solidFill>
            <a:srgbClr val="FFFFFF"/>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13212B"/>
                </a:solidFill>
                <a:latin typeface="Calibri" pitchFamily="34" charset="0"/>
                <a:ea typeface="Calibri" pitchFamily="34" charset="-122"/>
                <a:cs typeface="Calibri" pitchFamily="34" charset="-120"/>
              </a:rPr>
              <a:t>Write item.json</a:t>
            </a:r>
            <a:endParaRPr lang="en-US" sz="1300" dirty="0"/>
          </a:p>
          <a:p>
            <a:pPr algn="l" indent="0" marL="0">
              <a:spcAft>
                <a:spcPts val="200"/>
              </a:spcAft>
              <a:buNone/>
            </a:pPr>
            <a:r>
              <a:rPr lang="en-US" sz="1050" dirty="0">
                <a:solidFill>
                  <a:srgbClr val="56666D"/>
                </a:solidFill>
                <a:latin typeface="Calibri" pitchFamily="34" charset="0"/>
                <a:ea typeface="Calibri" pitchFamily="34" charset="-122"/>
                <a:cs typeface="Calibri" pitchFamily="34" charset="-120"/>
              </a:rPr>
              <a:t>atomic rename; size kept for crash repair</a:t>
            </a:r>
            <a:endParaRPr lang="en-US" sz="1300" dirty="0"/>
          </a:p>
        </p:txBody>
      </p:sp>
      <p:sp>
        <p:nvSpPr>
          <p:cNvPr id="16" name="Shape 13"/>
          <p:cNvSpPr/>
          <p:nvPr/>
        </p:nvSpPr>
        <p:spPr>
          <a:xfrm>
            <a:off x="9738360" y="2080260"/>
            <a:ext cx="182880" cy="0"/>
          </a:xfrm>
          <a:prstGeom prst="line">
            <a:avLst/>
          </a:prstGeom>
          <a:noFill/>
          <a:ln w="19050">
            <a:solidFill>
              <a:srgbClr val="5B6B70"/>
            </a:solidFill>
            <a:prstDash val="solid"/>
            <a:headEnd type="none"/>
            <a:tailEnd type="triangle"/>
          </a:ln>
        </p:spPr>
      </p:sp>
      <p:sp>
        <p:nvSpPr>
          <p:cNvPr id="17" name="Text 14"/>
          <p:cNvSpPr/>
          <p:nvPr/>
        </p:nvSpPr>
        <p:spPr>
          <a:xfrm>
            <a:off x="9921240" y="1645920"/>
            <a:ext cx="1691640" cy="868680"/>
          </a:xfrm>
          <a:prstGeom prst="roundRect">
            <a:avLst>
              <a:gd name="adj" fmla="val 8421"/>
            </a:avLst>
          </a:prstGeom>
          <a:solidFill>
            <a:srgbClr val="0E6B5A"/>
          </a:solidFill>
          <a:ln w="12700">
            <a:solidFill>
              <a:srgbClr val="0E6B5A"/>
            </a:solidFill>
            <a:prstDash val="solid"/>
          </a:ln>
        </p:spPr>
        <p:txBody>
          <a:bodyPr wrap="square" lIns="88900" tIns="88900" rIns="88900" bIns="88900" rtlCol="0" anchor="t"/>
          <a:lstStyle/>
          <a:p>
            <a:pPr algn="l" indent="0" marL="0">
              <a:spcAft>
                <a:spcPts val="200"/>
              </a:spcAft>
              <a:buNone/>
            </a:pPr>
            <a:r>
              <a:rPr lang="en-US" sz="1300" b="1" dirty="0">
                <a:solidFill>
                  <a:srgbClr val="FFFFFF"/>
                </a:solidFill>
                <a:latin typeface="Calibri" pitchFamily="34" charset="0"/>
                <a:ea typeface="Calibri" pitchFamily="34" charset="-122"/>
                <a:cs typeface="Calibri" pitchFamily="34" charset="-120"/>
              </a:rPr>
              <a:t>Commit</a:t>
            </a:r>
            <a:endParaRPr lang="en-US" sz="1300" dirty="0"/>
          </a:p>
          <a:p>
            <a:pPr algn="l" indent="0" marL="0">
              <a:spcAft>
                <a:spcPts val="200"/>
              </a:spcAft>
              <a:buNone/>
            </a:pPr>
            <a:r>
              <a:rPr lang="en-US" sz="1050" dirty="0">
                <a:solidFill>
                  <a:srgbClr val="D5E3DE"/>
                </a:solidFill>
                <a:latin typeface="Calibri" pitchFamily="34" charset="0"/>
                <a:ea typeface="Calibri" pitchFamily="34" charset="-122"/>
                <a:cs typeface="Calibri" pitchFamily="34" charset="-120"/>
              </a:rPr>
              <a:t>items.json, then lib.json, fsync</a:t>
            </a:r>
            <a:endParaRPr lang="en-US" sz="1300" dirty="0"/>
          </a:p>
        </p:txBody>
      </p:sp>
      <p:sp>
        <p:nvSpPr>
          <p:cNvPr id="18" name="Shape 15"/>
          <p:cNvSpPr/>
          <p:nvPr/>
        </p:nvSpPr>
        <p:spPr>
          <a:xfrm>
            <a:off x="3268980" y="2514600"/>
            <a:ext cx="0" cy="411480"/>
          </a:xfrm>
          <a:prstGeom prst="line">
            <a:avLst/>
          </a:prstGeom>
          <a:noFill/>
          <a:ln w="19050">
            <a:solidFill>
              <a:srgbClr val="0E6B5A"/>
            </a:solidFill>
            <a:prstDash val="solid"/>
            <a:headEnd type="none"/>
            <a:tailEnd type="triangle"/>
          </a:ln>
        </p:spPr>
      </p:sp>
      <p:sp>
        <p:nvSpPr>
          <p:cNvPr id="19" name="Text 16"/>
          <p:cNvSpPr txBox="1"/>
          <p:nvPr/>
        </p:nvSpPr>
        <p:spPr>
          <a:xfrm>
            <a:off x="3337560" y="2578608"/>
            <a:ext cx="1097280" cy="237744"/>
          </a:xfrm>
          <a:prstGeom prst="rect">
            <a:avLst/>
          </a:prstGeom>
          <a:noFill/>
          <a:ln/>
        </p:spPr>
        <p:txBody>
          <a:bodyPr wrap="square" lIns="0" tIns="0" rIns="0" bIns="0" rtlCol="0" anchor="ctr"/>
          <a:lstStyle/>
          <a:p>
            <a:pPr algn="l" indent="0" marL="0">
              <a:buNone/>
            </a:pPr>
            <a:r>
              <a:rPr lang="en-US" sz="950" dirty="0">
                <a:solidFill>
                  <a:srgbClr val="0E6B5A"/>
                </a:solidFill>
                <a:latin typeface="Calibri" pitchFamily="34" charset="0"/>
                <a:ea typeface="Calibri" pitchFamily="34" charset="-122"/>
                <a:cs typeface="Calibri" pitchFamily="34" charset="-120"/>
              </a:rPr>
              <a:t>same signature</a:t>
            </a:r>
            <a:endParaRPr lang="en-US" sz="950" dirty="0"/>
          </a:p>
        </p:txBody>
      </p:sp>
      <p:sp>
        <p:nvSpPr>
          <p:cNvPr id="20" name="Text 17"/>
          <p:cNvSpPr/>
          <p:nvPr/>
        </p:nvSpPr>
        <p:spPr>
          <a:xfrm>
            <a:off x="2240280" y="2926080"/>
            <a:ext cx="2057400" cy="457200"/>
          </a:xfrm>
          <a:prstGeom prst="roundRect">
            <a:avLst>
              <a:gd name="adj" fmla="val 16000"/>
            </a:avLst>
          </a:prstGeom>
          <a:solidFill>
            <a:srgbClr val="DCEBE6"/>
          </a:solidFill>
          <a:ln w="12700">
            <a:solidFill>
              <a:srgbClr val="DCEBE6"/>
            </a:solidFill>
            <a:prstDash val="solid"/>
          </a:ln>
        </p:spPr>
        <p:txBody>
          <a:bodyPr wrap="square" lIns="63500" tIns="63500" rIns="63500" bIns="63500" rtlCol="0" anchor="ctr"/>
          <a:lstStyle/>
          <a:p>
            <a:pPr algn="ctr" indent="0" marL="0">
              <a:buNone/>
            </a:pPr>
            <a:r>
              <a:rPr lang="en-US" sz="1050" dirty="0">
                <a:solidFill>
                  <a:srgbClr val="13212B"/>
                </a:solidFill>
                <a:latin typeface="Calibri" pitchFamily="34" charset="0"/>
                <a:ea typeface="Calibri" pitchFamily="34" charset="-122"/>
                <a:cs typeface="Calibri" pitchFamily="34" charset="-120"/>
              </a:rPr>
              <a:t>Unchanged: skip, no JSON built</a:t>
            </a:r>
            <a:endParaRPr lang="en-US" sz="1050" dirty="0"/>
          </a:p>
        </p:txBody>
      </p:sp>
      <p:sp>
        <p:nvSpPr>
          <p:cNvPr id="21" name="Shape 18"/>
          <p:cNvSpPr/>
          <p:nvPr/>
        </p:nvSpPr>
        <p:spPr>
          <a:xfrm>
            <a:off x="5143500" y="2514600"/>
            <a:ext cx="0" cy="411480"/>
          </a:xfrm>
          <a:prstGeom prst="line">
            <a:avLst/>
          </a:prstGeom>
          <a:noFill/>
          <a:ln w="19050">
            <a:solidFill>
              <a:srgbClr val="B7791F"/>
            </a:solidFill>
            <a:prstDash val="solid"/>
            <a:headEnd type="none"/>
            <a:tailEnd type="triangle"/>
          </a:ln>
        </p:spPr>
      </p:sp>
      <p:sp>
        <p:nvSpPr>
          <p:cNvPr id="22" name="Text 19"/>
          <p:cNvSpPr/>
          <p:nvPr/>
        </p:nvSpPr>
        <p:spPr>
          <a:xfrm>
            <a:off x="4526280" y="2926080"/>
            <a:ext cx="2377440" cy="457200"/>
          </a:xfrm>
          <a:prstGeom prst="roundRect">
            <a:avLst>
              <a:gd name="adj" fmla="val 16000"/>
            </a:avLst>
          </a:prstGeom>
          <a:solidFill>
            <a:srgbClr val="F6EBD6"/>
          </a:solidFill>
          <a:ln w="12700">
            <a:solidFill>
              <a:srgbClr val="F6EBD6"/>
            </a:solidFill>
            <a:prstDash val="solid"/>
          </a:ln>
        </p:spPr>
        <p:txBody>
          <a:bodyPr wrap="square" lIns="63500" tIns="63500" rIns="63500" bIns="63500" rtlCol="0" anchor="ctr"/>
          <a:lstStyle/>
          <a:p>
            <a:pPr algn="ctr" indent="0" marL="0">
              <a:buNone/>
            </a:pPr>
            <a:r>
              <a:rPr lang="en-US" sz="1050" dirty="0">
                <a:solidFill>
                  <a:srgbClr val="13212B"/>
                </a:solidFill>
                <a:latin typeface="Calibri" pitchFamily="34" charset="0"/>
                <a:ea typeface="Calibri" pitchFamily="34" charset="-122"/>
                <a:cs typeface="Calibri" pitchFamily="34" charset="-120"/>
              </a:rPr>
              <a:t>Waiting or incomplete: keep the last good version</a:t>
            </a:r>
            <a:endParaRPr lang="en-US" sz="1050" dirty="0"/>
          </a:p>
        </p:txBody>
      </p:sp>
      <p:sp>
        <p:nvSpPr>
          <p:cNvPr id="23" name="Text 20"/>
          <p:cNvSpPr txBox="1"/>
          <p:nvPr/>
        </p:nvSpPr>
        <p:spPr>
          <a:xfrm>
            <a:off x="548640" y="3840480"/>
            <a:ext cx="4572000" cy="320040"/>
          </a:xfrm>
          <a:prstGeom prst="rect">
            <a:avLst/>
          </a:prstGeom>
          <a:noFill/>
          <a:ln/>
        </p:spPr>
        <p:txBody>
          <a:bodyPr wrap="square" lIns="0" tIns="0" rIns="0" bIns="0" rtlCol="0" anchor="ctr"/>
          <a:lstStyle/>
          <a:p>
            <a:pPr indent="0" marL="0">
              <a:buNone/>
            </a:pPr>
            <a:r>
              <a:rPr lang="en-US" sz="1600" b="1" dirty="0">
                <a:solidFill>
                  <a:srgbClr val="13212B"/>
                </a:solidFill>
                <a:latin typeface="Cambria" pitchFamily="34" charset="0"/>
                <a:ea typeface="Cambria" pitchFamily="34" charset="-122"/>
                <a:cs typeface="Cambria" pitchFamily="34" charset="-120"/>
              </a:rPr>
              <a:t>Version rules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6675120" cy="914400"/>
        </p:xfrm>
        <a:graphic>
          <a:graphicData uri="http://schemas.openxmlformats.org/drawingml/2006/table">
            <a:tbl>
              <a:tblPr/>
              <a:tblGrid>
                <a:gridCol w="2834640"/>
                <a:gridCol w="1280160"/>
                <a:gridCol w="1280160"/>
                <a:gridCol w="1280160"/>
              </a:tblGrid>
              <a:tr h="31089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1321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Item version</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1321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contentVersion</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1321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Library version</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13212B"/>
                    </a:solidFill>
                  </a:tcPr>
                </a:tc>
              </a:tr>
              <a:tr h="310896">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File added, removed or 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Description or name 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New item published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starts at 2</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starts at 2</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Item removed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Nothing 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12B"/>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marL="91440" marR="91440" marT="0" marB="0" anchor="ctr">
                    <a:lnL w="9525" cap="flat" cmpd="sng" algn="ctr">
                      <a:solidFill>
                        <a:srgbClr val="9EAEA8"/>
                      </a:solidFill>
                      <a:prstDash val="solid"/>
                      <a:round/>
                      <a:headEnd type="none" w="med" len="med"/>
                      <a:tailEnd type="none" w="med" len="med"/>
                    </a:lnL>
                    <a:lnR w="9525" cap="flat" cmpd="sng" algn="ctr">
                      <a:solidFill>
                        <a:srgbClr val="9EAEA8"/>
                      </a:solidFill>
                      <a:prstDash val="solid"/>
                      <a:round/>
                      <a:headEnd type="none" w="med" len="med"/>
                      <a:tailEnd type="none" w="med" len="med"/>
                    </a:lnR>
                    <a:lnT w="9525" cap="flat" cmpd="sng" algn="ctr">
                      <a:solidFill>
                        <a:srgbClr val="9EAEA8"/>
                      </a:solidFill>
                      <a:prstDash val="solid"/>
                      <a:round/>
                      <a:headEnd type="none" w="med" len="med"/>
                      <a:tailEnd type="none" w="med" len="med"/>
                    </a:lnT>
                    <a:lnB w="9525" cap="flat" cmpd="sng" algn="ctr">
                      <a:solidFill>
                        <a:srgbClr val="9EAEA8"/>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7635240" y="3840480"/>
            <a:ext cx="3657600" cy="320040"/>
          </a:xfrm>
          <a:prstGeom prst="rect">
            <a:avLst/>
          </a:prstGeom>
          <a:noFill/>
          <a:ln/>
        </p:spPr>
        <p:txBody>
          <a:bodyPr wrap="square" lIns="0" tIns="0" rIns="0" bIns="0" rtlCol="0" anchor="ctr"/>
          <a:lstStyle/>
          <a:p>
            <a:pPr indent="0" marL="0">
              <a:buNone/>
            </a:pPr>
            <a:r>
              <a:rPr lang="en-US" sz="1600" b="1" dirty="0">
                <a:solidFill>
                  <a:srgbClr val="13212B"/>
                </a:solidFill>
                <a:latin typeface="Cambria" pitchFamily="34" charset="0"/>
                <a:ea typeface="Cambria" pitchFamily="34" charset="-122"/>
                <a:cs typeface="Cambria" pitchFamily="34" charset="-120"/>
              </a:rPr>
              <a:t>Item states</a:t>
            </a:r>
            <a:endParaRPr lang="en-US" sz="1600" dirty="0"/>
          </a:p>
        </p:txBody>
      </p:sp>
      <p:sp>
        <p:nvSpPr>
          <p:cNvPr id="26" name="Text 22"/>
          <p:cNvSpPr/>
          <p:nvPr/>
        </p:nvSpPr>
        <p:spPr>
          <a:xfrm>
            <a:off x="7635240" y="4251960"/>
            <a:ext cx="1234440" cy="347472"/>
          </a:xfrm>
          <a:prstGeom prst="roundRect">
            <a:avLst>
              <a:gd name="adj" fmla="val 21053"/>
            </a:avLst>
          </a:prstGeom>
          <a:solidFill>
            <a:srgbClr val="0E6B5A"/>
          </a:solidFill>
          <a:ln w="12700">
            <a:solidFill>
              <a:srgbClr val="0E6B5A"/>
            </a:solidFill>
            <a:prstDash val="solid"/>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Published</a:t>
            </a:r>
            <a:endParaRPr lang="en-US" sz="1100" dirty="0"/>
          </a:p>
        </p:txBody>
      </p:sp>
      <p:sp>
        <p:nvSpPr>
          <p:cNvPr id="27" name="Text 23"/>
          <p:cNvSpPr txBox="1"/>
          <p:nvPr/>
        </p:nvSpPr>
        <p:spPr>
          <a:xfrm>
            <a:off x="9006840" y="4251960"/>
            <a:ext cx="2633472" cy="347472"/>
          </a:xfrm>
          <a:prstGeom prst="rect">
            <a:avLst/>
          </a:prstGeom>
          <a:noFill/>
          <a:ln/>
        </p:spPr>
        <p:txBody>
          <a:bodyPr wrap="square" lIns="0" tIns="0" rIns="0" bIns="0" rtlCol="0" anchor="ctr"/>
          <a:lstStyle/>
          <a:p>
            <a:pPr algn="l" indent="0" marL="0">
              <a:buNone/>
            </a:pPr>
            <a:r>
              <a:rPr lang="en-US" sz="1100" dirty="0">
                <a:solidFill>
                  <a:srgbClr val="13212B"/>
                </a:solidFill>
                <a:latin typeface="Calibri" pitchFamily="34" charset="0"/>
                <a:ea typeface="Calibri" pitchFamily="34" charset="-122"/>
                <a:cs typeface="Calibri" pitchFamily="34" charset="-120"/>
              </a:rPr>
              <a:t>served to subscribers</a:t>
            </a:r>
            <a:endParaRPr lang="en-US" sz="1100" dirty="0"/>
          </a:p>
        </p:txBody>
      </p:sp>
      <p:sp>
        <p:nvSpPr>
          <p:cNvPr id="28" name="Text 24"/>
          <p:cNvSpPr/>
          <p:nvPr/>
        </p:nvSpPr>
        <p:spPr>
          <a:xfrm>
            <a:off x="7635240" y="4727448"/>
            <a:ext cx="1234440" cy="347472"/>
          </a:xfrm>
          <a:prstGeom prst="roundRect">
            <a:avLst>
              <a:gd name="adj" fmla="val 21053"/>
            </a:avLst>
          </a:prstGeom>
          <a:solidFill>
            <a:srgbClr val="B7791F"/>
          </a:solidFill>
          <a:ln w="12700">
            <a:solidFill>
              <a:srgbClr val="B7791F"/>
            </a:solidFill>
            <a:prstDash val="solid"/>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Waiting</a:t>
            </a:r>
            <a:endParaRPr lang="en-US" sz="1100" dirty="0"/>
          </a:p>
        </p:txBody>
      </p:sp>
      <p:sp>
        <p:nvSpPr>
          <p:cNvPr id="29" name="Text 25"/>
          <p:cNvSpPr txBox="1"/>
          <p:nvPr/>
        </p:nvSpPr>
        <p:spPr>
          <a:xfrm>
            <a:off x="9006840" y="4727448"/>
            <a:ext cx="2633472" cy="347472"/>
          </a:xfrm>
          <a:prstGeom prst="rect">
            <a:avLst/>
          </a:prstGeom>
          <a:noFill/>
          <a:ln/>
        </p:spPr>
        <p:txBody>
          <a:bodyPr wrap="square" lIns="0" tIns="0" rIns="0" bIns="0" rtlCol="0" anchor="ctr"/>
          <a:lstStyle/>
          <a:p>
            <a:pPr algn="l" indent="0" marL="0">
              <a:buNone/>
            </a:pPr>
            <a:r>
              <a:rPr lang="en-US" sz="1100" dirty="0">
                <a:solidFill>
                  <a:srgbClr val="13212B"/>
                </a:solidFill>
                <a:latin typeface="Calibri" pitchFamily="34" charset="0"/>
                <a:ea typeface="Calibri" pitchFamily="34" charset="-122"/>
                <a:cs typeface="Calibri" pitchFamily="34" charset="-120"/>
              </a:rPr>
              <a:t>changed less than SETTLE_SECONDS (120 s) ago</a:t>
            </a:r>
            <a:endParaRPr lang="en-US" sz="1100" dirty="0"/>
          </a:p>
        </p:txBody>
      </p:sp>
      <p:sp>
        <p:nvSpPr>
          <p:cNvPr id="30" name="Text 26"/>
          <p:cNvSpPr/>
          <p:nvPr/>
        </p:nvSpPr>
        <p:spPr>
          <a:xfrm>
            <a:off x="7635240" y="5202936"/>
            <a:ext cx="1234440" cy="347472"/>
          </a:xfrm>
          <a:prstGeom prst="roundRect">
            <a:avLst>
              <a:gd name="adj" fmla="val 21053"/>
            </a:avLst>
          </a:prstGeom>
          <a:solidFill>
            <a:srgbClr val="AD2A1F"/>
          </a:solidFill>
          <a:ln w="12700">
            <a:solidFill>
              <a:srgbClr val="AD2A1F"/>
            </a:solidFill>
            <a:prstDash val="solid"/>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Incomplete</a:t>
            </a:r>
            <a:endParaRPr lang="en-US" sz="1100" dirty="0"/>
          </a:p>
        </p:txBody>
      </p:sp>
      <p:sp>
        <p:nvSpPr>
          <p:cNvPr id="31" name="Text 27"/>
          <p:cNvSpPr txBox="1"/>
          <p:nvPr/>
        </p:nvSpPr>
        <p:spPr>
          <a:xfrm>
            <a:off x="9006840" y="5202936"/>
            <a:ext cx="2633472" cy="347472"/>
          </a:xfrm>
          <a:prstGeom prst="rect">
            <a:avLst/>
          </a:prstGeom>
          <a:noFill/>
          <a:ln/>
        </p:spPr>
        <p:txBody>
          <a:bodyPr wrap="square" lIns="0" tIns="0" rIns="0" bIns="0" rtlCol="0" anchor="ctr"/>
          <a:lstStyle/>
          <a:p>
            <a:pPr algn="l" indent="0" marL="0">
              <a:buNone/>
            </a:pPr>
            <a:r>
              <a:rPr lang="en-US" sz="1100" dirty="0">
                <a:solidFill>
                  <a:srgbClr val="13212B"/>
                </a:solidFill>
                <a:latin typeface="Calibri" pitchFamily="34" charset="0"/>
                <a:ea typeface="Calibri" pitchFamily="34" charset="-122"/>
                <a:cs typeface="Calibri" pitchFamily="34" charset="-120"/>
              </a:rPr>
              <a:t>new OVF item missing files; not published</a:t>
            </a:r>
            <a:endParaRPr lang="en-US" sz="1100" dirty="0"/>
          </a:p>
        </p:txBody>
      </p:sp>
      <p:sp>
        <p:nvSpPr>
          <p:cNvPr id="32" name="Text 28"/>
          <p:cNvSpPr/>
          <p:nvPr/>
        </p:nvSpPr>
        <p:spPr>
          <a:xfrm>
            <a:off x="7635240" y="5678424"/>
            <a:ext cx="1234440" cy="347472"/>
          </a:xfrm>
          <a:prstGeom prst="roundRect">
            <a:avLst>
              <a:gd name="adj" fmla="val 21053"/>
            </a:avLst>
          </a:prstGeom>
          <a:solidFill>
            <a:srgbClr val="AD2A1F"/>
          </a:solidFill>
          <a:ln w="12700">
            <a:solidFill>
              <a:srgbClr val="AD2A1F"/>
            </a:solidFill>
            <a:prstDash val="solid"/>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Stale</a:t>
            </a:r>
            <a:endParaRPr lang="en-US" sz="1100" dirty="0"/>
          </a:p>
        </p:txBody>
      </p:sp>
      <p:sp>
        <p:nvSpPr>
          <p:cNvPr id="33" name="Text 29"/>
          <p:cNvSpPr txBox="1"/>
          <p:nvPr/>
        </p:nvSpPr>
        <p:spPr>
          <a:xfrm>
            <a:off x="9006840" y="5678424"/>
            <a:ext cx="2633472" cy="347472"/>
          </a:xfrm>
          <a:prstGeom prst="rect">
            <a:avLst/>
          </a:prstGeom>
          <a:noFill/>
          <a:ln/>
        </p:spPr>
        <p:txBody>
          <a:bodyPr wrap="square" lIns="0" tIns="0" rIns="0" bIns="0" rtlCol="0" anchor="ctr"/>
          <a:lstStyle/>
          <a:p>
            <a:pPr algn="l" indent="0" marL="0">
              <a:buNone/>
            </a:pPr>
            <a:r>
              <a:rPr lang="en-US" sz="1100" dirty="0">
                <a:solidFill>
                  <a:srgbClr val="13212B"/>
                </a:solidFill>
                <a:latin typeface="Calibri" pitchFamily="34" charset="0"/>
                <a:ea typeface="Calibri" pitchFamily="34" charset="-122"/>
                <a:cs typeface="Calibri" pitchFamily="34" charset="-120"/>
              </a:rPr>
              <a:t>became inconsistent; previous version still served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Library data model</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11 / 14</a:t>
            </a:r>
            <a:endParaRPr lang="en-US" sz="900" dirty="0"/>
          </a:p>
        </p:txBody>
      </p:sp>
      <p:sp>
        <p:nvSpPr>
          <p:cNvPr id="7" name="Shape 4"/>
          <p:cNvSpPr/>
          <p:nvPr/>
        </p:nvSpPr>
        <p:spPr>
          <a:xfrm>
            <a:off x="548640" y="1645920"/>
            <a:ext cx="3429000" cy="4343400"/>
          </a:xfrm>
          <a:prstGeom prst="roundRect">
            <a:avLst>
              <a:gd name="adj" fmla="val 2667"/>
            </a:avLst>
          </a:prstGeom>
          <a:solidFill>
            <a:srgbClr val="EEF1EF"/>
          </a:solidFill>
          <a:ln w="12700">
            <a:solidFill>
              <a:srgbClr val="EEF1EF"/>
            </a:solidFill>
            <a:prstDash val="solid"/>
          </a:ln>
        </p:spPr>
      </p:sp>
      <p:sp>
        <p:nvSpPr>
          <p:cNvPr id="8" name="Text 5"/>
          <p:cNvSpPr txBox="1"/>
          <p:nvPr/>
        </p:nvSpPr>
        <p:spPr>
          <a:xfrm>
            <a:off x="777240" y="1783080"/>
            <a:ext cx="2926080" cy="320040"/>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On disk</a:t>
            </a:r>
            <a:endParaRPr lang="en-US" sz="1400" dirty="0"/>
          </a:p>
        </p:txBody>
      </p:sp>
      <p:sp>
        <p:nvSpPr>
          <p:cNvPr id="9" name="Text 6"/>
          <p:cNvSpPr txBox="1"/>
          <p:nvPr/>
        </p:nvSpPr>
        <p:spPr>
          <a:xfrm>
            <a:off x="777240" y="2194560"/>
            <a:ext cx="3063240" cy="3794760"/>
          </a:xfrm>
          <a:prstGeom prst="rect">
            <a:avLst/>
          </a:prstGeom>
          <a:noFill/>
          <a:ln/>
        </p:spPr>
        <p:txBody>
          <a:bodyPr wrap="square" lIns="0" tIns="0" rIns="0" bIns="0" rtlCol="0" anchor="t"/>
          <a:lstStyle/>
          <a:p>
            <a:pPr indent="0" marL="0">
              <a:spcAft>
                <a:spcPts val="300"/>
              </a:spcAft>
              <a:buNone/>
            </a:pPr>
            <a:r>
              <a:rPr lang="en-US" sz="1200" b="1" dirty="0">
                <a:solidFill>
                  <a:srgbClr val="13212B"/>
                </a:solidFill>
                <a:latin typeface="Courier New" pitchFamily="34" charset="0"/>
                <a:ea typeface="Courier New" pitchFamily="34" charset="-122"/>
                <a:cs typeface="Courier New" pitchFamily="34" charset="-120"/>
              </a:rPr>
              <a:t>DATA_ROOT/lib/</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lib.json</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items.json</a:t>
            </a:r>
            <a:endParaRPr lang="en-US" sz="1200" dirty="0"/>
          </a:p>
          <a:p>
            <a:pPr indent="0" marL="0">
              <a:spcAft>
                <a:spcPts val="300"/>
              </a:spcAft>
              <a:buNone/>
            </a:pPr>
            <a:r>
              <a:rPr lang="en-US" sz="1200" b="1" dirty="0">
                <a:solidFill>
                  <a:srgbClr val="13212B"/>
                </a:solidFill>
                <a:latin typeface="Courier New" pitchFamily="34" charset="0"/>
                <a:ea typeface="Courier New" pitchFamily="34" charset="-122"/>
                <a:cs typeface="Courier New" pitchFamily="34" charset="-120"/>
              </a:rPr>
              <a:t>  ubuntu-22.04-cis/</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item.json</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ubuntu.ovf</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ubuntu-disk1.vmdk</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ubuntu.nvram</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ubuntu.mf</a:t>
            </a:r>
            <a:endParaRPr lang="en-US" sz="1200" dirty="0"/>
          </a:p>
          <a:p>
            <a:pPr indent="0" marL="0">
              <a:spcAft>
                <a:spcPts val="300"/>
              </a:spcAft>
              <a:buNone/>
            </a:pPr>
            <a:r>
              <a:rPr lang="en-US" sz="1200" b="1" dirty="0">
                <a:solidFill>
                  <a:srgbClr val="13212B"/>
                </a:solidFill>
                <a:latin typeface="Courier New" pitchFamily="34" charset="0"/>
                <a:ea typeface="Courier New" pitchFamily="34" charset="-122"/>
                <a:cs typeface="Courier New" pitchFamily="34" charset="-120"/>
              </a:rPr>
              <a:t>  rhel-9.4-media/</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item.json</a:t>
            </a:r>
            <a:endParaRPr lang="en-US" sz="1200" dirty="0"/>
          </a:p>
          <a:p>
            <a:pPr indent="0" marL="0">
              <a:spcAft>
                <a:spcPts val="300"/>
              </a:spcAft>
              <a:buNone/>
            </a:pPr>
            <a:r>
              <a:rPr lang="en-US" sz="1200" dirty="0">
                <a:solidFill>
                  <a:srgbClr val="56666D"/>
                </a:solidFill>
                <a:latin typeface="Courier New" pitchFamily="34" charset="0"/>
                <a:ea typeface="Courier New" pitchFamily="34" charset="-122"/>
                <a:cs typeface="Courier New" pitchFamily="34" charset="-120"/>
              </a:rPr>
              <a:t>    rhel-9.4-x86_64.iso</a:t>
            </a:r>
            <a:endParaRPr lang="en-US" sz="1200" dirty="0"/>
          </a:p>
        </p:txBody>
      </p:sp>
      <p:sp>
        <p:nvSpPr>
          <p:cNvPr id="10" name="Text 7"/>
          <p:cNvSpPr/>
          <p:nvPr/>
        </p:nvSpPr>
        <p:spPr>
          <a:xfrm>
            <a:off x="4434840" y="1645920"/>
            <a:ext cx="4023360" cy="1143000"/>
          </a:xfrm>
          <a:prstGeom prst="roundRect">
            <a:avLst>
              <a:gd name="adj" fmla="val 6400"/>
            </a:avLst>
          </a:prstGeom>
          <a:solidFill>
            <a:srgbClr val="DCEBE6"/>
          </a:solidFill>
          <a:ln w="12700">
            <a:solidFill>
              <a:srgbClr val="0E6B5A"/>
            </a:solidFill>
            <a:prstDash val="solid"/>
          </a:ln>
        </p:spPr>
        <p:txBody>
          <a:bodyPr wrap="square" lIns="114300" tIns="114300" rIns="114300" bIns="114300" rtlCol="0" anchor="t"/>
          <a:lstStyle/>
          <a:p>
            <a:pPr algn="l" indent="0" marL="0">
              <a:spcAft>
                <a:spcPts val="200"/>
              </a:spcAft>
              <a:buNone/>
            </a:pPr>
            <a:r>
              <a:rPr lang="en-US" sz="1400" b="1" dirty="0">
                <a:solidFill>
                  <a:srgbClr val="13212B"/>
                </a:solidFill>
                <a:latin typeface="Calibri" pitchFamily="34" charset="0"/>
                <a:ea typeface="Calibri" pitchFamily="34" charset="-122"/>
                <a:cs typeface="Calibri" pitchFamily="34" charset="-120"/>
              </a:rPr>
              <a:t>lib.json</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"vcspVersion": "2", "version": "3"</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"id": "urn:uuid:..."</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"itemsHref": "items.json"</a:t>
            </a:r>
            <a:endParaRPr lang="en-US" sz="1400" dirty="0"/>
          </a:p>
        </p:txBody>
      </p:sp>
      <p:sp>
        <p:nvSpPr>
          <p:cNvPr id="11" name="Text 8"/>
          <p:cNvSpPr/>
          <p:nvPr/>
        </p:nvSpPr>
        <p:spPr>
          <a:xfrm>
            <a:off x="4434840" y="3154680"/>
            <a:ext cx="4023360" cy="868680"/>
          </a:xfrm>
          <a:prstGeom prst="roundRect">
            <a:avLst>
              <a:gd name="adj" fmla="val 8421"/>
            </a:avLst>
          </a:prstGeom>
          <a:solidFill>
            <a:srgbClr val="FFFFFF"/>
          </a:solidFill>
          <a:ln w="12700">
            <a:solidFill>
              <a:srgbClr val="0E6B5A"/>
            </a:solidFill>
            <a:prstDash val="solid"/>
          </a:ln>
        </p:spPr>
        <p:txBody>
          <a:bodyPr wrap="square" lIns="114300" tIns="114300" rIns="114300" bIns="114300" rtlCol="0" anchor="t"/>
          <a:lstStyle/>
          <a:p>
            <a:pPr algn="l" indent="0" marL="0">
              <a:spcAft>
                <a:spcPts val="200"/>
              </a:spcAft>
              <a:buNone/>
            </a:pPr>
            <a:r>
              <a:rPr lang="en-US" sz="1400" b="1" dirty="0">
                <a:solidFill>
                  <a:srgbClr val="13212B"/>
                </a:solidFill>
                <a:latin typeface="Calibri" pitchFamily="34" charset="0"/>
                <a:ea typeface="Calibri" pitchFamily="34" charset="-122"/>
                <a:cs typeface="Calibri" pitchFamily="34" charset="-120"/>
              </a:rPr>
              <a:t>items.json</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{"items": [ item, item, ... ]}</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one compact line per item</a:t>
            </a:r>
            <a:endParaRPr lang="en-US" sz="1400" dirty="0"/>
          </a:p>
        </p:txBody>
      </p:sp>
      <p:sp>
        <p:nvSpPr>
          <p:cNvPr id="12" name="Text 9"/>
          <p:cNvSpPr/>
          <p:nvPr/>
        </p:nvSpPr>
        <p:spPr>
          <a:xfrm>
            <a:off x="4434840" y="4389120"/>
            <a:ext cx="4023360" cy="1600200"/>
          </a:xfrm>
          <a:prstGeom prst="roundRect">
            <a:avLst>
              <a:gd name="adj" fmla="val 4571"/>
            </a:avLst>
          </a:prstGeom>
          <a:solidFill>
            <a:srgbClr val="FFFFFF"/>
          </a:solidFill>
          <a:ln w="12700">
            <a:solidFill>
              <a:srgbClr val="0E6B5A"/>
            </a:solidFill>
            <a:prstDash val="solid"/>
          </a:ln>
        </p:spPr>
        <p:txBody>
          <a:bodyPr wrap="square" lIns="114300" tIns="114300" rIns="114300" bIns="114300" rtlCol="0" anchor="t"/>
          <a:lstStyle/>
          <a:p>
            <a:pPr algn="l" indent="0" marL="0">
              <a:spcAft>
                <a:spcPts val="200"/>
              </a:spcAft>
              <a:buNone/>
            </a:pPr>
            <a:r>
              <a:rPr lang="en-US" sz="1400" b="1" dirty="0">
                <a:solidFill>
                  <a:srgbClr val="13212B"/>
                </a:solidFill>
                <a:latin typeface="Calibri" pitchFamily="34" charset="0"/>
                <a:ea typeface="Calibri" pitchFamily="34" charset="-122"/>
                <a:cs typeface="Calibri" pitchFamily="34" charset="-120"/>
              </a:rPr>
              <a:t>item.json</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"id", "version", "contentVersion"</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"type": "vcsp.ovf"</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"selfHref": "ubuntu-22.04-cis/item.json"</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"files": name, size, etag, hrefs</a:t>
            </a:r>
            <a:endParaRPr lang="en-US" sz="1400" dirty="0"/>
          </a:p>
          <a:p>
            <a:pPr algn="l" indent="0" marL="0">
              <a:spcAft>
                <a:spcPts val="200"/>
              </a:spcAft>
              <a:buNone/>
            </a:pPr>
            <a:r>
              <a:rPr lang="en-US" sz="1050" dirty="0">
                <a:solidFill>
                  <a:srgbClr val="13212B"/>
                </a:solidFill>
                <a:latin typeface="Courier New" pitchFamily="34" charset="0"/>
                <a:ea typeface="Courier New" pitchFamily="34" charset="-122"/>
                <a:cs typeface="Courier New" pitchFamily="34" charset="-120"/>
              </a:rPr>
              <a:t>etag = mtime-size, same as nginx</a:t>
            </a:r>
            <a:endParaRPr lang="en-US" sz="1400" dirty="0"/>
          </a:p>
        </p:txBody>
      </p:sp>
      <p:sp>
        <p:nvSpPr>
          <p:cNvPr id="13" name="Shape 10"/>
          <p:cNvSpPr/>
          <p:nvPr/>
        </p:nvSpPr>
        <p:spPr>
          <a:xfrm>
            <a:off x="6446520" y="2788920"/>
            <a:ext cx="0" cy="365760"/>
          </a:xfrm>
          <a:prstGeom prst="line">
            <a:avLst/>
          </a:prstGeom>
          <a:noFill/>
          <a:ln w="19050">
            <a:solidFill>
              <a:srgbClr val="0E6B5A"/>
            </a:solidFill>
            <a:prstDash val="solid"/>
            <a:headEnd type="none"/>
            <a:tailEnd type="triangle"/>
          </a:ln>
        </p:spPr>
      </p:sp>
      <p:sp>
        <p:nvSpPr>
          <p:cNvPr id="14" name="Text 11"/>
          <p:cNvSpPr txBox="1"/>
          <p:nvPr/>
        </p:nvSpPr>
        <p:spPr>
          <a:xfrm>
            <a:off x="6519672" y="2852928"/>
            <a:ext cx="1097280" cy="237744"/>
          </a:xfrm>
          <a:prstGeom prst="rect">
            <a:avLst/>
          </a:prstGeom>
          <a:noFill/>
          <a:ln/>
        </p:spPr>
        <p:txBody>
          <a:bodyPr wrap="square" lIns="0" tIns="0" rIns="0" bIns="0" rtlCol="0" anchor="ctr"/>
          <a:lstStyle/>
          <a:p>
            <a:pPr algn="l" indent="0" marL="0">
              <a:buNone/>
            </a:pPr>
            <a:r>
              <a:rPr lang="en-US" sz="1000" dirty="0">
                <a:solidFill>
                  <a:srgbClr val="0E6B5A"/>
                </a:solidFill>
                <a:latin typeface="Calibri" pitchFamily="34" charset="0"/>
                <a:ea typeface="Calibri" pitchFamily="34" charset="-122"/>
                <a:cs typeface="Calibri" pitchFamily="34" charset="-120"/>
              </a:rPr>
              <a:t>itemsHref</a:t>
            </a:r>
            <a:endParaRPr lang="en-US" sz="1000" dirty="0"/>
          </a:p>
        </p:txBody>
      </p:sp>
      <p:sp>
        <p:nvSpPr>
          <p:cNvPr id="15" name="Shape 12"/>
          <p:cNvSpPr/>
          <p:nvPr/>
        </p:nvSpPr>
        <p:spPr>
          <a:xfrm>
            <a:off x="6446520" y="4023360"/>
            <a:ext cx="0" cy="365760"/>
          </a:xfrm>
          <a:prstGeom prst="line">
            <a:avLst/>
          </a:prstGeom>
          <a:noFill/>
          <a:ln w="19050">
            <a:solidFill>
              <a:srgbClr val="0E6B5A"/>
            </a:solidFill>
            <a:prstDash val="solid"/>
            <a:headEnd type="none"/>
            <a:tailEnd type="triangle"/>
          </a:ln>
        </p:spPr>
      </p:sp>
      <p:sp>
        <p:nvSpPr>
          <p:cNvPr id="16" name="Text 13"/>
          <p:cNvSpPr txBox="1"/>
          <p:nvPr/>
        </p:nvSpPr>
        <p:spPr>
          <a:xfrm>
            <a:off x="6519672" y="4087368"/>
            <a:ext cx="1097280" cy="237744"/>
          </a:xfrm>
          <a:prstGeom prst="rect">
            <a:avLst/>
          </a:prstGeom>
          <a:noFill/>
          <a:ln/>
        </p:spPr>
        <p:txBody>
          <a:bodyPr wrap="square" lIns="0" tIns="0" rIns="0" bIns="0" rtlCol="0" anchor="ctr"/>
          <a:lstStyle/>
          <a:p>
            <a:pPr algn="l" indent="0" marL="0">
              <a:buNone/>
            </a:pPr>
            <a:r>
              <a:rPr lang="en-US" sz="1000" dirty="0">
                <a:solidFill>
                  <a:srgbClr val="0E6B5A"/>
                </a:solidFill>
                <a:latin typeface="Calibri" pitchFamily="34" charset="0"/>
                <a:ea typeface="Calibri" pitchFamily="34" charset="-122"/>
                <a:cs typeface="Calibri" pitchFamily="34" charset="-120"/>
              </a:rPr>
              <a:t>selfHref</a:t>
            </a:r>
            <a:endParaRPr lang="en-US" sz="1000" dirty="0"/>
          </a:p>
        </p:txBody>
      </p:sp>
      <p:sp>
        <p:nvSpPr>
          <p:cNvPr id="17" name="Shape 14"/>
          <p:cNvSpPr/>
          <p:nvPr/>
        </p:nvSpPr>
        <p:spPr>
          <a:xfrm flipH="1">
            <a:off x="4206240" y="5074920"/>
            <a:ext cx="228600" cy="0"/>
          </a:xfrm>
          <a:prstGeom prst="line">
            <a:avLst/>
          </a:prstGeom>
          <a:noFill/>
          <a:ln w="19050">
            <a:solidFill>
              <a:srgbClr val="0E6B5A"/>
            </a:solidFill>
            <a:prstDash val="solid"/>
            <a:headEnd type="none"/>
            <a:tailEnd type="none"/>
          </a:ln>
        </p:spPr>
      </p:sp>
      <p:sp>
        <p:nvSpPr>
          <p:cNvPr id="18" name="Shape 15"/>
          <p:cNvSpPr/>
          <p:nvPr/>
        </p:nvSpPr>
        <p:spPr>
          <a:xfrm flipV="1">
            <a:off x="4206240" y="3584448"/>
            <a:ext cx="0" cy="1490472"/>
          </a:xfrm>
          <a:prstGeom prst="line">
            <a:avLst/>
          </a:prstGeom>
          <a:noFill/>
          <a:ln w="19050">
            <a:solidFill>
              <a:srgbClr val="0E6B5A"/>
            </a:solidFill>
            <a:prstDash val="solid"/>
            <a:headEnd type="none"/>
            <a:tailEnd type="none"/>
          </a:ln>
        </p:spPr>
      </p:sp>
      <p:sp>
        <p:nvSpPr>
          <p:cNvPr id="19" name="Shape 16"/>
          <p:cNvSpPr/>
          <p:nvPr/>
        </p:nvSpPr>
        <p:spPr>
          <a:xfrm flipH="1">
            <a:off x="3429000" y="3584448"/>
            <a:ext cx="777240" cy="0"/>
          </a:xfrm>
          <a:prstGeom prst="line">
            <a:avLst/>
          </a:prstGeom>
          <a:noFill/>
          <a:ln w="19050">
            <a:solidFill>
              <a:srgbClr val="0E6B5A"/>
            </a:solidFill>
            <a:prstDash val="solid"/>
            <a:headEnd type="none"/>
            <a:tailEnd type="triangle"/>
          </a:ln>
        </p:spPr>
      </p:sp>
      <p:sp>
        <p:nvSpPr>
          <p:cNvPr id="20" name="Text 17"/>
          <p:cNvSpPr txBox="1"/>
          <p:nvPr/>
        </p:nvSpPr>
        <p:spPr>
          <a:xfrm>
            <a:off x="3401568" y="3310128"/>
            <a:ext cx="731520" cy="237744"/>
          </a:xfrm>
          <a:prstGeom prst="rect">
            <a:avLst/>
          </a:prstGeom>
          <a:noFill/>
          <a:ln/>
        </p:spPr>
        <p:txBody>
          <a:bodyPr wrap="square" lIns="0" tIns="0" rIns="0" bIns="0" rtlCol="0" anchor="ctr"/>
          <a:lstStyle/>
          <a:p>
            <a:pPr algn="l" indent="0" marL="0">
              <a:buNone/>
            </a:pPr>
            <a:r>
              <a:rPr lang="en-US" sz="1000" dirty="0">
                <a:solidFill>
                  <a:srgbClr val="0E6B5A"/>
                </a:solidFill>
                <a:latin typeface="Calibri" pitchFamily="34" charset="0"/>
                <a:ea typeface="Calibri" pitchFamily="34" charset="-122"/>
                <a:cs typeface="Calibri" pitchFamily="34" charset="-120"/>
              </a:rPr>
              <a:t>hrefs</a:t>
            </a:r>
            <a:endParaRPr lang="en-US" sz="1000" dirty="0"/>
          </a:p>
        </p:txBody>
      </p:sp>
      <p:sp>
        <p:nvSpPr>
          <p:cNvPr id="21" name="Text 18"/>
          <p:cNvSpPr txBox="1"/>
          <p:nvPr/>
        </p:nvSpPr>
        <p:spPr>
          <a:xfrm>
            <a:off x="8915400" y="1645920"/>
            <a:ext cx="2743200" cy="320040"/>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Item type rules</a:t>
            </a:r>
            <a:endParaRPr lang="en-US" sz="1400" dirty="0"/>
          </a:p>
        </p:txBody>
      </p:sp>
      <p:sp>
        <p:nvSpPr>
          <p:cNvPr id="22" name="Shape 19"/>
          <p:cNvSpPr/>
          <p:nvPr/>
        </p:nvSpPr>
        <p:spPr>
          <a:xfrm>
            <a:off x="8915400" y="2103120"/>
            <a:ext cx="2724912" cy="1097280"/>
          </a:xfrm>
          <a:prstGeom prst="roundRect">
            <a:avLst>
              <a:gd name="adj" fmla="val 6667"/>
            </a:avLst>
          </a:prstGeom>
          <a:solidFill>
            <a:srgbClr val="FFFFFF"/>
          </a:solidFill>
          <a:ln w="15875">
            <a:solidFill>
              <a:srgbClr val="0E6B5A"/>
            </a:solidFill>
            <a:prstDash val="solid"/>
          </a:ln>
        </p:spPr>
      </p:sp>
      <p:sp>
        <p:nvSpPr>
          <p:cNvPr id="23" name="Text 20"/>
          <p:cNvSpPr txBox="1"/>
          <p:nvPr/>
        </p:nvSpPr>
        <p:spPr>
          <a:xfrm>
            <a:off x="9098280" y="2212848"/>
            <a:ext cx="2377440" cy="320040"/>
          </a:xfrm>
          <a:prstGeom prst="rect">
            <a:avLst/>
          </a:prstGeom>
          <a:noFill/>
          <a:ln/>
        </p:spPr>
        <p:txBody>
          <a:bodyPr wrap="square" lIns="0" tIns="0" rIns="0" bIns="0" rtlCol="0" anchor="ctr"/>
          <a:lstStyle/>
          <a:p>
            <a:pPr indent="0" marL="0">
              <a:buNone/>
            </a:pPr>
            <a:r>
              <a:rPr lang="en-US" sz="1400" b="1" dirty="0">
                <a:solidFill>
                  <a:srgbClr val="13212B"/>
                </a:solidFill>
                <a:latin typeface="Courier New" pitchFamily="34" charset="0"/>
                <a:ea typeface="Courier New" pitchFamily="34" charset="-122"/>
                <a:cs typeface="Courier New" pitchFamily="34" charset="-120"/>
              </a:rPr>
              <a:t>vcsp.ovf</a:t>
            </a:r>
            <a:endParaRPr lang="en-US" sz="1400" dirty="0"/>
          </a:p>
        </p:txBody>
      </p:sp>
      <p:sp>
        <p:nvSpPr>
          <p:cNvPr id="24" name="Text 21"/>
          <p:cNvSpPr txBox="1"/>
          <p:nvPr/>
        </p:nvSpPr>
        <p:spPr>
          <a:xfrm>
            <a:off x="9098280" y="2560320"/>
            <a:ext cx="2423160" cy="640080"/>
          </a:xfrm>
          <a:prstGeom prst="rect">
            <a:avLst/>
          </a:prstGeom>
          <a:noFill/>
          <a:ln/>
        </p:spPr>
        <p:txBody>
          <a:bodyPr wrap="square" lIns="0" tIns="0" rIns="0" bIns="0" rtlCol="0" anchor="t"/>
          <a:lstStyle/>
          <a:p>
            <a:pPr indent="0" marL="0">
              <a:buNone/>
            </a:pPr>
            <a:r>
              <a:rPr lang="en-US" sz="1100" dirty="0">
                <a:solidFill>
                  <a:srgbClr val="56666D"/>
                </a:solidFill>
                <a:latin typeface="Calibri" pitchFamily="34" charset="0"/>
                <a:ea typeface="Calibri" pitchFamily="34" charset="-122"/>
                <a:cs typeface="Calibri" pitchFamily="34" charset="-120"/>
              </a:rPr>
              <a:t>when: folder contains an .ovf</a:t>
            </a:r>
            <a:endParaRPr lang="en-US" sz="1100" dirty="0"/>
          </a:p>
          <a:p>
            <a:pPr indent="0" marL="0">
              <a:buNone/>
            </a:pPr>
            <a:r>
              <a:rPr lang="en-US" sz="1100" b="1" dirty="0">
                <a:solidFill>
                  <a:srgbClr val="13212B"/>
                </a:solidFill>
                <a:latin typeface="Calibri" pitchFamily="34" charset="0"/>
                <a:ea typeface="Calibri" pitchFamily="34" charset="-122"/>
                <a:cs typeface="Calibri" pitchFamily="34" charset="-120"/>
              </a:rPr>
              <a:t>Cloud Director vApp template</a:t>
            </a:r>
            <a:endParaRPr lang="en-US" sz="1100" dirty="0"/>
          </a:p>
        </p:txBody>
      </p:sp>
      <p:sp>
        <p:nvSpPr>
          <p:cNvPr id="25" name="Shape 22"/>
          <p:cNvSpPr/>
          <p:nvPr/>
        </p:nvSpPr>
        <p:spPr>
          <a:xfrm>
            <a:off x="8915400" y="3401568"/>
            <a:ext cx="2724912" cy="1097280"/>
          </a:xfrm>
          <a:prstGeom prst="roundRect">
            <a:avLst>
              <a:gd name="adj" fmla="val 6667"/>
            </a:avLst>
          </a:prstGeom>
          <a:solidFill>
            <a:srgbClr val="FFFFFF"/>
          </a:solidFill>
          <a:ln w="15875">
            <a:solidFill>
              <a:srgbClr val="0E6B5A"/>
            </a:solidFill>
            <a:prstDash val="solid"/>
          </a:ln>
        </p:spPr>
      </p:sp>
      <p:sp>
        <p:nvSpPr>
          <p:cNvPr id="26" name="Text 23"/>
          <p:cNvSpPr txBox="1"/>
          <p:nvPr/>
        </p:nvSpPr>
        <p:spPr>
          <a:xfrm>
            <a:off x="9098280" y="3511296"/>
            <a:ext cx="2377440" cy="320040"/>
          </a:xfrm>
          <a:prstGeom prst="rect">
            <a:avLst/>
          </a:prstGeom>
          <a:noFill/>
          <a:ln/>
        </p:spPr>
        <p:txBody>
          <a:bodyPr wrap="square" lIns="0" tIns="0" rIns="0" bIns="0" rtlCol="0" anchor="ctr"/>
          <a:lstStyle/>
          <a:p>
            <a:pPr indent="0" marL="0">
              <a:buNone/>
            </a:pPr>
            <a:r>
              <a:rPr lang="en-US" sz="1400" b="1" dirty="0">
                <a:solidFill>
                  <a:srgbClr val="13212B"/>
                </a:solidFill>
                <a:latin typeface="Courier New" pitchFamily="34" charset="0"/>
                <a:ea typeface="Courier New" pitchFamily="34" charset="-122"/>
                <a:cs typeface="Courier New" pitchFamily="34" charset="-120"/>
              </a:rPr>
              <a:t>vcsp.iso</a:t>
            </a:r>
            <a:endParaRPr lang="en-US" sz="1400" dirty="0"/>
          </a:p>
        </p:txBody>
      </p:sp>
      <p:sp>
        <p:nvSpPr>
          <p:cNvPr id="27" name="Text 24"/>
          <p:cNvSpPr txBox="1"/>
          <p:nvPr/>
        </p:nvSpPr>
        <p:spPr>
          <a:xfrm>
            <a:off x="9098280" y="3858768"/>
            <a:ext cx="2423160" cy="640080"/>
          </a:xfrm>
          <a:prstGeom prst="rect">
            <a:avLst/>
          </a:prstGeom>
          <a:noFill/>
          <a:ln/>
        </p:spPr>
        <p:txBody>
          <a:bodyPr wrap="square" lIns="0" tIns="0" rIns="0" bIns="0" rtlCol="0" anchor="t"/>
          <a:lstStyle/>
          <a:p>
            <a:pPr indent="0" marL="0">
              <a:buNone/>
            </a:pPr>
            <a:r>
              <a:rPr lang="en-US" sz="1100" dirty="0">
                <a:solidFill>
                  <a:srgbClr val="56666D"/>
                </a:solidFill>
                <a:latin typeface="Calibri" pitchFamily="34" charset="0"/>
                <a:ea typeface="Calibri" pitchFamily="34" charset="-122"/>
                <a:cs typeface="Calibri" pitchFamily="34" charset="-120"/>
              </a:rPr>
              <a:t>when: only .iso files; one item per ISO</a:t>
            </a:r>
            <a:endParaRPr lang="en-US" sz="1100" dirty="0"/>
          </a:p>
          <a:p>
            <a:pPr indent="0" marL="0">
              <a:buNone/>
            </a:pPr>
            <a:r>
              <a:rPr lang="en-US" sz="1100" b="1" dirty="0">
                <a:solidFill>
                  <a:srgbClr val="13212B"/>
                </a:solidFill>
                <a:latin typeface="Calibri" pitchFamily="34" charset="0"/>
                <a:ea typeface="Calibri" pitchFamily="34" charset="-122"/>
                <a:cs typeface="Calibri" pitchFamily="34" charset="-120"/>
              </a:rPr>
              <a:t>Cloud Director media</a:t>
            </a:r>
            <a:endParaRPr lang="en-US" sz="1100" dirty="0"/>
          </a:p>
        </p:txBody>
      </p:sp>
      <p:sp>
        <p:nvSpPr>
          <p:cNvPr id="28" name="Shape 25"/>
          <p:cNvSpPr/>
          <p:nvPr/>
        </p:nvSpPr>
        <p:spPr>
          <a:xfrm>
            <a:off x="8915400" y="4700016"/>
            <a:ext cx="2724912" cy="1097280"/>
          </a:xfrm>
          <a:prstGeom prst="roundRect">
            <a:avLst>
              <a:gd name="adj" fmla="val 6667"/>
            </a:avLst>
          </a:prstGeom>
          <a:solidFill>
            <a:srgbClr val="FFFFFF"/>
          </a:solidFill>
          <a:ln w="15875">
            <a:solidFill>
              <a:srgbClr val="9EAEA8"/>
            </a:solidFill>
            <a:prstDash val="solid"/>
          </a:ln>
        </p:spPr>
      </p:sp>
      <p:sp>
        <p:nvSpPr>
          <p:cNvPr id="29" name="Text 26"/>
          <p:cNvSpPr txBox="1"/>
          <p:nvPr/>
        </p:nvSpPr>
        <p:spPr>
          <a:xfrm>
            <a:off x="9098280" y="4809744"/>
            <a:ext cx="2377440" cy="320040"/>
          </a:xfrm>
          <a:prstGeom prst="rect">
            <a:avLst/>
          </a:prstGeom>
          <a:noFill/>
          <a:ln/>
        </p:spPr>
        <p:txBody>
          <a:bodyPr wrap="square" lIns="0" tIns="0" rIns="0" bIns="0" rtlCol="0" anchor="ctr"/>
          <a:lstStyle/>
          <a:p>
            <a:pPr indent="0" marL="0">
              <a:buNone/>
            </a:pPr>
            <a:r>
              <a:rPr lang="en-US" sz="1400" b="1" dirty="0">
                <a:solidFill>
                  <a:srgbClr val="13212B"/>
                </a:solidFill>
                <a:latin typeface="Courier New" pitchFamily="34" charset="0"/>
                <a:ea typeface="Courier New" pitchFamily="34" charset="-122"/>
                <a:cs typeface="Courier New" pitchFamily="34" charset="-120"/>
              </a:rPr>
              <a:t>vcsp.other</a:t>
            </a:r>
            <a:endParaRPr lang="en-US" sz="1400" dirty="0"/>
          </a:p>
        </p:txBody>
      </p:sp>
      <p:sp>
        <p:nvSpPr>
          <p:cNvPr id="30" name="Text 27"/>
          <p:cNvSpPr txBox="1"/>
          <p:nvPr/>
        </p:nvSpPr>
        <p:spPr>
          <a:xfrm>
            <a:off x="9098280" y="5157216"/>
            <a:ext cx="2423160" cy="640080"/>
          </a:xfrm>
          <a:prstGeom prst="rect">
            <a:avLst/>
          </a:prstGeom>
          <a:noFill/>
          <a:ln/>
        </p:spPr>
        <p:txBody>
          <a:bodyPr wrap="square" lIns="0" tIns="0" rIns="0" bIns="0" rtlCol="0" anchor="t"/>
          <a:lstStyle/>
          <a:p>
            <a:pPr indent="0" marL="0">
              <a:buNone/>
            </a:pPr>
            <a:r>
              <a:rPr lang="en-US" sz="1100" dirty="0">
                <a:solidFill>
                  <a:srgbClr val="56666D"/>
                </a:solidFill>
                <a:latin typeface="Calibri" pitchFamily="34" charset="0"/>
                <a:ea typeface="Calibri" pitchFamily="34" charset="-122"/>
                <a:cs typeface="Calibri" pitchFamily="34" charset="-120"/>
              </a:rPr>
              <a:t>when: anything else</a:t>
            </a:r>
            <a:endParaRPr lang="en-US" sz="1100" dirty="0"/>
          </a:p>
          <a:p>
            <a:pPr indent="0" marL="0">
              <a:buNone/>
            </a:pPr>
            <a:r>
              <a:rPr lang="en-US" sz="1100" b="1" dirty="0">
                <a:solidFill>
                  <a:srgbClr val="13212B"/>
                </a:solidFill>
                <a:latin typeface="Calibri" pitchFamily="34" charset="0"/>
                <a:ea typeface="Calibri" pitchFamily="34" charset="-122"/>
                <a:cs typeface="Calibri" pitchFamily="34" charset="-120"/>
              </a:rPr>
              <a:t>vCenter only; VCD ignores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Security controls in six layers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12 / 14</a:t>
            </a:r>
            <a:endParaRPr lang="en-US" sz="900" dirty="0"/>
          </a:p>
        </p:txBody>
      </p:sp>
      <p:sp>
        <p:nvSpPr>
          <p:cNvPr id="7" name="Shape 4"/>
          <p:cNvSpPr/>
          <p:nvPr/>
        </p:nvSpPr>
        <p:spPr>
          <a:xfrm>
            <a:off x="548640" y="1645920"/>
            <a:ext cx="2651760" cy="658368"/>
          </a:xfrm>
          <a:prstGeom prst="roundRect">
            <a:avLst>
              <a:gd name="adj" fmla="val 11111"/>
            </a:avLst>
          </a:prstGeom>
          <a:solidFill>
            <a:srgbClr val="13212B"/>
          </a:solidFill>
          <a:ln w="12700">
            <a:solidFill>
              <a:srgbClr val="13212B"/>
            </a:solidFill>
            <a:prstDash val="solid"/>
          </a:ln>
        </p:spPr>
      </p:sp>
      <p:sp>
        <p:nvSpPr>
          <p:cNvPr id="8" name="Text 5"/>
          <p:cNvSpPr/>
          <p:nvPr/>
        </p:nvSpPr>
        <p:spPr>
          <a:xfrm>
            <a:off x="685800" y="1819656"/>
            <a:ext cx="310896" cy="310896"/>
          </a:xfrm>
          <a:prstGeom prst="ellipse">
            <a:avLst/>
          </a:prstGeom>
          <a:solidFill>
            <a:srgbClr val="FFFFFF"/>
          </a:solidFill>
          <a:ln w="9525">
            <a:solidFill>
              <a:srgbClr val="FFFFFF"/>
            </a:solidFill>
          </a:ln>
        </p:spPr>
        <p:txBody>
          <a:bodyPr wrap="square" lIns="0" tIns="0" rIns="0" bIns="0"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97280" y="1645920"/>
            <a:ext cx="20574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0" name="Text 7"/>
          <p:cNvSpPr/>
          <p:nvPr/>
        </p:nvSpPr>
        <p:spPr>
          <a:xfrm>
            <a:off x="3337560" y="1645920"/>
            <a:ext cx="8302752" cy="658368"/>
          </a:xfrm>
          <a:prstGeom prst="roundRect">
            <a:avLst>
              <a:gd name="adj" fmla="val 11111"/>
            </a:avLst>
          </a:prstGeom>
          <a:solidFill>
            <a:srgbClr val="EEF1EF"/>
          </a:solidFill>
          <a:ln w="12700">
            <a:solidFill>
              <a:srgbClr val="EEF1EF"/>
            </a:solidFill>
            <a:prstDash val="solid"/>
          </a:ln>
        </p:spPr>
        <p:txBody>
          <a:bodyPr wrap="square" lIns="152400" tIns="152400" rIns="152400" bIns="1524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iptables admits only TCP 443 and 80 (persisted in ip4save); optional IP allow-lists for /lib/ and /upload/.</a:t>
            </a:r>
            <a:endParaRPr lang="en-US" sz="1200" dirty="0"/>
          </a:p>
        </p:txBody>
      </p:sp>
      <p:sp>
        <p:nvSpPr>
          <p:cNvPr id="11" name="Shape 8"/>
          <p:cNvSpPr/>
          <p:nvPr/>
        </p:nvSpPr>
        <p:spPr>
          <a:xfrm>
            <a:off x="548640" y="2414016"/>
            <a:ext cx="2651760" cy="658368"/>
          </a:xfrm>
          <a:prstGeom prst="roundRect">
            <a:avLst>
              <a:gd name="adj" fmla="val 11111"/>
            </a:avLst>
          </a:prstGeom>
          <a:solidFill>
            <a:srgbClr val="183A40"/>
          </a:solidFill>
          <a:ln w="12700">
            <a:solidFill>
              <a:srgbClr val="183A40"/>
            </a:solidFill>
            <a:prstDash val="solid"/>
          </a:ln>
        </p:spPr>
      </p:sp>
      <p:sp>
        <p:nvSpPr>
          <p:cNvPr id="12" name="Text 9"/>
          <p:cNvSpPr/>
          <p:nvPr/>
        </p:nvSpPr>
        <p:spPr>
          <a:xfrm>
            <a:off x="685800" y="2587752"/>
            <a:ext cx="310896" cy="310896"/>
          </a:xfrm>
          <a:prstGeom prst="ellipse">
            <a:avLst/>
          </a:prstGeom>
          <a:solidFill>
            <a:srgbClr val="FFFFFF"/>
          </a:solidFill>
          <a:ln w="9525">
            <a:solidFill>
              <a:srgbClr val="FFFFFF"/>
            </a:solidFill>
          </a:ln>
        </p:spPr>
        <p:txBody>
          <a:bodyPr wrap="square" lIns="0" tIns="0" rIns="0" bIns="0" rtlCol="0" anchor="ctr"/>
          <a:lstStyle/>
          <a:p>
            <a:pPr algn="ctr" indent="0" marL="0">
              <a:buNone/>
            </a:pPr>
            <a:r>
              <a:rPr lang="en-US" sz="1100" b="1" dirty="0">
                <a:solidFill>
                  <a:srgbClr val="183A40"/>
                </a:solidFill>
                <a:latin typeface="Calibri" pitchFamily="34" charset="0"/>
                <a:ea typeface="Calibri" pitchFamily="34" charset="-122"/>
                <a:cs typeface="Calibri" pitchFamily="34" charset="-120"/>
              </a:rPr>
              <a:t>2</a:t>
            </a:r>
            <a:endParaRPr lang="en-US" sz="1100" dirty="0"/>
          </a:p>
        </p:txBody>
      </p:sp>
      <p:sp>
        <p:nvSpPr>
          <p:cNvPr id="13" name="Text 10"/>
          <p:cNvSpPr txBox="1"/>
          <p:nvPr/>
        </p:nvSpPr>
        <p:spPr>
          <a:xfrm>
            <a:off x="1097280" y="2414016"/>
            <a:ext cx="20574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Transport</a:t>
            </a:r>
            <a:endParaRPr lang="en-US" sz="1300" dirty="0"/>
          </a:p>
        </p:txBody>
      </p:sp>
      <p:sp>
        <p:nvSpPr>
          <p:cNvPr id="14" name="Text 11"/>
          <p:cNvSpPr/>
          <p:nvPr/>
        </p:nvSpPr>
        <p:spPr>
          <a:xfrm>
            <a:off x="3337560" y="2414016"/>
            <a:ext cx="8302752" cy="658368"/>
          </a:xfrm>
          <a:prstGeom prst="roundRect">
            <a:avLst>
              <a:gd name="adj" fmla="val 11111"/>
            </a:avLst>
          </a:prstGeom>
          <a:solidFill>
            <a:srgbClr val="EEF1EF"/>
          </a:solidFill>
          <a:ln w="12700">
            <a:solidFill>
              <a:srgbClr val="EEF1EF"/>
            </a:solidFill>
            <a:prstDash val="solid"/>
          </a:ln>
        </p:spPr>
        <p:txBody>
          <a:bodyPr wrap="square" lIns="152400" tIns="152400" rIns="152400" bIns="1524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TLS 1.2 and 1.3 with AEAD ciphers and HSTS; self-signed certificate plus CSR, or a CA-signed one via cert-install.</a:t>
            </a:r>
            <a:endParaRPr lang="en-US" sz="1200" dirty="0"/>
          </a:p>
        </p:txBody>
      </p:sp>
      <p:sp>
        <p:nvSpPr>
          <p:cNvPr id="15" name="Shape 12"/>
          <p:cNvSpPr/>
          <p:nvPr/>
        </p:nvSpPr>
        <p:spPr>
          <a:xfrm>
            <a:off x="548640" y="3182112"/>
            <a:ext cx="2651760" cy="658368"/>
          </a:xfrm>
          <a:prstGeom prst="roundRect">
            <a:avLst>
              <a:gd name="adj" fmla="val 11111"/>
            </a:avLst>
          </a:prstGeom>
          <a:solidFill>
            <a:srgbClr val="1B4D4A"/>
          </a:solidFill>
          <a:ln w="12700">
            <a:solidFill>
              <a:srgbClr val="1B4D4A"/>
            </a:solidFill>
            <a:prstDash val="solid"/>
          </a:ln>
        </p:spPr>
      </p:sp>
      <p:sp>
        <p:nvSpPr>
          <p:cNvPr id="16" name="Text 13"/>
          <p:cNvSpPr/>
          <p:nvPr/>
        </p:nvSpPr>
        <p:spPr>
          <a:xfrm>
            <a:off x="685800" y="3355848"/>
            <a:ext cx="310896" cy="310896"/>
          </a:xfrm>
          <a:prstGeom prst="ellipse">
            <a:avLst/>
          </a:prstGeom>
          <a:solidFill>
            <a:srgbClr val="FFFFFF"/>
          </a:solidFill>
          <a:ln w="9525">
            <a:solidFill>
              <a:srgbClr val="FFFFFF"/>
            </a:solidFill>
          </a:ln>
        </p:spPr>
        <p:txBody>
          <a:bodyPr wrap="square" lIns="0" tIns="0" rIns="0" bIns="0" rtlCol="0" anchor="ctr"/>
          <a:lstStyle/>
          <a:p>
            <a:pPr algn="ctr" indent="0" marL="0">
              <a:buNone/>
            </a:pPr>
            <a:r>
              <a:rPr lang="en-US" sz="1100" b="1" dirty="0">
                <a:solidFill>
                  <a:srgbClr val="1B4D4A"/>
                </a:solidFill>
                <a:latin typeface="Calibri" pitchFamily="34" charset="0"/>
                <a:ea typeface="Calibri" pitchFamily="34" charset="-122"/>
                <a:cs typeface="Calibri" pitchFamily="34" charset="-120"/>
              </a:rPr>
              <a:t>3</a:t>
            </a:r>
            <a:endParaRPr lang="en-US" sz="1100" dirty="0"/>
          </a:p>
        </p:txBody>
      </p:sp>
      <p:sp>
        <p:nvSpPr>
          <p:cNvPr id="17" name="Text 14"/>
          <p:cNvSpPr txBox="1"/>
          <p:nvPr/>
        </p:nvSpPr>
        <p:spPr>
          <a:xfrm>
            <a:off x="1097280" y="3182112"/>
            <a:ext cx="20574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Identity</a:t>
            </a:r>
            <a:endParaRPr lang="en-US" sz="1300" dirty="0"/>
          </a:p>
        </p:txBody>
      </p:sp>
      <p:sp>
        <p:nvSpPr>
          <p:cNvPr id="18" name="Text 15"/>
          <p:cNvSpPr/>
          <p:nvPr/>
        </p:nvSpPr>
        <p:spPr>
          <a:xfrm>
            <a:off x="3337560" y="3182112"/>
            <a:ext cx="8302752" cy="658368"/>
          </a:xfrm>
          <a:prstGeom prst="roundRect">
            <a:avLst>
              <a:gd name="adj" fmla="val 11111"/>
            </a:avLst>
          </a:prstGeom>
          <a:solidFill>
            <a:srgbClr val="EEF1EF"/>
          </a:solidFill>
          <a:ln w="12700">
            <a:solidFill>
              <a:srgbClr val="EEF1EF"/>
            </a:solidFill>
            <a:prstDash val="solid"/>
          </a:ln>
        </p:spPr>
        <p:txBody>
          <a:bodyPr wrap="square" lIns="152400" tIns="152400" rIns="152400" bIns="1524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Basic auth over TLS: subscribers as vcsp, named administrators; SHA-512 crypt hashes; 20 requests/s rate limit.</a:t>
            </a:r>
            <a:endParaRPr lang="en-US" sz="1200" dirty="0"/>
          </a:p>
        </p:txBody>
      </p:sp>
      <p:sp>
        <p:nvSpPr>
          <p:cNvPr id="19" name="Shape 16"/>
          <p:cNvSpPr/>
          <p:nvPr/>
        </p:nvSpPr>
        <p:spPr>
          <a:xfrm>
            <a:off x="548640" y="3950208"/>
            <a:ext cx="2651760" cy="658368"/>
          </a:xfrm>
          <a:prstGeom prst="roundRect">
            <a:avLst>
              <a:gd name="adj" fmla="val 11111"/>
            </a:avLst>
          </a:prstGeom>
          <a:solidFill>
            <a:srgbClr val="165D55"/>
          </a:solidFill>
          <a:ln w="12700">
            <a:solidFill>
              <a:srgbClr val="165D55"/>
            </a:solidFill>
            <a:prstDash val="solid"/>
          </a:ln>
        </p:spPr>
      </p:sp>
      <p:sp>
        <p:nvSpPr>
          <p:cNvPr id="20" name="Text 17"/>
          <p:cNvSpPr/>
          <p:nvPr/>
        </p:nvSpPr>
        <p:spPr>
          <a:xfrm>
            <a:off x="685800" y="4123944"/>
            <a:ext cx="310896" cy="310896"/>
          </a:xfrm>
          <a:prstGeom prst="ellipse">
            <a:avLst/>
          </a:prstGeom>
          <a:solidFill>
            <a:srgbClr val="FFFFFF"/>
          </a:solidFill>
          <a:ln w="9525">
            <a:solidFill>
              <a:srgbClr val="FFFFFF"/>
            </a:solidFill>
          </a:ln>
        </p:spPr>
        <p:txBody>
          <a:bodyPr wrap="square" lIns="0" tIns="0" rIns="0" bIns="0" rtlCol="0" anchor="ctr"/>
          <a:lstStyle/>
          <a:p>
            <a:pPr algn="ctr" indent="0" marL="0">
              <a:buNone/>
            </a:pPr>
            <a:r>
              <a:rPr lang="en-US" sz="1100" b="1" dirty="0">
                <a:solidFill>
                  <a:srgbClr val="165D55"/>
                </a:solidFill>
                <a:latin typeface="Calibri" pitchFamily="34" charset="0"/>
                <a:ea typeface="Calibri" pitchFamily="34" charset="-122"/>
                <a:cs typeface="Calibri" pitchFamily="34" charset="-120"/>
              </a:rPr>
              <a:t>4</a:t>
            </a:r>
            <a:endParaRPr lang="en-US" sz="1100" dirty="0"/>
          </a:p>
        </p:txBody>
      </p:sp>
      <p:sp>
        <p:nvSpPr>
          <p:cNvPr id="21" name="Text 18"/>
          <p:cNvSpPr txBox="1"/>
          <p:nvPr/>
        </p:nvSpPr>
        <p:spPr>
          <a:xfrm>
            <a:off x="1097280" y="3950208"/>
            <a:ext cx="20574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p>
        </p:txBody>
      </p:sp>
      <p:sp>
        <p:nvSpPr>
          <p:cNvPr id="22" name="Text 19"/>
          <p:cNvSpPr/>
          <p:nvPr/>
        </p:nvSpPr>
        <p:spPr>
          <a:xfrm>
            <a:off x="3337560" y="3950208"/>
            <a:ext cx="8302752" cy="658368"/>
          </a:xfrm>
          <a:prstGeom prst="roundRect">
            <a:avLst>
              <a:gd name="adj" fmla="val 11111"/>
            </a:avLst>
          </a:prstGeom>
          <a:solidFill>
            <a:srgbClr val="EEF1EF"/>
          </a:solidFill>
          <a:ln w="12700">
            <a:solidFill>
              <a:srgbClr val="EEF1EF"/>
            </a:solidFill>
            <a:prstDash val="solid"/>
          </a:ln>
        </p:spPr>
        <p:txBody>
          <a:bodyPr wrap="square" lIns="152400" tIns="152400" rIns="152400" bIns="1524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CSRF header and same-origin check; strict CSP; GET/HEAD only on /lib/; dot-files and links inside the library refused.</a:t>
            </a:r>
            <a:endParaRPr lang="en-US" sz="1200" dirty="0"/>
          </a:p>
        </p:txBody>
      </p:sp>
      <p:sp>
        <p:nvSpPr>
          <p:cNvPr id="23" name="Shape 20"/>
          <p:cNvSpPr/>
          <p:nvPr/>
        </p:nvSpPr>
        <p:spPr>
          <a:xfrm>
            <a:off x="548640" y="4718304"/>
            <a:ext cx="2651760" cy="658368"/>
          </a:xfrm>
          <a:prstGeom prst="roundRect">
            <a:avLst>
              <a:gd name="adj" fmla="val 11111"/>
            </a:avLst>
          </a:prstGeom>
          <a:solidFill>
            <a:srgbClr val="0E6B5A"/>
          </a:solidFill>
          <a:ln w="12700">
            <a:solidFill>
              <a:srgbClr val="0E6B5A"/>
            </a:solidFill>
            <a:prstDash val="solid"/>
          </a:ln>
        </p:spPr>
      </p:sp>
      <p:sp>
        <p:nvSpPr>
          <p:cNvPr id="24" name="Text 21"/>
          <p:cNvSpPr/>
          <p:nvPr/>
        </p:nvSpPr>
        <p:spPr>
          <a:xfrm>
            <a:off x="685800" y="4892040"/>
            <a:ext cx="310896" cy="310896"/>
          </a:xfrm>
          <a:prstGeom prst="ellipse">
            <a:avLst/>
          </a:prstGeom>
          <a:solidFill>
            <a:srgbClr val="FFFFFF"/>
          </a:solidFill>
          <a:ln w="9525">
            <a:solidFill>
              <a:srgbClr val="FFFFFF"/>
            </a:solidFill>
          </a:ln>
        </p:spPr>
        <p:txBody>
          <a:bodyPr wrap="square" lIns="0" tIns="0" rIns="0" bIns="0" rtlCol="0" anchor="ctr"/>
          <a:lstStyle/>
          <a:p>
            <a:pPr algn="ctr" indent="0" marL="0">
              <a:buNone/>
            </a:pPr>
            <a:r>
              <a:rPr lang="en-US" sz="1100" b="1" dirty="0">
                <a:solidFill>
                  <a:srgbClr val="0E6B5A"/>
                </a:solidFill>
                <a:latin typeface="Calibri" pitchFamily="34" charset="0"/>
                <a:ea typeface="Calibri" pitchFamily="34" charset="-122"/>
                <a:cs typeface="Calibri" pitchFamily="34" charset="-120"/>
              </a:rPr>
              <a:t>5</a:t>
            </a:r>
            <a:endParaRPr lang="en-US" sz="1100" dirty="0"/>
          </a:p>
        </p:txBody>
      </p:sp>
      <p:sp>
        <p:nvSpPr>
          <p:cNvPr id="25" name="Text 22"/>
          <p:cNvSpPr txBox="1"/>
          <p:nvPr/>
        </p:nvSpPr>
        <p:spPr>
          <a:xfrm>
            <a:off x="1097280" y="4718304"/>
            <a:ext cx="20574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Content</a:t>
            </a:r>
            <a:endParaRPr lang="en-US" sz="1300" dirty="0"/>
          </a:p>
        </p:txBody>
      </p:sp>
      <p:sp>
        <p:nvSpPr>
          <p:cNvPr id="26" name="Text 23"/>
          <p:cNvSpPr/>
          <p:nvPr/>
        </p:nvSpPr>
        <p:spPr>
          <a:xfrm>
            <a:off x="3337560" y="4718304"/>
            <a:ext cx="8302752" cy="658368"/>
          </a:xfrm>
          <a:prstGeom prst="roundRect">
            <a:avLst>
              <a:gd name="adj" fmla="val 11111"/>
            </a:avLst>
          </a:prstGeom>
          <a:solidFill>
            <a:srgbClr val="EEF1EF"/>
          </a:solidFill>
          <a:ln w="12700">
            <a:solidFill>
              <a:srgbClr val="EEF1EF"/>
            </a:solidFill>
            <a:prstDash val="solid"/>
          </a:ln>
        </p:spPr>
        <p:txBody>
          <a:bodyPr wrap="square" lIns="152400" tIns="152400" rIns="152400" bIns="1524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Extension allow-list; magic bytes on the first chunk; safe OVA unpacking; OVF completeness; manifest digests verified.</a:t>
            </a:r>
            <a:endParaRPr lang="en-US" sz="1200" dirty="0"/>
          </a:p>
        </p:txBody>
      </p:sp>
      <p:sp>
        <p:nvSpPr>
          <p:cNvPr id="27" name="Shape 24"/>
          <p:cNvSpPr/>
          <p:nvPr/>
        </p:nvSpPr>
        <p:spPr>
          <a:xfrm>
            <a:off x="548640" y="5486400"/>
            <a:ext cx="2651760" cy="658368"/>
          </a:xfrm>
          <a:prstGeom prst="roundRect">
            <a:avLst>
              <a:gd name="adj" fmla="val 11111"/>
            </a:avLst>
          </a:prstGeom>
          <a:solidFill>
            <a:srgbClr val="2F7F70"/>
          </a:solidFill>
          <a:ln w="12700">
            <a:solidFill>
              <a:srgbClr val="2F7F70"/>
            </a:solidFill>
            <a:prstDash val="solid"/>
          </a:ln>
        </p:spPr>
      </p:sp>
      <p:sp>
        <p:nvSpPr>
          <p:cNvPr id="28" name="Text 25"/>
          <p:cNvSpPr/>
          <p:nvPr/>
        </p:nvSpPr>
        <p:spPr>
          <a:xfrm>
            <a:off x="685800" y="5660136"/>
            <a:ext cx="310896" cy="310896"/>
          </a:xfrm>
          <a:prstGeom prst="ellipse">
            <a:avLst/>
          </a:prstGeom>
          <a:solidFill>
            <a:srgbClr val="FFFFFF"/>
          </a:solidFill>
          <a:ln w="9525">
            <a:solidFill>
              <a:srgbClr val="FFFFFF"/>
            </a:solidFill>
          </a:ln>
        </p:spPr>
        <p:txBody>
          <a:bodyPr wrap="square" lIns="0" tIns="0" rIns="0" bIns="0" rtlCol="0" anchor="ctr"/>
          <a:lstStyle/>
          <a:p>
            <a:pPr algn="ctr" indent="0" marL="0">
              <a:buNone/>
            </a:pPr>
            <a:r>
              <a:rPr lang="en-US" sz="1100" b="1" dirty="0">
                <a:solidFill>
                  <a:srgbClr val="2F7F70"/>
                </a:solidFill>
                <a:latin typeface="Calibri" pitchFamily="34" charset="0"/>
                <a:ea typeface="Calibri" pitchFamily="34" charset="-122"/>
                <a:cs typeface="Calibri" pitchFamily="34" charset="-120"/>
              </a:rPr>
              <a:t>6</a:t>
            </a:r>
            <a:endParaRPr lang="en-US" sz="1100" dirty="0"/>
          </a:p>
        </p:txBody>
      </p:sp>
      <p:sp>
        <p:nvSpPr>
          <p:cNvPr id="29" name="Text 26"/>
          <p:cNvSpPr txBox="1"/>
          <p:nvPr/>
        </p:nvSpPr>
        <p:spPr>
          <a:xfrm>
            <a:off x="1097280" y="5486400"/>
            <a:ext cx="20574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Runtime and supply chain</a:t>
            </a:r>
            <a:endParaRPr lang="en-US" sz="1300" dirty="0"/>
          </a:p>
        </p:txBody>
      </p:sp>
      <p:sp>
        <p:nvSpPr>
          <p:cNvPr id="30" name="Text 27"/>
          <p:cNvSpPr/>
          <p:nvPr/>
        </p:nvSpPr>
        <p:spPr>
          <a:xfrm>
            <a:off x="3337560" y="5486400"/>
            <a:ext cx="8302752" cy="658368"/>
          </a:xfrm>
          <a:prstGeom prst="roundRect">
            <a:avLst>
              <a:gd name="adj" fmla="val 11111"/>
            </a:avLst>
          </a:prstGeom>
          <a:solidFill>
            <a:srgbClr val="EEF1EF"/>
          </a:solidFill>
          <a:ln w="12700">
            <a:solidFill>
              <a:srgbClr val="EEF1EF"/>
            </a:solidFill>
            <a:prstDash val="solid"/>
          </a:ln>
        </p:spPr>
        <p:txBody>
          <a:bodyPr wrap="square" lIns="152400" tIns="152400" rIns="152400" bIns="152400" rtlCol="0" anchor="ctr"/>
          <a:lstStyle/>
          <a:p>
            <a:pPr algn="l" indent="0" marL="0">
              <a:buNone/>
            </a:pPr>
            <a:r>
              <a:rPr lang="en-US" sz="1200" dirty="0">
                <a:solidFill>
                  <a:srgbClr val="13212B"/>
                </a:solidFill>
                <a:latin typeface="Calibri" pitchFamily="34" charset="0"/>
                <a:ea typeface="Calibri" pitchFamily="34" charset="-122"/>
                <a:cs typeface="Calibri" pitchFamily="34" charset="-120"/>
              </a:rPr>
              <a:t>Unprivileged vcsp user in a systemd sandbox; loopback-only backend; standard library only; signed RPM bundle.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2377440" cy="274320"/>
          </a:xfrm>
          <a:prstGeom prst="roundRect">
            <a:avLst>
              <a:gd name="adj" fmla="val 43333"/>
            </a:avLst>
          </a:prstGeom>
          <a:solidFill>
            <a:srgbClr val="13212B"/>
          </a:solidFill>
          <a:ln w="9525">
            <a:solidFill>
              <a:srgbClr val="13212B"/>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LOW-LEVEL ARCHITECTURE</a:t>
            </a:r>
            <a:endParaRPr lang="en-US" sz="1000" dirty="0"/>
          </a:p>
        </p:txBody>
      </p:sp>
      <p:sp>
        <p:nvSpPr>
          <p:cNvPr id="3" name="Text 1"/>
          <p:cNvSpPr txBox="1"/>
          <p:nvPr/>
        </p:nvSpPr>
        <p:spPr>
          <a:xfrm>
            <a:off x="548640" y="731520"/>
            <a:ext cx="11094415" cy="640080"/>
          </a:xfrm>
          <a:prstGeom prst="rect">
            <a:avLst/>
          </a:prstGeom>
          <a:noFill/>
          <a:ln/>
        </p:spPr>
        <p:txBody>
          <a:bodyPr wrap="square" lIns="0" tIns="0" rIns="0" bIns="0" rtlCol="0" anchor="ctr"/>
          <a:lstStyle/>
          <a:p>
            <a:pPr indent="0" marL="0">
              <a:buNone/>
            </a:pPr>
            <a:r>
              <a:rPr lang="en-US" sz="3000" b="1" dirty="0">
                <a:solidFill>
                  <a:srgbClr val="13212B"/>
                </a:solidFill>
                <a:latin typeface="Cambria" pitchFamily="34" charset="0"/>
                <a:ea typeface="Cambria" pitchFamily="34" charset="-122"/>
                <a:cs typeface="Cambria" pitchFamily="34" charset="-120"/>
              </a:rPr>
              <a:t>Deployment and lifecycle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56666D"/>
                </a:solidFill>
                <a:latin typeface="Calibri" pitchFamily="34" charset="0"/>
                <a:ea typeface="Calibri" pitchFamily="34" charset="-122"/>
                <a:cs typeface="Calibri" pitchFamily="34" charset="-120"/>
              </a:rPr>
              <a:t>VCSP External Content Library  |  Solution architecture</a:t>
            </a:r>
            <a:endParaRPr lang="en-US" sz="900" dirty="0"/>
          </a:p>
        </p:txBody>
      </p:sp>
      <p:sp>
        <p:nvSpPr>
          <p:cNvPr id="5" name="Text 3"/>
          <p:cNvSpPr txBox="1"/>
          <p:nvPr/>
        </p:nvSpPr>
        <p:spPr>
          <a:xfrm>
            <a:off x="10545775" y="6419088"/>
            <a:ext cx="1097280" cy="256032"/>
          </a:xfrm>
          <a:prstGeom prst="rect">
            <a:avLst/>
          </a:prstGeom>
          <a:noFill/>
          <a:ln/>
        </p:spPr>
        <p:txBody>
          <a:bodyPr wrap="square" lIns="0" tIns="0" rIns="0" bIns="0" rtlCol="0" anchor="ctr"/>
          <a:lstStyle/>
          <a:p>
            <a:pPr algn="r" indent="0" marL="0">
              <a:buNone/>
            </a:pPr>
            <a:r>
              <a:rPr lang="en-US" sz="900" dirty="0">
                <a:solidFill>
                  <a:srgbClr val="56666D"/>
                </a:solidFill>
                <a:latin typeface="Calibri" pitchFamily="34" charset="0"/>
                <a:ea typeface="Calibri" pitchFamily="34" charset="-122"/>
                <a:cs typeface="Calibri" pitchFamily="34" charset="-120"/>
              </a:rPr>
              <a:t>13 / 14</a:t>
            </a:r>
            <a:endParaRPr lang="en-US" sz="900" dirty="0"/>
          </a:p>
        </p:txBody>
      </p:sp>
      <p:sp>
        <p:nvSpPr>
          <p:cNvPr id="7" name="Shape 4"/>
          <p:cNvSpPr/>
          <p:nvPr/>
        </p:nvSpPr>
        <p:spPr>
          <a:xfrm>
            <a:off x="548640" y="1600200"/>
            <a:ext cx="3886200" cy="4526280"/>
          </a:xfrm>
          <a:prstGeom prst="roundRect">
            <a:avLst>
              <a:gd name="adj" fmla="val 2353"/>
            </a:avLst>
          </a:prstGeom>
          <a:solidFill>
            <a:srgbClr val="EEF1EF"/>
          </a:solidFill>
          <a:ln w="12700">
            <a:solidFill>
              <a:srgbClr val="EEF1EF"/>
            </a:solidFill>
            <a:prstDash val="solid"/>
          </a:ln>
        </p:spPr>
      </p:sp>
      <p:sp>
        <p:nvSpPr>
          <p:cNvPr id="8" name="Text 5"/>
          <p:cNvSpPr txBox="1"/>
          <p:nvPr/>
        </p:nvSpPr>
        <p:spPr>
          <a:xfrm>
            <a:off x="777240" y="1737360"/>
            <a:ext cx="3474720" cy="320040"/>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Internet-connected Photon OS host</a:t>
            </a:r>
            <a:endParaRPr lang="en-US" sz="1400" dirty="0"/>
          </a:p>
        </p:txBody>
      </p:sp>
      <p:sp>
        <p:nvSpPr>
          <p:cNvPr id="9" name="Text 6"/>
          <p:cNvSpPr txBox="1"/>
          <p:nvPr/>
        </p:nvSpPr>
        <p:spPr>
          <a:xfrm>
            <a:off x="777240" y="2057400"/>
            <a:ext cx="3474720" cy="274320"/>
          </a:xfrm>
          <a:prstGeom prst="rect">
            <a:avLst/>
          </a:prstGeom>
          <a:noFill/>
          <a:ln/>
        </p:spPr>
        <p:txBody>
          <a:bodyPr wrap="square" lIns="0" tIns="0" rIns="0" bIns="0" rtlCol="0" anchor="ctr"/>
          <a:lstStyle/>
          <a:p>
            <a:pPr indent="0" marL="0">
              <a:buNone/>
            </a:pPr>
            <a:r>
              <a:rPr lang="en-US" sz="1050" dirty="0">
                <a:solidFill>
                  <a:srgbClr val="56666D"/>
                </a:solidFill>
                <a:latin typeface="Courier New" pitchFamily="34" charset="0"/>
                <a:ea typeface="Courier New" pitchFamily="34" charset="-122"/>
                <a:cs typeface="Courier New" pitchFamily="34" charset="-120"/>
              </a:rPr>
              <a:t>deploy.sh download-prereqs --archive</a:t>
            </a:r>
            <a:endParaRPr lang="en-US" sz="1050" dirty="0"/>
          </a:p>
        </p:txBody>
      </p:sp>
      <p:sp>
        <p:nvSpPr>
          <p:cNvPr id="10" name="Text 7"/>
          <p:cNvSpPr/>
          <p:nvPr/>
        </p:nvSpPr>
        <p:spPr>
          <a:xfrm>
            <a:off x="822960" y="2468880"/>
            <a:ext cx="3337560" cy="685800"/>
          </a:xfrm>
          <a:prstGeom prst="roundRect">
            <a:avLst>
              <a:gd name="adj" fmla="val 10667"/>
            </a:avLst>
          </a:prstGeom>
          <a:solidFill>
            <a:srgbClr val="F6EBD6"/>
          </a:solidFill>
          <a:ln w="12700">
            <a:solidFill>
              <a:srgbClr val="B7791F"/>
            </a:solidFill>
            <a:prstDash val="solid"/>
          </a:ln>
        </p:spPr>
        <p:txBody>
          <a:bodyPr wrap="square" lIns="63500" tIns="63500" rIns="63500" bIns="63500" rtlCol="0" anchor="ctr"/>
          <a:lstStyle/>
          <a:p>
            <a:pPr algn="ctr" indent="0" marL="0">
              <a:buNone/>
            </a:pPr>
            <a:r>
              <a:rPr lang="en-US" sz="1150" dirty="0">
                <a:solidFill>
                  <a:srgbClr val="13212B"/>
                </a:solidFill>
                <a:latin typeface="Calibri" pitchFamily="34" charset="0"/>
                <a:ea typeface="Calibri" pitchFamily="34" charset="-122"/>
                <a:cs typeface="Calibri" pitchFamily="34" charset="-120"/>
              </a:rPr>
              <a:t>Bundle already complete?</a:t>
            </a:r>
            <a:endParaRPr lang="en-US" sz="1150" dirty="0"/>
          </a:p>
          <a:p>
            <a:pPr algn="ctr" indent="0" marL="0">
              <a:buNone/>
            </a:pPr>
            <a:r>
              <a:rPr lang="en-US" sz="1150" dirty="0">
                <a:solidFill>
                  <a:srgbClr val="13212B"/>
                </a:solidFill>
                <a:latin typeface="Calibri" pitchFamily="34" charset="0"/>
                <a:ea typeface="Calibri" pitchFamily="34" charset="-122"/>
                <a:cs typeface="Calibri" pitchFamily="34" charset="-120"/>
              </a:rPr>
              <a:t>yes: reuse it, no download</a:t>
            </a:r>
            <a:endParaRPr lang="en-US" sz="1150" dirty="0"/>
          </a:p>
        </p:txBody>
      </p:sp>
      <p:sp>
        <p:nvSpPr>
          <p:cNvPr id="11" name="Shape 8"/>
          <p:cNvSpPr/>
          <p:nvPr/>
        </p:nvSpPr>
        <p:spPr>
          <a:xfrm>
            <a:off x="2491740" y="3154680"/>
            <a:ext cx="0" cy="365760"/>
          </a:xfrm>
          <a:prstGeom prst="line">
            <a:avLst/>
          </a:prstGeom>
          <a:noFill/>
          <a:ln w="19050">
            <a:solidFill>
              <a:srgbClr val="5B6B70"/>
            </a:solidFill>
            <a:prstDash val="solid"/>
            <a:headEnd type="none"/>
            <a:tailEnd type="triangle"/>
          </a:ln>
        </p:spPr>
      </p:sp>
      <p:sp>
        <p:nvSpPr>
          <p:cNvPr id="12" name="Text 9"/>
          <p:cNvSpPr txBox="1"/>
          <p:nvPr/>
        </p:nvSpPr>
        <p:spPr>
          <a:xfrm>
            <a:off x="2560320" y="3218688"/>
            <a:ext cx="1463040" cy="237744"/>
          </a:xfrm>
          <a:prstGeom prst="rect">
            <a:avLst/>
          </a:prstGeom>
          <a:noFill/>
          <a:ln/>
        </p:spPr>
        <p:txBody>
          <a:bodyPr wrap="square" lIns="0" tIns="0" rIns="0" bIns="0" rtlCol="0" anchor="ctr"/>
          <a:lstStyle/>
          <a:p>
            <a:pPr algn="l" indent="0" marL="0">
              <a:buNone/>
            </a:pPr>
            <a:r>
              <a:rPr lang="en-US" sz="1000" dirty="0">
                <a:solidFill>
                  <a:srgbClr val="56666D"/>
                </a:solidFill>
                <a:latin typeface="Calibri" pitchFamily="34" charset="0"/>
                <a:ea typeface="Calibri" pitchFamily="34" charset="-122"/>
                <a:cs typeface="Calibri" pitchFamily="34" charset="-120"/>
              </a:rPr>
              <a:t>no, or --refresh</a:t>
            </a:r>
            <a:endParaRPr lang="en-US" sz="1000" dirty="0"/>
          </a:p>
        </p:txBody>
      </p:sp>
      <p:sp>
        <p:nvSpPr>
          <p:cNvPr id="13" name="Text 10"/>
          <p:cNvSpPr/>
          <p:nvPr/>
        </p:nvSpPr>
        <p:spPr>
          <a:xfrm>
            <a:off x="822960" y="3520440"/>
            <a:ext cx="3337560" cy="640080"/>
          </a:xfrm>
          <a:prstGeom prst="roundRect">
            <a:avLst>
              <a:gd name="adj" fmla="val 11429"/>
            </a:avLst>
          </a:prstGeom>
          <a:solidFill>
            <a:srgbClr val="FFFFFF"/>
          </a:solidFill>
          <a:ln w="12700">
            <a:solidFill>
              <a:srgbClr val="9EAEA8"/>
            </a:solidFill>
            <a:prstDash val="solid"/>
          </a:ln>
        </p:spPr>
        <p:txBody>
          <a:bodyPr wrap="square" lIns="63500" tIns="63500" rIns="63500" bIns="63500" rtlCol="0" anchor="ctr"/>
          <a:lstStyle/>
          <a:p>
            <a:pPr algn="ctr" indent="0" marL="0">
              <a:buNone/>
            </a:pPr>
            <a:r>
              <a:rPr lang="en-US" sz="1150" dirty="0">
                <a:solidFill>
                  <a:srgbClr val="13212B"/>
                </a:solidFill>
                <a:latin typeface="Calibri" pitchFamily="34" charset="0"/>
                <a:ea typeface="Calibri" pitchFamily="34" charset="-122"/>
                <a:cs typeface="Calibri" pitchFamily="34" charset="-120"/>
              </a:rPr>
              <a:t>tdnf --downloadonly --alldeps</a:t>
            </a:r>
            <a:endParaRPr lang="en-US" sz="1150" dirty="0"/>
          </a:p>
          <a:p>
            <a:pPr algn="ctr" indent="0" marL="0">
              <a:buNone/>
            </a:pPr>
            <a:r>
              <a:rPr lang="en-US" sz="1150" dirty="0">
                <a:solidFill>
                  <a:srgbClr val="13212B"/>
                </a:solidFill>
                <a:latin typeface="Calibri" pitchFamily="34" charset="0"/>
                <a:ea typeface="Calibri" pitchFamily="34" charset="-122"/>
                <a:cs typeface="Calibri" pitchFamily="34" charset="-120"/>
              </a:rPr>
              <a:t>into a scratch folder</a:t>
            </a:r>
            <a:endParaRPr lang="en-US" sz="1150" dirty="0"/>
          </a:p>
        </p:txBody>
      </p:sp>
      <p:sp>
        <p:nvSpPr>
          <p:cNvPr id="14" name="Shape 11"/>
          <p:cNvSpPr/>
          <p:nvPr/>
        </p:nvSpPr>
        <p:spPr>
          <a:xfrm>
            <a:off x="2491740" y="4160520"/>
            <a:ext cx="0" cy="274320"/>
          </a:xfrm>
          <a:prstGeom prst="line">
            <a:avLst/>
          </a:prstGeom>
          <a:noFill/>
          <a:ln w="19050">
            <a:solidFill>
              <a:srgbClr val="5B6B70"/>
            </a:solidFill>
            <a:prstDash val="solid"/>
            <a:headEnd type="none"/>
            <a:tailEnd type="triangle"/>
          </a:ln>
        </p:spPr>
      </p:sp>
      <p:sp>
        <p:nvSpPr>
          <p:cNvPr id="15" name="Text 12"/>
          <p:cNvSpPr/>
          <p:nvPr/>
        </p:nvSpPr>
        <p:spPr>
          <a:xfrm>
            <a:off x="822960" y="4434840"/>
            <a:ext cx="3337560" cy="502920"/>
          </a:xfrm>
          <a:prstGeom prst="roundRect">
            <a:avLst>
              <a:gd name="adj" fmla="val 14545"/>
            </a:avLst>
          </a:prstGeom>
          <a:solidFill>
            <a:srgbClr val="FFFFFF"/>
          </a:solidFill>
          <a:ln w="12700">
            <a:solidFill>
              <a:srgbClr val="9EAEA8"/>
            </a:solidFill>
            <a:prstDash val="solid"/>
          </a:ln>
        </p:spPr>
        <p:txBody>
          <a:bodyPr wrap="square" lIns="63500" tIns="63500" rIns="63500" bIns="63500" rtlCol="0" anchor="ctr"/>
          <a:lstStyle/>
          <a:p>
            <a:pPr algn="ctr" indent="0" marL="0">
              <a:buNone/>
            </a:pPr>
            <a:r>
              <a:rPr lang="en-US" sz="1150" dirty="0">
                <a:solidFill>
                  <a:srgbClr val="13212B"/>
                </a:solidFill>
                <a:latin typeface="Calibri" pitchFamily="34" charset="0"/>
                <a:ea typeface="Calibri" pitchFamily="34" charset="-122"/>
                <a:cs typeface="Calibri" pitchFamily="34" charset="-120"/>
              </a:rPr>
              <a:t>createrepo_c; swap in on success</a:t>
            </a:r>
            <a:endParaRPr lang="en-US" sz="1150" dirty="0"/>
          </a:p>
        </p:txBody>
      </p:sp>
      <p:sp>
        <p:nvSpPr>
          <p:cNvPr id="16" name="Shape 13"/>
          <p:cNvSpPr/>
          <p:nvPr/>
        </p:nvSpPr>
        <p:spPr>
          <a:xfrm>
            <a:off x="2491740" y="4937760"/>
            <a:ext cx="0" cy="274320"/>
          </a:xfrm>
          <a:prstGeom prst="line">
            <a:avLst/>
          </a:prstGeom>
          <a:noFill/>
          <a:ln w="19050">
            <a:solidFill>
              <a:srgbClr val="5B6B70"/>
            </a:solidFill>
            <a:prstDash val="solid"/>
            <a:headEnd type="none"/>
            <a:tailEnd type="triangle"/>
          </a:ln>
        </p:spPr>
      </p:sp>
      <p:sp>
        <p:nvSpPr>
          <p:cNvPr id="17" name="Text 14"/>
          <p:cNvSpPr/>
          <p:nvPr/>
        </p:nvSpPr>
        <p:spPr>
          <a:xfrm>
            <a:off x="822960" y="5212080"/>
            <a:ext cx="3337560" cy="548640"/>
          </a:xfrm>
          <a:prstGeom prst="roundRect">
            <a:avLst>
              <a:gd name="adj" fmla="val 13333"/>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project + SHA256SUMS into .tar.gz</a:t>
            </a:r>
            <a:endParaRPr lang="en-US" sz="1150" dirty="0"/>
          </a:p>
        </p:txBody>
      </p:sp>
      <p:sp>
        <p:nvSpPr>
          <p:cNvPr id="18" name="Shape 15"/>
          <p:cNvSpPr/>
          <p:nvPr/>
        </p:nvSpPr>
        <p:spPr>
          <a:xfrm>
            <a:off x="4434840" y="3840480"/>
            <a:ext cx="640080" cy="0"/>
          </a:xfrm>
          <a:prstGeom prst="line">
            <a:avLst/>
          </a:prstGeom>
          <a:noFill/>
          <a:ln w="25400">
            <a:solidFill>
              <a:srgbClr val="5B6B70"/>
            </a:solidFill>
            <a:prstDash val="solid"/>
            <a:headEnd type="none"/>
            <a:tailEnd type="triangle"/>
          </a:ln>
        </p:spPr>
      </p:sp>
      <p:sp>
        <p:nvSpPr>
          <p:cNvPr id="19" name="Text 16"/>
          <p:cNvSpPr txBox="1"/>
          <p:nvPr/>
        </p:nvSpPr>
        <p:spPr>
          <a:xfrm>
            <a:off x="4434840" y="3310128"/>
            <a:ext cx="640080" cy="457200"/>
          </a:xfrm>
          <a:prstGeom prst="rect">
            <a:avLst/>
          </a:prstGeom>
          <a:noFill/>
          <a:ln/>
        </p:spPr>
        <p:txBody>
          <a:bodyPr wrap="square" lIns="0" tIns="0" rIns="0" bIns="0" rtlCol="0" anchor="ctr"/>
          <a:lstStyle/>
          <a:p>
            <a:pPr algn="ctr" indent="0" marL="0">
              <a:buNone/>
            </a:pPr>
            <a:r>
              <a:rPr lang="en-US" sz="950" dirty="0">
                <a:solidFill>
                  <a:srgbClr val="56666D"/>
                </a:solidFill>
                <a:latin typeface="Calibri" pitchFamily="34" charset="0"/>
                <a:ea typeface="Calibri" pitchFamily="34" charset="-122"/>
                <a:cs typeface="Calibri" pitchFamily="34" charset="-120"/>
              </a:rPr>
              <a:t>copy</a:t>
            </a:r>
            <a:endParaRPr lang="en-US" sz="950" dirty="0"/>
          </a:p>
          <a:p>
            <a:pPr algn="ctr" indent="0" marL="0">
              <a:buNone/>
            </a:pPr>
            <a:r>
              <a:rPr lang="en-US" sz="950" dirty="0">
                <a:solidFill>
                  <a:srgbClr val="56666D"/>
                </a:solidFill>
                <a:latin typeface="Calibri" pitchFamily="34" charset="0"/>
                <a:ea typeface="Calibri" pitchFamily="34" charset="-122"/>
                <a:cs typeface="Calibri" pitchFamily="34" charset="-120"/>
              </a:rPr>
              <a:t>+ sha256</a:t>
            </a:r>
            <a:endParaRPr lang="en-US" sz="950" dirty="0"/>
          </a:p>
        </p:txBody>
      </p:sp>
      <p:sp>
        <p:nvSpPr>
          <p:cNvPr id="20" name="Shape 17"/>
          <p:cNvSpPr/>
          <p:nvPr/>
        </p:nvSpPr>
        <p:spPr>
          <a:xfrm>
            <a:off x="5074920" y="1600200"/>
            <a:ext cx="6565392" cy="4526280"/>
          </a:xfrm>
          <a:prstGeom prst="roundRect">
            <a:avLst>
              <a:gd name="adj" fmla="val 2020"/>
            </a:avLst>
          </a:prstGeom>
          <a:solidFill>
            <a:srgbClr val="EEF1EF"/>
          </a:solidFill>
          <a:ln w="12700">
            <a:solidFill>
              <a:srgbClr val="EEF1EF"/>
            </a:solidFill>
            <a:prstDash val="solid"/>
          </a:ln>
        </p:spPr>
      </p:sp>
      <p:sp>
        <p:nvSpPr>
          <p:cNvPr id="21" name="Text 18"/>
          <p:cNvSpPr txBox="1"/>
          <p:nvPr/>
        </p:nvSpPr>
        <p:spPr>
          <a:xfrm>
            <a:off x="5303520" y="1737360"/>
            <a:ext cx="6126480" cy="320040"/>
          </a:xfrm>
          <a:prstGeom prst="rect">
            <a:avLst/>
          </a:prstGeom>
          <a:noFill/>
          <a:ln/>
        </p:spPr>
        <p:txBody>
          <a:bodyPr wrap="square" lIns="0" tIns="0" rIns="0" bIns="0" rtlCol="0" anchor="ctr"/>
          <a:lstStyle/>
          <a:p>
            <a:pPr indent="0" marL="0">
              <a:buNone/>
            </a:pPr>
            <a:r>
              <a:rPr lang="en-US" sz="1400" b="1" dirty="0">
                <a:solidFill>
                  <a:srgbClr val="13212B"/>
                </a:solidFill>
                <a:latin typeface="Calibri" pitchFamily="34" charset="0"/>
                <a:ea typeface="Calibri" pitchFamily="34" charset="-122"/>
                <a:cs typeface="Calibri" pitchFamily="34" charset="-120"/>
              </a:rPr>
              <a:t>Target Photon OS VM (online or air-gapped)</a:t>
            </a:r>
            <a:endParaRPr lang="en-US" sz="1400" dirty="0"/>
          </a:p>
        </p:txBody>
      </p:sp>
      <p:sp>
        <p:nvSpPr>
          <p:cNvPr id="22" name="Text 19"/>
          <p:cNvSpPr txBox="1"/>
          <p:nvPr/>
        </p:nvSpPr>
        <p:spPr>
          <a:xfrm>
            <a:off x="5303520" y="2057400"/>
            <a:ext cx="6126480" cy="274320"/>
          </a:xfrm>
          <a:prstGeom prst="rect">
            <a:avLst/>
          </a:prstGeom>
          <a:noFill/>
          <a:ln/>
        </p:spPr>
        <p:txBody>
          <a:bodyPr wrap="square" lIns="0" tIns="0" rIns="0" bIns="0" rtlCol="0" anchor="ctr"/>
          <a:lstStyle/>
          <a:p>
            <a:pPr indent="0" marL="0">
              <a:buNone/>
            </a:pPr>
            <a:r>
              <a:rPr lang="en-US" sz="1050" dirty="0">
                <a:solidFill>
                  <a:srgbClr val="56666D"/>
                </a:solidFill>
                <a:latin typeface="Courier New" pitchFamily="34" charset="0"/>
                <a:ea typeface="Courier New" pitchFamily="34" charset="-122"/>
                <a:cs typeface="Courier New" pitchFamily="34" charset="-120"/>
              </a:rPr>
              <a:t>deploy.sh install   (idempotent: keeps certificates, passwords, data)</a:t>
            </a:r>
            <a:endParaRPr lang="en-US" sz="1050" dirty="0"/>
          </a:p>
        </p:txBody>
      </p:sp>
      <p:sp>
        <p:nvSpPr>
          <p:cNvPr id="23" name="Shape 20"/>
          <p:cNvSpPr/>
          <p:nvPr/>
        </p:nvSpPr>
        <p:spPr>
          <a:xfrm>
            <a:off x="5303520" y="2468880"/>
            <a:ext cx="2926080" cy="475488"/>
          </a:xfrm>
          <a:prstGeom prst="roundRect">
            <a:avLst>
              <a:gd name="adj" fmla="val 15385"/>
            </a:avLst>
          </a:prstGeom>
          <a:solidFill>
            <a:srgbClr val="FFFFFF"/>
          </a:solidFill>
          <a:ln w="9525">
            <a:solidFill>
              <a:srgbClr val="9EAEA8"/>
            </a:solidFill>
            <a:prstDash val="solid"/>
          </a:ln>
        </p:spPr>
      </p:sp>
      <p:sp>
        <p:nvSpPr>
          <p:cNvPr id="24" name="Text 21"/>
          <p:cNvSpPr/>
          <p:nvPr/>
        </p:nvSpPr>
        <p:spPr>
          <a:xfrm>
            <a:off x="5394960" y="2551176"/>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5" name="Text 22"/>
          <p:cNvSpPr txBox="1"/>
          <p:nvPr/>
        </p:nvSpPr>
        <p:spPr>
          <a:xfrm>
            <a:off x="5779008" y="2468880"/>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Prerequisites: skip if installed, else only the missing</a:t>
            </a:r>
            <a:endParaRPr lang="en-US" sz="1050" dirty="0"/>
          </a:p>
        </p:txBody>
      </p:sp>
      <p:sp>
        <p:nvSpPr>
          <p:cNvPr id="26" name="Shape 23"/>
          <p:cNvSpPr/>
          <p:nvPr/>
        </p:nvSpPr>
        <p:spPr>
          <a:xfrm>
            <a:off x="5303520" y="3035808"/>
            <a:ext cx="2926080" cy="475488"/>
          </a:xfrm>
          <a:prstGeom prst="roundRect">
            <a:avLst>
              <a:gd name="adj" fmla="val 15385"/>
            </a:avLst>
          </a:prstGeom>
          <a:solidFill>
            <a:srgbClr val="FFFFFF"/>
          </a:solidFill>
          <a:ln w="9525">
            <a:solidFill>
              <a:srgbClr val="9EAEA8"/>
            </a:solidFill>
            <a:prstDash val="solid"/>
          </a:ln>
        </p:spPr>
      </p:sp>
      <p:sp>
        <p:nvSpPr>
          <p:cNvPr id="27" name="Text 24"/>
          <p:cNvSpPr/>
          <p:nvPr/>
        </p:nvSpPr>
        <p:spPr>
          <a:xfrm>
            <a:off x="5394960" y="3118104"/>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Text 25"/>
          <p:cNvSpPr txBox="1"/>
          <p:nvPr/>
        </p:nvSpPr>
        <p:spPr>
          <a:xfrm>
            <a:off x="5779008" y="3035808"/>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Verify bundle: SHA-256 and rpm -K signatures</a:t>
            </a:r>
            <a:endParaRPr lang="en-US" sz="1050" dirty="0"/>
          </a:p>
        </p:txBody>
      </p:sp>
      <p:sp>
        <p:nvSpPr>
          <p:cNvPr id="29" name="Shape 26"/>
          <p:cNvSpPr/>
          <p:nvPr/>
        </p:nvSpPr>
        <p:spPr>
          <a:xfrm>
            <a:off x="5303520" y="3602736"/>
            <a:ext cx="2926080" cy="475488"/>
          </a:xfrm>
          <a:prstGeom prst="roundRect">
            <a:avLst>
              <a:gd name="adj" fmla="val 15385"/>
            </a:avLst>
          </a:prstGeom>
          <a:solidFill>
            <a:srgbClr val="FFFFFF"/>
          </a:solidFill>
          <a:ln w="9525">
            <a:solidFill>
              <a:srgbClr val="9EAEA8"/>
            </a:solidFill>
            <a:prstDash val="solid"/>
          </a:ln>
        </p:spPr>
      </p:sp>
      <p:sp>
        <p:nvSpPr>
          <p:cNvPr id="30" name="Text 27"/>
          <p:cNvSpPr/>
          <p:nvPr/>
        </p:nvSpPr>
        <p:spPr>
          <a:xfrm>
            <a:off x="5394960" y="3685032"/>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Text 28"/>
          <p:cNvSpPr txBox="1"/>
          <p:nvPr/>
        </p:nvSpPr>
        <p:spPr>
          <a:xfrm>
            <a:off x="5779008" y="3602736"/>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User and folders; resolve /srv to /var/srv</a:t>
            </a:r>
            <a:endParaRPr lang="en-US" sz="1050" dirty="0"/>
          </a:p>
        </p:txBody>
      </p:sp>
      <p:sp>
        <p:nvSpPr>
          <p:cNvPr id="32" name="Shape 29"/>
          <p:cNvSpPr/>
          <p:nvPr/>
        </p:nvSpPr>
        <p:spPr>
          <a:xfrm>
            <a:off x="5303520" y="4169664"/>
            <a:ext cx="2926080" cy="475488"/>
          </a:xfrm>
          <a:prstGeom prst="roundRect">
            <a:avLst>
              <a:gd name="adj" fmla="val 15385"/>
            </a:avLst>
          </a:prstGeom>
          <a:solidFill>
            <a:srgbClr val="FFFFFF"/>
          </a:solidFill>
          <a:ln w="9525">
            <a:solidFill>
              <a:srgbClr val="9EAEA8"/>
            </a:solidFill>
            <a:prstDash val="solid"/>
          </a:ln>
        </p:spPr>
      </p:sp>
      <p:sp>
        <p:nvSpPr>
          <p:cNvPr id="33" name="Text 30"/>
          <p:cNvSpPr/>
          <p:nvPr/>
        </p:nvSpPr>
        <p:spPr>
          <a:xfrm>
            <a:off x="5394960" y="4251960"/>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4" name="Text 31"/>
          <p:cNvSpPr txBox="1"/>
          <p:nvPr/>
        </p:nvSpPr>
        <p:spPr>
          <a:xfrm>
            <a:off x="5779008" y="4169664"/>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Program files to /opt/vcsp</a:t>
            </a:r>
            <a:endParaRPr lang="en-US" sz="1050" dirty="0"/>
          </a:p>
        </p:txBody>
      </p:sp>
      <p:sp>
        <p:nvSpPr>
          <p:cNvPr id="35" name="Shape 32"/>
          <p:cNvSpPr/>
          <p:nvPr/>
        </p:nvSpPr>
        <p:spPr>
          <a:xfrm>
            <a:off x="5303520" y="4736592"/>
            <a:ext cx="2926080" cy="475488"/>
          </a:xfrm>
          <a:prstGeom prst="roundRect">
            <a:avLst>
              <a:gd name="adj" fmla="val 15385"/>
            </a:avLst>
          </a:prstGeom>
          <a:solidFill>
            <a:srgbClr val="FFFFFF"/>
          </a:solidFill>
          <a:ln w="9525">
            <a:solidFill>
              <a:srgbClr val="9EAEA8"/>
            </a:solidFill>
            <a:prstDash val="solid"/>
          </a:ln>
        </p:spPr>
      </p:sp>
      <p:sp>
        <p:nvSpPr>
          <p:cNvPr id="36" name="Text 33"/>
          <p:cNvSpPr/>
          <p:nvPr/>
        </p:nvSpPr>
        <p:spPr>
          <a:xfrm>
            <a:off x="5394960" y="4818888"/>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7" name="Text 34"/>
          <p:cNvSpPr txBox="1"/>
          <p:nvPr/>
        </p:nvSpPr>
        <p:spPr>
          <a:xfrm>
            <a:off x="5779008" y="4736592"/>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TLS certificate and CSR</a:t>
            </a:r>
            <a:endParaRPr lang="en-US" sz="1050" dirty="0"/>
          </a:p>
        </p:txBody>
      </p:sp>
      <p:sp>
        <p:nvSpPr>
          <p:cNvPr id="38" name="Shape 35"/>
          <p:cNvSpPr/>
          <p:nvPr/>
        </p:nvSpPr>
        <p:spPr>
          <a:xfrm>
            <a:off x="5303520" y="5303520"/>
            <a:ext cx="2926080" cy="475488"/>
          </a:xfrm>
          <a:prstGeom prst="roundRect">
            <a:avLst>
              <a:gd name="adj" fmla="val 15385"/>
            </a:avLst>
          </a:prstGeom>
          <a:solidFill>
            <a:srgbClr val="FFFFFF"/>
          </a:solidFill>
          <a:ln w="9525">
            <a:solidFill>
              <a:srgbClr val="9EAEA8"/>
            </a:solidFill>
            <a:prstDash val="solid"/>
          </a:ln>
        </p:spPr>
      </p:sp>
      <p:sp>
        <p:nvSpPr>
          <p:cNvPr id="39" name="Text 36"/>
          <p:cNvSpPr/>
          <p:nvPr/>
        </p:nvSpPr>
        <p:spPr>
          <a:xfrm>
            <a:off x="5394960" y="5385816"/>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0" name="Text 37"/>
          <p:cNvSpPr txBox="1"/>
          <p:nvPr/>
        </p:nvSpPr>
        <p:spPr>
          <a:xfrm>
            <a:off x="5779008" y="5303520"/>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Administrator and library passwords</a:t>
            </a:r>
            <a:endParaRPr lang="en-US" sz="1050" dirty="0"/>
          </a:p>
        </p:txBody>
      </p:sp>
      <p:sp>
        <p:nvSpPr>
          <p:cNvPr id="41" name="Shape 38"/>
          <p:cNvSpPr/>
          <p:nvPr/>
        </p:nvSpPr>
        <p:spPr>
          <a:xfrm>
            <a:off x="8503920" y="2468880"/>
            <a:ext cx="2926080" cy="475488"/>
          </a:xfrm>
          <a:prstGeom prst="roundRect">
            <a:avLst>
              <a:gd name="adj" fmla="val 15385"/>
            </a:avLst>
          </a:prstGeom>
          <a:solidFill>
            <a:srgbClr val="FFFFFF"/>
          </a:solidFill>
          <a:ln w="9525">
            <a:solidFill>
              <a:srgbClr val="9EAEA8"/>
            </a:solidFill>
            <a:prstDash val="solid"/>
          </a:ln>
        </p:spPr>
      </p:sp>
      <p:sp>
        <p:nvSpPr>
          <p:cNvPr id="42" name="Text 39"/>
          <p:cNvSpPr/>
          <p:nvPr/>
        </p:nvSpPr>
        <p:spPr>
          <a:xfrm>
            <a:off x="8595360" y="2551176"/>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3" name="Text 40"/>
          <p:cNvSpPr txBox="1"/>
          <p:nvPr/>
        </p:nvSpPr>
        <p:spPr>
          <a:xfrm>
            <a:off x="8979408" y="2468880"/>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nginx config: test, roll back on error</a:t>
            </a:r>
            <a:endParaRPr lang="en-US" sz="1050" dirty="0"/>
          </a:p>
        </p:txBody>
      </p:sp>
      <p:sp>
        <p:nvSpPr>
          <p:cNvPr id="44" name="Shape 41"/>
          <p:cNvSpPr/>
          <p:nvPr/>
        </p:nvSpPr>
        <p:spPr>
          <a:xfrm>
            <a:off x="8503920" y="3035808"/>
            <a:ext cx="2926080" cy="475488"/>
          </a:xfrm>
          <a:prstGeom prst="roundRect">
            <a:avLst>
              <a:gd name="adj" fmla="val 15385"/>
            </a:avLst>
          </a:prstGeom>
          <a:solidFill>
            <a:srgbClr val="FFFFFF"/>
          </a:solidFill>
          <a:ln w="9525">
            <a:solidFill>
              <a:srgbClr val="9EAEA8"/>
            </a:solidFill>
            <a:prstDash val="solid"/>
          </a:ln>
        </p:spPr>
      </p:sp>
      <p:sp>
        <p:nvSpPr>
          <p:cNvPr id="45" name="Text 42"/>
          <p:cNvSpPr/>
          <p:nvPr/>
        </p:nvSpPr>
        <p:spPr>
          <a:xfrm>
            <a:off x="8595360" y="3118104"/>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6" name="Text 43"/>
          <p:cNvSpPr txBox="1"/>
          <p:nvPr/>
        </p:nvSpPr>
        <p:spPr>
          <a:xfrm>
            <a:off x="8979408" y="3035808"/>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systemd units and drop-ins</a:t>
            </a:r>
            <a:endParaRPr lang="en-US" sz="1050" dirty="0"/>
          </a:p>
        </p:txBody>
      </p:sp>
      <p:sp>
        <p:nvSpPr>
          <p:cNvPr id="47" name="Shape 44"/>
          <p:cNvSpPr/>
          <p:nvPr/>
        </p:nvSpPr>
        <p:spPr>
          <a:xfrm>
            <a:off x="8503920" y="3602736"/>
            <a:ext cx="2926080" cy="475488"/>
          </a:xfrm>
          <a:prstGeom prst="roundRect">
            <a:avLst>
              <a:gd name="adj" fmla="val 15385"/>
            </a:avLst>
          </a:prstGeom>
          <a:solidFill>
            <a:srgbClr val="FFFFFF"/>
          </a:solidFill>
          <a:ln w="9525">
            <a:solidFill>
              <a:srgbClr val="9EAEA8"/>
            </a:solidFill>
            <a:prstDash val="solid"/>
          </a:ln>
        </p:spPr>
      </p:sp>
      <p:sp>
        <p:nvSpPr>
          <p:cNvPr id="48" name="Text 45"/>
          <p:cNvSpPr/>
          <p:nvPr/>
        </p:nvSpPr>
        <p:spPr>
          <a:xfrm>
            <a:off x="8595360" y="3685032"/>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49" name="Text 46"/>
          <p:cNvSpPr txBox="1"/>
          <p:nvPr/>
        </p:nvSpPr>
        <p:spPr>
          <a:xfrm>
            <a:off x="8979408" y="3602736"/>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Firewall: 443 and 80, persisted</a:t>
            </a:r>
            <a:endParaRPr lang="en-US" sz="1050" dirty="0"/>
          </a:p>
        </p:txBody>
      </p:sp>
      <p:sp>
        <p:nvSpPr>
          <p:cNvPr id="50" name="Shape 47"/>
          <p:cNvSpPr/>
          <p:nvPr/>
        </p:nvSpPr>
        <p:spPr>
          <a:xfrm>
            <a:off x="8503920" y="4169664"/>
            <a:ext cx="2926080" cy="475488"/>
          </a:xfrm>
          <a:prstGeom prst="roundRect">
            <a:avLst>
              <a:gd name="adj" fmla="val 15385"/>
            </a:avLst>
          </a:prstGeom>
          <a:solidFill>
            <a:srgbClr val="FFFFFF"/>
          </a:solidFill>
          <a:ln w="9525">
            <a:solidFill>
              <a:srgbClr val="9EAEA8"/>
            </a:solidFill>
            <a:prstDash val="solid"/>
          </a:ln>
        </p:spPr>
      </p:sp>
      <p:sp>
        <p:nvSpPr>
          <p:cNvPr id="51" name="Text 48"/>
          <p:cNvSpPr/>
          <p:nvPr/>
        </p:nvSpPr>
        <p:spPr>
          <a:xfrm>
            <a:off x="8595360" y="4251960"/>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52" name="Text 49"/>
          <p:cNvSpPr txBox="1"/>
          <p:nvPr/>
        </p:nvSpPr>
        <p:spPr>
          <a:xfrm>
            <a:off x="8979408" y="4169664"/>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Initial index</a:t>
            </a:r>
            <a:endParaRPr lang="en-US" sz="1050" dirty="0"/>
          </a:p>
        </p:txBody>
      </p:sp>
      <p:sp>
        <p:nvSpPr>
          <p:cNvPr id="53" name="Shape 50"/>
          <p:cNvSpPr/>
          <p:nvPr/>
        </p:nvSpPr>
        <p:spPr>
          <a:xfrm>
            <a:off x="8503920" y="4736592"/>
            <a:ext cx="2926080" cy="475488"/>
          </a:xfrm>
          <a:prstGeom prst="roundRect">
            <a:avLst>
              <a:gd name="adj" fmla="val 15385"/>
            </a:avLst>
          </a:prstGeom>
          <a:solidFill>
            <a:srgbClr val="FFFFFF"/>
          </a:solidFill>
          <a:ln w="9525">
            <a:solidFill>
              <a:srgbClr val="9EAEA8"/>
            </a:solidFill>
            <a:prstDash val="solid"/>
          </a:ln>
        </p:spPr>
      </p:sp>
      <p:sp>
        <p:nvSpPr>
          <p:cNvPr id="54" name="Text 51"/>
          <p:cNvSpPr/>
          <p:nvPr/>
        </p:nvSpPr>
        <p:spPr>
          <a:xfrm>
            <a:off x="8595360" y="4818888"/>
            <a:ext cx="310896" cy="310896"/>
          </a:xfrm>
          <a:prstGeom prst="ellipse">
            <a:avLst/>
          </a:prstGeom>
          <a:solidFill>
            <a:srgbClr val="0E6B5A"/>
          </a:solidFill>
          <a:ln w="9525">
            <a:solidFill>
              <a:srgbClr val="0E6B5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55" name="Text 52"/>
          <p:cNvSpPr txBox="1"/>
          <p:nvPr/>
        </p:nvSpPr>
        <p:spPr>
          <a:xfrm>
            <a:off x="8979408" y="4736592"/>
            <a:ext cx="2377440" cy="475488"/>
          </a:xfrm>
          <a:prstGeom prst="rect">
            <a:avLst/>
          </a:prstGeom>
          <a:noFill/>
          <a:ln/>
        </p:spPr>
        <p:txBody>
          <a:bodyPr wrap="square" lIns="0" tIns="0" rIns="0" bIns="0" rtlCol="0" anchor="ctr"/>
          <a:lstStyle/>
          <a:p>
            <a:pPr indent="0" marL="0">
              <a:buNone/>
            </a:pPr>
            <a:r>
              <a:rPr lang="en-US" sz="1050" dirty="0">
                <a:solidFill>
                  <a:srgbClr val="13212B"/>
                </a:solidFill>
                <a:latin typeface="Calibri" pitchFamily="34" charset="0"/>
                <a:ea typeface="Calibri" pitchFamily="34" charset="-122"/>
                <a:cs typeface="Calibri" pitchFamily="34" charset="-120"/>
              </a:rPr>
              <a:t>Verify: 13 end-to-end checks</a:t>
            </a:r>
            <a:endParaRPr lang="en-US" sz="1050" dirty="0"/>
          </a:p>
        </p:txBody>
      </p:sp>
      <p:sp>
        <p:nvSpPr>
          <p:cNvPr id="56" name="Text 53"/>
          <p:cNvSpPr/>
          <p:nvPr/>
        </p:nvSpPr>
        <p:spPr>
          <a:xfrm>
            <a:off x="8503920" y="5303520"/>
            <a:ext cx="2926080" cy="475488"/>
          </a:xfrm>
          <a:prstGeom prst="roundRect">
            <a:avLst>
              <a:gd name="adj" fmla="val 15385"/>
            </a:avLst>
          </a:prstGeom>
          <a:solidFill>
            <a:srgbClr val="0E6B5A"/>
          </a:solidFill>
          <a:ln w="12700">
            <a:solidFill>
              <a:srgbClr val="0E6B5A"/>
            </a:solidFill>
            <a:prstDash val="solid"/>
          </a:ln>
        </p:spPr>
        <p:txBody>
          <a:bodyPr wrap="square" lIns="63500" tIns="63500" rIns="63500" bIns="635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 https://&lt;fqdn&gt;/lib/lib.json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31520" y="548640"/>
            <a:ext cx="1188720" cy="274320"/>
          </a:xfrm>
          <a:prstGeom prst="roundRect">
            <a:avLst>
              <a:gd name="adj" fmla="val 43333"/>
            </a:avLst>
          </a:prstGeom>
          <a:solidFill>
            <a:srgbClr val="0E6B5A"/>
          </a:solidFill>
          <a:ln w="9525">
            <a:solidFill>
              <a:srgbClr val="0E6B5A"/>
            </a:solid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SUMMARY</a:t>
            </a:r>
            <a:endParaRPr lang="en-US" sz="1000" dirty="0"/>
          </a:p>
        </p:txBody>
      </p:sp>
      <p:sp>
        <p:nvSpPr>
          <p:cNvPr id="3" name="Text 1"/>
          <p:cNvSpPr txBox="1"/>
          <p:nvPr/>
        </p:nvSpPr>
        <p:spPr>
          <a:xfrm>
            <a:off x="731520" y="914400"/>
            <a:ext cx="73152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At a glance</a:t>
            </a:r>
            <a:endParaRPr lang="en-US" sz="3800" dirty="0"/>
          </a:p>
        </p:txBody>
      </p:sp>
      <p:sp>
        <p:nvSpPr>
          <p:cNvPr id="4" name="Text 2"/>
          <p:cNvSpPr txBox="1"/>
          <p:nvPr/>
        </p:nvSpPr>
        <p:spPr>
          <a:xfrm>
            <a:off x="731520" y="2011680"/>
            <a:ext cx="2560320" cy="1005840"/>
          </a:xfrm>
          <a:prstGeom prst="rect">
            <a:avLst/>
          </a:prstGeom>
          <a:noFill/>
          <a:ln/>
        </p:spPr>
        <p:txBody>
          <a:bodyPr wrap="square" lIns="0" tIns="0" rIns="0" bIns="0" rtlCol="0" anchor="b"/>
          <a:lstStyle/>
          <a:p>
            <a:pPr indent="0" marL="0">
              <a:buNone/>
            </a:pPr>
            <a:r>
              <a:rPr lang="en-US" sz="5600" b="1" dirty="0">
                <a:solidFill>
                  <a:srgbClr val="46B59A"/>
                </a:solidFill>
                <a:latin typeface="Cambria" pitchFamily="34" charset="0"/>
                <a:ea typeface="Cambria" pitchFamily="34" charset="-122"/>
                <a:cs typeface="Cambria" pitchFamily="34" charset="-120"/>
              </a:rPr>
              <a:t>1</a:t>
            </a:r>
            <a:endParaRPr lang="en-US" sz="5600" dirty="0"/>
          </a:p>
        </p:txBody>
      </p:sp>
      <p:sp>
        <p:nvSpPr>
          <p:cNvPr id="5" name="Text 3"/>
          <p:cNvSpPr txBox="1"/>
          <p:nvPr/>
        </p:nvSpPr>
        <p:spPr>
          <a:xfrm>
            <a:off x="731520" y="3108960"/>
            <a:ext cx="25603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subscription URL</a:t>
            </a:r>
            <a:endParaRPr lang="en-US" sz="1600" dirty="0"/>
          </a:p>
        </p:txBody>
      </p:sp>
      <p:sp>
        <p:nvSpPr>
          <p:cNvPr id="6" name="Text 4"/>
          <p:cNvSpPr txBox="1"/>
          <p:nvPr/>
        </p:nvSpPr>
        <p:spPr>
          <a:xfrm>
            <a:off x="731520" y="3493008"/>
            <a:ext cx="2468880" cy="731520"/>
          </a:xfrm>
          <a:prstGeom prst="rect">
            <a:avLst/>
          </a:prstGeom>
          <a:noFill/>
          <a:ln/>
        </p:spPr>
        <p:txBody>
          <a:bodyPr wrap="square" lIns="0" tIns="0" rIns="0" bIns="0" rtlCol="0" anchor="t"/>
          <a:lstStyle/>
          <a:p>
            <a:pPr indent="0" marL="0">
              <a:buNone/>
            </a:pPr>
            <a:r>
              <a:rPr lang="en-US" sz="1250" dirty="0">
                <a:solidFill>
                  <a:srgbClr val="B8C7C2"/>
                </a:solidFill>
                <a:latin typeface="Calibri" pitchFamily="34" charset="0"/>
                <a:ea typeface="Calibri" pitchFamily="34" charset="-122"/>
                <a:cs typeface="Calibri" pitchFamily="34" charset="-120"/>
              </a:rPr>
              <a:t>and one password (user vcsp) per subscriber</a:t>
            </a:r>
            <a:endParaRPr lang="en-US" sz="1250" dirty="0"/>
          </a:p>
        </p:txBody>
      </p:sp>
      <p:sp>
        <p:nvSpPr>
          <p:cNvPr id="7" name="Text 5"/>
          <p:cNvSpPr txBox="1"/>
          <p:nvPr/>
        </p:nvSpPr>
        <p:spPr>
          <a:xfrm>
            <a:off x="3520440" y="2011680"/>
            <a:ext cx="2560320" cy="1005840"/>
          </a:xfrm>
          <a:prstGeom prst="rect">
            <a:avLst/>
          </a:prstGeom>
          <a:noFill/>
          <a:ln/>
        </p:spPr>
        <p:txBody>
          <a:bodyPr wrap="square" lIns="0" tIns="0" rIns="0" bIns="0" rtlCol="0" anchor="b"/>
          <a:lstStyle/>
          <a:p>
            <a:pPr indent="0" marL="0">
              <a:buNone/>
            </a:pPr>
            <a:r>
              <a:rPr lang="en-US" sz="5600" b="1" dirty="0">
                <a:solidFill>
                  <a:srgbClr val="46B59A"/>
                </a:solidFill>
                <a:latin typeface="Cambria" pitchFamily="34" charset="0"/>
                <a:ea typeface="Cambria" pitchFamily="34" charset="-122"/>
                <a:cs typeface="Cambria" pitchFamily="34" charset="-120"/>
              </a:rPr>
              <a:t>0</a:t>
            </a:r>
            <a:endParaRPr lang="en-US" sz="5600" dirty="0"/>
          </a:p>
        </p:txBody>
      </p:sp>
      <p:sp>
        <p:nvSpPr>
          <p:cNvPr id="8" name="Text 6"/>
          <p:cNvSpPr txBox="1"/>
          <p:nvPr/>
        </p:nvSpPr>
        <p:spPr>
          <a:xfrm>
            <a:off x="3520440" y="3108960"/>
            <a:ext cx="25603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third-party packages</a:t>
            </a:r>
            <a:endParaRPr lang="en-US" sz="1600" dirty="0"/>
          </a:p>
        </p:txBody>
      </p:sp>
      <p:sp>
        <p:nvSpPr>
          <p:cNvPr id="9" name="Text 7"/>
          <p:cNvSpPr txBox="1"/>
          <p:nvPr/>
        </p:nvSpPr>
        <p:spPr>
          <a:xfrm>
            <a:off x="3520440" y="3493008"/>
            <a:ext cx="2468880" cy="731520"/>
          </a:xfrm>
          <a:prstGeom prst="rect">
            <a:avLst/>
          </a:prstGeom>
          <a:noFill/>
          <a:ln/>
        </p:spPr>
        <p:txBody>
          <a:bodyPr wrap="square" lIns="0" tIns="0" rIns="0" bIns="0" rtlCol="0" anchor="t"/>
          <a:lstStyle/>
          <a:p>
            <a:pPr indent="0" marL="0">
              <a:buNone/>
            </a:pPr>
            <a:r>
              <a:rPr lang="en-US" sz="1250" dirty="0">
                <a:solidFill>
                  <a:srgbClr val="B8C7C2"/>
                </a:solidFill>
                <a:latin typeface="Calibri" pitchFamily="34" charset="0"/>
                <a:ea typeface="Calibri" pitchFamily="34" charset="-122"/>
                <a:cs typeface="Calibri" pitchFamily="34" charset="-120"/>
              </a:rPr>
              <a:t>Python standard library and Photon OS RPMs only</a:t>
            </a:r>
            <a:endParaRPr lang="en-US" sz="1250" dirty="0"/>
          </a:p>
        </p:txBody>
      </p:sp>
      <p:sp>
        <p:nvSpPr>
          <p:cNvPr id="10" name="Text 8"/>
          <p:cNvSpPr txBox="1"/>
          <p:nvPr/>
        </p:nvSpPr>
        <p:spPr>
          <a:xfrm>
            <a:off x="6309360" y="2011680"/>
            <a:ext cx="2560320" cy="1005840"/>
          </a:xfrm>
          <a:prstGeom prst="rect">
            <a:avLst/>
          </a:prstGeom>
          <a:noFill/>
          <a:ln/>
        </p:spPr>
        <p:txBody>
          <a:bodyPr wrap="square" lIns="0" tIns="0" rIns="0" bIns="0" rtlCol="0" anchor="b"/>
          <a:lstStyle/>
          <a:p>
            <a:pPr indent="0" marL="0">
              <a:buNone/>
            </a:pPr>
            <a:r>
              <a:rPr lang="en-US" sz="5600" b="1" dirty="0">
                <a:solidFill>
                  <a:srgbClr val="46B59A"/>
                </a:solidFill>
                <a:latin typeface="Cambria" pitchFamily="34" charset="0"/>
                <a:ea typeface="Cambria" pitchFamily="34" charset="-122"/>
                <a:cs typeface="Cambria" pitchFamily="34" charset="-120"/>
              </a:rPr>
              <a:t>13</a:t>
            </a:r>
            <a:endParaRPr lang="en-US" sz="5600" dirty="0"/>
          </a:p>
        </p:txBody>
      </p:sp>
      <p:sp>
        <p:nvSpPr>
          <p:cNvPr id="11" name="Text 9"/>
          <p:cNvSpPr txBox="1"/>
          <p:nvPr/>
        </p:nvSpPr>
        <p:spPr>
          <a:xfrm>
            <a:off x="6309360" y="3108960"/>
            <a:ext cx="25603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deployment checks</a:t>
            </a:r>
            <a:endParaRPr lang="en-US" sz="1600" dirty="0"/>
          </a:p>
        </p:txBody>
      </p:sp>
      <p:sp>
        <p:nvSpPr>
          <p:cNvPr id="12" name="Text 10"/>
          <p:cNvSpPr txBox="1"/>
          <p:nvPr/>
        </p:nvSpPr>
        <p:spPr>
          <a:xfrm>
            <a:off x="6309360" y="3493008"/>
            <a:ext cx="2468880" cy="731520"/>
          </a:xfrm>
          <a:prstGeom prst="rect">
            <a:avLst/>
          </a:prstGeom>
          <a:noFill/>
          <a:ln/>
        </p:spPr>
        <p:txBody>
          <a:bodyPr wrap="square" lIns="0" tIns="0" rIns="0" bIns="0" rtlCol="0" anchor="t"/>
          <a:lstStyle/>
          <a:p>
            <a:pPr indent="0" marL="0">
              <a:buNone/>
            </a:pPr>
            <a:r>
              <a:rPr lang="en-US" sz="1250" dirty="0">
                <a:solidFill>
                  <a:srgbClr val="B8C7C2"/>
                </a:solidFill>
                <a:latin typeface="Calibri" pitchFamily="34" charset="0"/>
                <a:ea typeface="Calibri" pitchFamily="34" charset="-122"/>
                <a:cs typeface="Calibri" pitchFamily="34" charset="-120"/>
              </a:rPr>
              <a:t>run on every install and on demand</a:t>
            </a:r>
            <a:endParaRPr lang="en-US" sz="1250" dirty="0"/>
          </a:p>
        </p:txBody>
      </p:sp>
      <p:sp>
        <p:nvSpPr>
          <p:cNvPr id="13" name="Text 11"/>
          <p:cNvSpPr txBox="1"/>
          <p:nvPr/>
        </p:nvSpPr>
        <p:spPr>
          <a:xfrm>
            <a:off x="9098280" y="2011680"/>
            <a:ext cx="2560320" cy="1005840"/>
          </a:xfrm>
          <a:prstGeom prst="rect">
            <a:avLst/>
          </a:prstGeom>
          <a:noFill/>
          <a:ln/>
        </p:spPr>
        <p:txBody>
          <a:bodyPr wrap="square" lIns="0" tIns="0" rIns="0" bIns="0" rtlCol="0" anchor="b"/>
          <a:lstStyle/>
          <a:p>
            <a:pPr indent="0" marL="0">
              <a:buNone/>
            </a:pPr>
            <a:r>
              <a:rPr lang="en-US" sz="5600" b="1" dirty="0">
                <a:solidFill>
                  <a:srgbClr val="46B59A"/>
                </a:solidFill>
                <a:latin typeface="Cambria" pitchFamily="34" charset="0"/>
                <a:ea typeface="Cambria" pitchFamily="34" charset="-122"/>
                <a:cs typeface="Cambria" pitchFamily="34" charset="-120"/>
              </a:rPr>
              <a:t>~130×</a:t>
            </a:r>
            <a:endParaRPr lang="en-US" sz="5600" dirty="0"/>
          </a:p>
        </p:txBody>
      </p:sp>
      <p:sp>
        <p:nvSpPr>
          <p:cNvPr id="14" name="Text 12"/>
          <p:cNvSpPr txBox="1"/>
          <p:nvPr/>
        </p:nvSpPr>
        <p:spPr>
          <a:xfrm>
            <a:off x="9098280" y="3108960"/>
            <a:ext cx="25603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faster index refresh</a:t>
            </a:r>
            <a:endParaRPr lang="en-US" sz="1600" dirty="0"/>
          </a:p>
        </p:txBody>
      </p:sp>
      <p:sp>
        <p:nvSpPr>
          <p:cNvPr id="15" name="Text 13"/>
          <p:cNvSpPr txBox="1"/>
          <p:nvPr/>
        </p:nvSpPr>
        <p:spPr>
          <a:xfrm>
            <a:off x="9098280" y="3493008"/>
            <a:ext cx="2468880" cy="731520"/>
          </a:xfrm>
          <a:prstGeom prst="rect">
            <a:avLst/>
          </a:prstGeom>
          <a:noFill/>
          <a:ln/>
        </p:spPr>
        <p:txBody>
          <a:bodyPr wrap="square" lIns="0" tIns="0" rIns="0" bIns="0" rtlCol="0" anchor="t"/>
          <a:lstStyle/>
          <a:p>
            <a:pPr indent="0" marL="0">
              <a:buNone/>
            </a:pPr>
            <a:r>
              <a:rPr lang="en-US" sz="1250" dirty="0">
                <a:solidFill>
                  <a:srgbClr val="B8C7C2"/>
                </a:solidFill>
                <a:latin typeface="Calibri" pitchFamily="34" charset="0"/>
                <a:ea typeface="Calibri" pitchFamily="34" charset="-122"/>
                <a:cs typeface="Calibri" pitchFamily="34" charset="-120"/>
              </a:rPr>
              <a:t>2 GiB library: 0.06 s, against 8.0 s for make_vcsp_2018.py</a:t>
            </a:r>
            <a:endParaRPr lang="en-US" sz="1250" dirty="0"/>
          </a:p>
        </p:txBody>
      </p:sp>
      <p:sp>
        <p:nvSpPr>
          <p:cNvPr id="16" name="Text 14"/>
          <p:cNvSpPr txBox="1"/>
          <p:nvPr/>
        </p:nvSpPr>
        <p:spPr>
          <a:xfrm>
            <a:off x="731520" y="4572000"/>
            <a:ext cx="2743200" cy="237744"/>
          </a:xfrm>
          <a:prstGeom prst="rect">
            <a:avLst/>
          </a:prstGeom>
          <a:noFill/>
          <a:ln/>
        </p:spPr>
        <p:txBody>
          <a:bodyPr wrap="square" lIns="0" tIns="0" rIns="0" bIns="0" rtlCol="0" anchor="ctr"/>
          <a:lstStyle/>
          <a:p>
            <a:pPr algn="l" indent="0" marL="0">
              <a:buNone/>
            </a:pPr>
            <a:r>
              <a:rPr lang="en-US" sz="1100" dirty="0">
                <a:solidFill>
                  <a:srgbClr val="B8C7C2"/>
                </a:solidFill>
                <a:latin typeface="Calibri" pitchFamily="34" charset="0"/>
                <a:ea typeface="Calibri" pitchFamily="34" charset="-122"/>
                <a:cs typeface="Calibri" pitchFamily="34" charset="-120"/>
              </a:rPr>
              <a:t>Subscription URL</a:t>
            </a:r>
            <a:endParaRPr lang="en-US" sz="1100" dirty="0"/>
          </a:p>
        </p:txBody>
      </p:sp>
      <p:sp>
        <p:nvSpPr>
          <p:cNvPr id="17" name="Text 15"/>
          <p:cNvSpPr/>
          <p:nvPr/>
        </p:nvSpPr>
        <p:spPr>
          <a:xfrm>
            <a:off x="731520" y="4846320"/>
            <a:ext cx="5669280" cy="566928"/>
          </a:xfrm>
          <a:prstGeom prst="roundRect">
            <a:avLst>
              <a:gd name="adj" fmla="val 12903"/>
            </a:avLst>
          </a:prstGeom>
          <a:solidFill>
            <a:srgbClr val="1C2E38"/>
          </a:solidFill>
          <a:ln w="19050">
            <a:solidFill>
              <a:srgbClr val="0E6B5A"/>
            </a:solidFill>
            <a:prstDash val="solid"/>
          </a:ln>
        </p:spPr>
        <p:txBody>
          <a:bodyPr wrap="square" lIns="152400" tIns="152400" rIns="152400" bIns="152400" rtlCol="0" anchor="ctr"/>
          <a:lstStyle/>
          <a:p>
            <a:pPr algn="l" indent="0" marL="0">
              <a:buNone/>
            </a:pPr>
            <a:r>
              <a:rPr lang="en-US" sz="1800" dirty="0">
                <a:solidFill>
                  <a:srgbClr val="FFFFFF"/>
                </a:solidFill>
                <a:latin typeface="Courier New" pitchFamily="34" charset="0"/>
                <a:ea typeface="Courier New" pitchFamily="34" charset="-122"/>
                <a:cs typeface="Courier New" pitchFamily="34" charset="-120"/>
              </a:rPr>
              <a:t>https://&lt;fqdn&gt;/lib/lib.json</a:t>
            </a:r>
            <a:endParaRPr lang="en-US" sz="1800" dirty="0"/>
          </a:p>
        </p:txBody>
      </p:sp>
      <p:sp>
        <p:nvSpPr>
          <p:cNvPr id="18" name="Text 16"/>
          <p:cNvSpPr txBox="1"/>
          <p:nvPr/>
        </p:nvSpPr>
        <p:spPr>
          <a:xfrm>
            <a:off x="731520" y="5760720"/>
            <a:ext cx="8229600" cy="237744"/>
          </a:xfrm>
          <a:prstGeom prst="rect">
            <a:avLst/>
          </a:prstGeom>
          <a:noFill/>
          <a:ln/>
        </p:spPr>
        <p:txBody>
          <a:bodyPr wrap="square" lIns="0" tIns="0" rIns="0" bIns="0" rtlCol="0" anchor="ctr"/>
          <a:lstStyle/>
          <a:p>
            <a:pPr algn="l" indent="0" marL="0">
              <a:buNone/>
            </a:pPr>
            <a:r>
              <a:rPr lang="en-US" sz="1200" dirty="0">
                <a:solidFill>
                  <a:srgbClr val="B8C7C2"/>
                </a:solidFill>
                <a:latin typeface="Calibri" pitchFamily="34" charset="0"/>
                <a:ea typeface="Calibri" pitchFamily="34" charset="-122"/>
                <a:cs typeface="Calibri" pitchFamily="34" charset="-120"/>
              </a:rPr>
              <a:t>Photon OS 4 / 5   |   VMware Cloud Director catalogs   |   vCenter content libraries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VCSP External Content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VCSP External Content Library - Solution Architecture</dc:title>
  <dc:subject>High-level and low-level architecture</dc:subject>
  <dc:creator>PptxGenJS</dc:creator>
  <cp:lastModifiedBy>PptxGenJS</cp:lastModifiedBy>
  <cp:revision>1</cp:revision>
  <dcterms:created xsi:type="dcterms:W3CDTF">2026-09-26T19:31:55Z</dcterms:created>
  <dcterms:modified xsi:type="dcterms:W3CDTF">2026-09-26T19:31:55Z</dcterms:modified>
</cp:coreProperties>
</file>